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32119" y="-720000"/>
            <a:ext cx="4680000" cy="4680000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44119" y="-936000"/>
            <a:ext cx="3456000" cy="3456000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56120" y="-1152000"/>
            <a:ext cx="2232000" cy="2232000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404080000000"/>
            <a:ext cx="4389162840000" cy="6480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119" y="324000"/>
            <a:ext cx="1655999" cy="495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51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</a:rPr>
              <a:t>MevzuAI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2484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CFDDEA"/>
                </a:solidFill>
                <a:latin typeface="Segoe UI"/>
              </a:rPr>
              <a:t>Analizinizi kanıta dayandıran iş analisti ajanı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3671999"/>
            <a:ext cx="2556000" cy="5400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2E5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Repo Risk Raporu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81999" y="3671999"/>
            <a:ext cx="2556000" cy="5400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2E5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Bülten Etki Analizi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999" y="3671999"/>
            <a:ext cx="2556000" cy="5400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2E5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Mevzuat Uyum Analizi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74000" y="3671999"/>
            <a:ext cx="2556000" cy="540000"/>
          </a:xfrm>
          <a:prstGeom prst="roundRect">
            <a:avLst/>
          </a:prstGeom>
          <a:solidFill>
            <a:srgbClr val="1A3A5C"/>
          </a:solidFill>
          <a:ln w="12700">
            <a:solidFill>
              <a:srgbClr val="2E5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</a:rPr>
              <a:t>İş-Kod-Çözüm Analizi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000" y="4464000"/>
            <a:ext cx="10260000" cy="612000"/>
          </a:xfrm>
          <a:prstGeom prst="roundRect">
            <a:avLst/>
          </a:prstGeom>
          <a:solidFill>
            <a:srgbClr val="2A3F30"/>
          </a:solidFill>
          <a:ln w="12700">
            <a:solidFill>
              <a:srgbClr val="2E7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6000" y="4518000"/>
            <a:ext cx="99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CFECD9"/>
                </a:solidFill>
                <a:latin typeface="Segoe UI"/>
              </a:rPr>
              <a:t>+ Bulgu Düzeltme: analiz sonlarında önerilen seçenek; daha önce üretilmiş raporlardan da çalışır.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000" y="5436000"/>
            <a:ext cx="1008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9FB6C9"/>
                </a:solidFill>
                <a:latin typeface="Segoe UI"/>
              </a:rPr>
              <a:t>Her bulgu kod içinde dosya ve satır numarasıyla gösterilir — dayanaksız cümle rapora girmez.</a:t>
            </a:r>
          </a:p>
          <a:p>
            <a:pPr algn="l">
              <a:spcAft>
                <a:spcPts val="500"/>
              </a:spcAft>
            </a:pPr>
            <a:r>
              <a:rPr sz="1250" b="0" i="0">
                <a:solidFill>
                  <a:srgbClr val="9FB6C9"/>
                </a:solidFill>
                <a:latin typeface="Segoe UI"/>
              </a:rPr>
              <a:t>Hassas veriler (kart numarası, şifre, token) rapora yazılmadan otomatik gizlenir.</a:t>
            </a:r>
          </a:p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C9A227"/>
                </a:solidFill>
                <a:latin typeface="Segoe UI"/>
              </a:rPr>
              <a:t>Kararlar sizin: ajan her adımda sorar, onaysız işlem yapmaz  ·  v25.10.2026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Neden MevzuAI?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2 / 19</a:t>
            </a:r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1224000"/>
            <a:ext cx="5544000" cy="40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224000"/>
            <a:ext cx="5544000" cy="285120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36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Bugün karşılaştığımız güçlükler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692000"/>
            <a:ext cx="5328000" cy="35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Doküman ve mevzuat yükü artıyor: her yeni duyuru, her kanun değişikliği kod üzerinde etki analizi istiyor.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Etkisini kodda bulmak zaman alıyor: elle aramak uzun sürer, atlanan nokta bırakır.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Raporlar kanıtsız olabiliyor: 'muhtemelen burada' cümlesi doğrulanabilir değil.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Hassas veri riski: analiz sırasında kart numarası veya şifre rapora sızabilir — bu ayrı bir güvenlik olayıdır.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Düzeltme süreci uzuyor: bulgudan Pull Request'a giden yol elle işliyor.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999" y="1224000"/>
            <a:ext cx="5544000" cy="40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999" y="1224000"/>
            <a:ext cx="5544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2000" y="136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MevzuAI neyi değiştiriyor?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2000" y="1692000"/>
            <a:ext cx="5328000" cy="35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Dokümanı, mevzuatı veya olay kaydını verirsiniz — ajan kod üzerinde etkiyi uçtan uca çıkarır.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Tarama önce otomatik araçlarla yapılır; ajan her eşleşmeyi kod bağlamında tek tek doğrular.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sonuç kanıtlıdır: hangi dosyanın hangi satırı, hangi doküman bölümü dayanak gösterilir.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Hassas veriler rapor yazılmadan önce otomatik gizlenir — ayrı çaba istemez.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Dilerseniz düzeltmeye de geçer: kritik bulgulara kod farkı üretir, onayınızla Pull Request açar.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5472000"/>
            <a:ext cx="11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C9A227"/>
                </a:solidFill>
                <a:latin typeface="Segoe UI"/>
              </a:rPr>
              <a:t>Kısacası: ajan analizi hızlandırır, kanıtla dayandırır ve gizliliği korur — karar her zaman sizde kalır.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Ortak Akış — Her Analizde Aynı Disiplin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Seçim, kapsam ve yazma adımları daima onayınıza bağlıdır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3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584000"/>
            <a:ext cx="1278000" cy="216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999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F2A43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999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SEÇİM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Repo ve/veya dokümanı belirlersiniz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655999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818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18000" y="1584000"/>
            <a:ext cx="1278000" cy="216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72000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D4E6E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2000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TAHMİN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2000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Ne kadar kod taranacak; süre ve maliyet önceden sunulur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114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76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76000" y="1584000"/>
            <a:ext cx="1278000" cy="216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0000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B7791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0000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ONAY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0000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Kapsamı onaylarsınız; isterseniz daraltırsınız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72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33999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3999" y="1584000"/>
            <a:ext cx="1278000" cy="216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8000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449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8000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HAZIRLIK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8000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Doküman bölümlere ayrılır; kod envanteri çıkarılır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030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2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2000" y="1584000"/>
            <a:ext cx="1278000" cy="216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999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C0392B"/>
                </a:solidFill>
                <a:latin typeface="Segoe U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999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TARAMA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5999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Otomatik tarama çalışır; ajan eşleşmeleri doğrular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7488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50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50000" y="1584000"/>
            <a:ext cx="1278000" cy="216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03999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F2A43"/>
                </a:solidFill>
                <a:latin typeface="Segoe U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03999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SUNUM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03999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Bulgular/maddeler size sunulur; siz onaylarsınız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8946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08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08000" y="1584000"/>
            <a:ext cx="1278000" cy="216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000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D4E6E"/>
                </a:solidFill>
                <a:latin typeface="Segoe UI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000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RAPOR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000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Rapor kaydedilir; hassas veriler otomatik gizlenir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0404000" y="2340000"/>
            <a:ext cx="180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566000" y="1584000"/>
            <a:ext cx="1278000" cy="273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566000" y="1584000"/>
            <a:ext cx="1278000" cy="216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20000" y="1828800"/>
            <a:ext cx="117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8449"/>
                </a:solidFill>
                <a:latin typeface="Segoe UI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20000" y="2052000"/>
            <a:ext cx="117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F2A43"/>
                </a:solidFill>
                <a:latin typeface="Segoe UI"/>
              </a:rPr>
              <a:t>SEÇENEKLER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20000" y="2628000"/>
            <a:ext cx="1170000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5D6D7E"/>
                </a:solidFill>
                <a:latin typeface="Segoe UI"/>
              </a:rPr>
              <a:t>Düzeltme / devam / bitir — karar sizin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0000" y="4680000"/>
            <a:ext cx="11448000" cy="1224000"/>
          </a:xfrm>
          <a:prstGeom prst="rect">
            <a:avLst/>
          </a:prstGeom>
          <a:solidFill>
            <a:srgbClr val="EAF1F7"/>
          </a:solidFill>
          <a:ln w="12700">
            <a:solidFill>
              <a:srgbClr val="1D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3999" y="477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A43"/>
                </a:solidFill>
                <a:latin typeface="Segoe UI"/>
              </a:rPr>
              <a:t>Sekiz adımın yedisi sizin kararınıza bağlı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Ajan yalnız ölçüm ve analiz yapar; kapsam onayı, bulgu onayı ve rapor sonrası yol onayı daima sizden alınır. Bir adım atlanacak olursa ajan durur ve o adımı size sorar.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Tarama Öncesi: Ne Zaman ve Ne Kadar?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Tarama başlamadan ajan kapsamı ve maliyeti ölçer; onayınız olmadan tarama başlamaz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4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404000"/>
            <a:ext cx="5508000" cy="26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508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540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Pilot ölçüm — orta boy tek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72000"/>
            <a:ext cx="5292000" cy="21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Kapsam: 178 dosya · 15.051 satır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Uygulanacak tarama: 66 bilinen desen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Otomatik tarama süresi: yaklaşık 1 saniye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Analiz ve rapor: yaklaşık 15-20 dakika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Bağlam maliyeti: düşük (yalnız eşleşen bölümler okunur)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404000"/>
            <a:ext cx="5544000" cy="26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404000"/>
            <a:ext cx="5544000" cy="285120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54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Tam kapsam — 36 repolık tarama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872000"/>
            <a:ext cx="5328000" cy="21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Kapsam: 5.277 dosya · 1 milyonun üzerinde satır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Uygulanacak tarama: 66 desen × repo + mevzuat hükümleri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Otomatik tarama süresi: yaklaşık 1 dakika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Analiz ve rapor: yaklaşık 20-25 dakika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Bağlam maliyeti: ölçülür ve önceden bildirilir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284000"/>
            <a:ext cx="11448000" cy="1655999"/>
          </a:xfrm>
          <a:prstGeom prst="rect">
            <a:avLst/>
          </a:prstGeom>
          <a:solidFill>
            <a:srgbClr val="EAF1F7"/>
          </a:solidFill>
          <a:ln w="12700">
            <a:solidFill>
              <a:srgbClr val="1D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4374000"/>
            <a:ext cx="1116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A43"/>
                </a:solidFill>
                <a:latin typeface="Segoe UI"/>
              </a:rPr>
              <a:t>Nasıl çalışır?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1) Ajan depoyu ve dokümanı sayar (hangi dosyalar, kaç satır)   →   2) uygulanacak tarama sayısını hesaplar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3) Süre ve maliyet tahminini tablo olarak sunar   →   4) Sorar: 'Taramaya bu kapsamla başlayayım mı? (evet / daralt / hayır)'</a:t>
            </a:r>
          </a:p>
          <a:p>
            <a:pPr algn="l">
              <a:spcAft>
                <a:spcPts val="500"/>
              </a:spcAft>
            </a:pPr>
            <a:r>
              <a:rPr sz="1050" b="0" i="1">
                <a:solidFill>
                  <a:srgbClr val="5D6D7E"/>
                </a:solidFill>
                <a:latin typeface="Segoe UI"/>
              </a:rPr>
              <a:t>Sayılar gerçek ölçümdür; tahmini süre ve maliyet başında '~' ile belirtilir. Kapsam büyük gelirse 'daralt' dersiniz; envanter yeniden hesaplanır ve tablo tekrar sunulur — siz 'evet' deyene kadar.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Girdi Nasıl Seçilir? — Repo ve Döküman Kaynakları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Ajan kaynağı siz söylemeden seçmez: önce arar, sonra kayda bakar, gerekirse sizden ister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5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404000"/>
            <a:ext cx="5544000" cy="32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544000" cy="285120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54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Repo seçimi — sırayla üç durak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72000"/>
            <a:ext cx="5328000" cy="264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1) Verdiğiniz yol: mesajınızda repo yolu yazılıysa soru sorulmaz — repo doğrulanır (geçerli git deposu mu, üzerinde kaydedilmemiş değişiklik var mı) ve akış başlar.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2) Kayıt defteri: yol verilmediyse ajan önce bulunduğunuz dizini ve üst dizinleri tarar; sonra daha önce onayladığınız depolar listesine bakar. Tanıdık repo görünce 'güncelleyeyim mi?' diye sorar.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3) Soru: hiçbiri bulunamazsa ajan durur ve şunu sorar — 'İncelenecek repo dizinini (yerel yol) veya git adresini verir misiniz?' Cevap gelmeden tarama başlamaz.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404000"/>
            <a:ext cx="5544000" cy="320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404000"/>
            <a:ext cx="5544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54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Uzak repo ve döküman girdileri (hepsi onayla)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872000"/>
            <a:ext cx="5328000" cy="264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Git URL: adresi verirsiniz, ajan 'yerel geçici dizininize indireyim mi?' diye sorar; onayla sığ kopya alır — tam geçmiş indirilmez, yalnız güncel hali incelenir.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Döküman dosya/klasör yolu: dosyanın tam yolunu verirsiniz (ajan ilgili klasöre kopyalar) veya kendiniz ilgili klasöre koyarsınız.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Döküman URL'i: şifresiz tek belge bağlantısı indirilebilir (bülten girdisinde URL indirme yoktur; mevzuatta kapalı tek-belge indirilir).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Mevzuat sayfa tarama: bir sayfa adresi verirsiniz; ajan sayfadaki belge bağlantılarını bulur ve aynı belge için bilgisayar dosyası öncelik alır (doc/docx &gt; pdf).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4824000"/>
            <a:ext cx="11448000" cy="1368000"/>
          </a:xfrm>
          <a:prstGeom prst="rect">
            <a:avLst/>
          </a:prstGeom>
          <a:solidFill>
            <a:srgbClr val="EAF1F7"/>
          </a:solidFill>
          <a:ln w="12700">
            <a:solidFill>
              <a:srgbClr val="1D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999" y="4914000"/>
            <a:ext cx="111600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A43"/>
                </a:solidFill>
                <a:latin typeface="Segoe UI"/>
              </a:rPr>
              <a:t>Seçimlikler ve güvenceler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Çoklu seçim: birden fazla repo/dökümanı numaralı listeyle verebilirsiniz — ajan sırayla TEK TEK işler; bir rapor bitmeden diğerine başlamaz.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Her indirme ONAYLIDIR: URL'den ne ineceği açıkça bildirilir; şifreli sayfa (401/403/407) görülürse ajan durur, kimlik istemez — indirme atlanır.</a:t>
            </a:r>
          </a:p>
          <a:p>
            <a:pPr algn="l">
              <a:spcAft>
                <a:spcPts val="500"/>
              </a:spcAft>
            </a:pPr>
            <a:r>
              <a:rPr sz="1050" b="0" i="0">
                <a:solidFill>
                  <a:srgbClr val="22303C"/>
                </a:solidFill>
                <a:latin typeface="Segoe UI"/>
              </a:rPr>
              <a:t>Kimlik güvenliği: kullanıcı adı/şifre hiçbir adımda sorulmaz, dosyaya yazılmaz; raporlarda oturum izleri maskeli taşınır.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1 — Repo Risk Raporu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Kodun güvenlik ve dolandırıcılık durum raporu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6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260000"/>
            <a:ext cx="5508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5508000" cy="285120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96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Ne istersiniz / ajan ne yapar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728000"/>
            <a:ext cx="5292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İstek: repo yolu veya adresi — başka girdi istemez.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Ajan kodu üç eksende tarar: bilinen zafiyetler, dolandırıcılık senaryoları (çift ödeme, yetki aşımı, gizli anahtar kalıntısı), yapılandırma hataları (şifresiz bağlantı, açık ayarlar).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Tarama önce otomatik araçla yürür; ajan her eşleşmeyi koda giderek doğrular ve yanıltıcıları eler.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Bulgular önem sırasına dizilir; rapor yazılmadan hassas veriler gizlenir.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260000"/>
            <a:ext cx="5544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260000"/>
            <a:ext cx="5544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96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Ne alırsınız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728000"/>
            <a:ext cx="5328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Yönetici özeti: genel risk düzeyi ve öne çıkan sayılar.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Bulgular tablosu: kritikler başta; her satırda konum ve etiket.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bulguda: nerede (dosya + satır), neden risk, nasıl kullanılabilir (senaryo), nasıl düzeltilir (kod önerisi).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Pozitif kontroller: doğru yapılmış noktalar da listelenir.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Öncelikli yol haritası: hemen / kısa vade / uzun vade.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Gerçek ölçek: son 35-repolık taramada 24 kritik · 23 yüksek · 21 orta; uyum oranı %67.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6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-467999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Seçim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224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40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Tahmin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132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48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Onay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040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5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Tarama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948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164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Doğrulama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56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72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6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Rapor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764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80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7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Seçenekler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2 — Bülten (Doküman) Etki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Yeni duyurunun kod üzerindeki etkisi, madde madde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7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260000"/>
            <a:ext cx="5508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5508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96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Ne istersiniz / ajan ne yapar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728000"/>
            <a:ext cx="5292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İstek: doküman dosyası + isterseniz ilgili repo.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Ajan dokümanı doğal yapısından maddelere ayırır (M-01, M-02...).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Repo verdiyseniz her maddeyi kodda arar: bugünkü durum ne, doküman ne istiyor, fark nerede?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Madde listesi ve etki tablosunu önce size sunar; onayınız olmadan rapora geçmez.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260000"/>
            <a:ext cx="5544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260000"/>
            <a:ext cx="5544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96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Her madde için ne raporlanır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728000"/>
            <a:ext cx="5328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Dokümanın istediği değişiklik: teknik özet + geçerlilik tarihi + aciliyet — tarihler asla atlanmaz.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Bugünkü durum (dosya/fonksiyon/satır) ve olması gereken, adım adım.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Etkilenen bileşenler tablosu: kod / yapılandırma / veri / test × risk × öncelik.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Yapılmazsa ne olur: hangi işlem nasıl bozulur?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Test önerileri + efor tahmini (küçük/orta/büyük).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Rapor sonunda: öncelikli liste + en riskli 3 bileşen + sürüm önerisi + etkilenmeyen alanlar.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6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Doküman seç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78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94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Tahmin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86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2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Repo?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4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0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Madde analizi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2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8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Onay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810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2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6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Rapor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3 — Mevzuat Uyum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Hukuki gereklilik kodda ne kadar sağlanmış? Tek tek denetim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8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260000"/>
            <a:ext cx="5508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5508000" cy="28512000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96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Denetim kurgusu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728000"/>
            <a:ext cx="5292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İstek: kanun/yönetmelik belgesi (dosya, bağlantı veya yapıştırılan metin) + repo.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Ajan hükümleri numaralar (KANUN-17, YON-21 gibi) ve konu gruplarına ayırır: sözleşme, komisyon/kesinti, fiş, iade, terminasyon...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hüküm kodu birden çok yöntemle aranır: alan adları, işleyiş akışı, veritabanı/yapılandırma tanımları.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Negatif kontroller zorunludur: yasak bir işlem kod ile üretilmeye çalışılabilir mi? (ör. müşteriden ek ücret alınabilir mi?)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260000"/>
            <a:ext cx="5544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260000"/>
            <a:ext cx="5544000" cy="28512000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96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Karar ve rapor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728000"/>
            <a:ext cx="5328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hükme karar: UYUMLU (kanıtıyla) / UYUMSUZ / EKSİK / KODDA YOK (sessizce uyumlu sayılmaz) / PARAMETRİK (kurum kararına bağlı).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En kritik ihlal sınıfı: müşteriye maliyet/ek ücret aktarımı — önce kontrol edilir.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Uyum oranı (%), pozitif kontroller ve kapsam dışı hükümler ayrı listelenir.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karar; hüküm metni + kod konumu ile dayanır. Kod okunamayan bölüm 'Doğrulanmalı' etiketlenir.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Rapor sonunda öncelikli düzeltme yol haritası gelir.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6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Mevzuat gir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78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94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Hüküm çıkar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86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2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Repo?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4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0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Kod denetimi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2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8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Negatif test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810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2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6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Rapor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4 — İş-Kod-Çözüm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Olay/Jira/log kaydından kök nedene ve çözüm önerisine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9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260000"/>
            <a:ext cx="5508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260000"/>
            <a:ext cx="5508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396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İnceleme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728000"/>
            <a:ext cx="5292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İstek: olay kaydı, Jira kaydı, log çıktısı veya iş dokümanı + repo.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Ajan 'hangi kaydı işleyelim?' diye sorar; onayınızla seçer.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Log'tan hata kodu tablosu çıkarır: hangi kod kaç kere, hangi zaman aralığında.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Kodda aynı hata noktalarını arar; olay zamanlarını akışla eşler.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Varsa veritabanı prosedür tanımları da incelenir (bağlantı yok — yalnız tanım metni).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260000"/>
            <a:ext cx="5544000" cy="331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260000"/>
            <a:ext cx="5544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396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Çözüm ve sınır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728000"/>
            <a:ext cx="5328000" cy="27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Kök neden analizi: birincil neden ve katkılar, kanıtla ayrılır.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Çözüm önerisi kod farkı biçiminde: neyin nereden kaldırılıp/ekleneceği.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Test önerisi: değişikliği doğrulayacak senaryolar.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ÖNEMLİ SINIR: ajan kodu değiştirmez — öneriyi üretir, onayınız olmadan uygulamaz.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Yalnız log verdiyseniz: desen + muhtemel bileşen verilir; 'kod doğrulaması gerekli' notu düşülür.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çıkarım kanıt taşır: hangi log satırı, hangi kod satırı, hangi doküman bölümü.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460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Kayıt seç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178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94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Repo?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086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02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Hata tablosu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4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0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Kod incelemesi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902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8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Kök neden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810000" y="529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26000" y="489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6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Rapor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Süreç Diyagramı — Onay Duraklı Ana 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Her elma bir onay durağıdır; cevap gelmeden akış ilerlemez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10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440000"/>
            <a:ext cx="1872000" cy="792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" y="1565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Talep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doğal dil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68000" y="1728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28000" y="1440000"/>
            <a:ext cx="1872000" cy="792000"/>
          </a:xfrm>
          <a:prstGeom prst="round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4000" y="1565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Seçim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repo / doküman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36000" y="1728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iamond 13"/>
          <p:cNvSpPr/>
          <p:nvPr/>
        </p:nvSpPr>
        <p:spPr>
          <a:xfrm>
            <a:off x="4896000" y="1224000"/>
            <a:ext cx="1800000" cy="1224000"/>
          </a:xfrm>
          <a:prstGeom prst="diamond">
            <a:avLst/>
          </a:prstGeom>
          <a:solidFill>
            <a:srgbClr val="B7791F"/>
          </a:solidFill>
          <a:ln w="12700">
            <a:solidFill>
              <a:srgbClr val="8A5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F1E00"/>
                </a:solidFill>
              </a:rPr>
              <a:t>Onayınız?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32000" y="1728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92000" y="1440000"/>
            <a:ext cx="1872000" cy="79200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8000" y="1565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Çalışma Kopyası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TEMP klasörüne</a:t>
            </a:r>
          </a:p>
        </p:txBody>
      </p:sp>
      <p:sp>
        <p:nvSpPr>
          <p:cNvPr id="18" name="Diamond 17"/>
          <p:cNvSpPr/>
          <p:nvPr/>
        </p:nvSpPr>
        <p:spPr>
          <a:xfrm>
            <a:off x="9324000" y="1224000"/>
            <a:ext cx="1800000" cy="1224000"/>
          </a:xfrm>
          <a:prstGeom prst="diamond">
            <a:avLst/>
          </a:prstGeom>
          <a:solidFill>
            <a:srgbClr val="B7791F"/>
          </a:solidFill>
          <a:ln w="12700">
            <a:solidFill>
              <a:srgbClr val="8A5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F1E00"/>
                </a:solidFill>
              </a:rPr>
              <a:t>Temiz mi?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4000" y="2736000"/>
            <a:ext cx="1800000" cy="576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0" y="2771999"/>
            <a:ext cx="1728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Temiz değilse → DUR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" y="3456000"/>
            <a:ext cx="1872000" cy="792000"/>
          </a:xfrm>
          <a:prstGeom prst="round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6000" y="3581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Tahmin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dosya / satır / süre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268000" y="3744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2628000" y="3240000"/>
            <a:ext cx="1800000" cy="1224000"/>
          </a:xfrm>
          <a:prstGeom prst="diamond">
            <a:avLst/>
          </a:prstGeom>
          <a:solidFill>
            <a:srgbClr val="B7791F"/>
          </a:solidFill>
          <a:ln w="12700">
            <a:solidFill>
              <a:srgbClr val="8A5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F1E00"/>
                </a:solidFill>
              </a:rPr>
              <a:t>Kapsam OK?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464000" y="3744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24000" y="3456000"/>
            <a:ext cx="1872000" cy="792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0000" y="3581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Tarama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otomatik + doğrulama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732000" y="3744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92000" y="3456000"/>
            <a:ext cx="1872000" cy="792000"/>
          </a:xfrm>
          <a:prstGeom prst="round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8000" y="3581999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Sunum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bulgular / maddeler</a:t>
            </a:r>
          </a:p>
        </p:txBody>
      </p:sp>
      <p:sp>
        <p:nvSpPr>
          <p:cNvPr id="31" name="Diamond 30"/>
          <p:cNvSpPr/>
          <p:nvPr/>
        </p:nvSpPr>
        <p:spPr>
          <a:xfrm>
            <a:off x="9324000" y="3240000"/>
            <a:ext cx="1800000" cy="1224000"/>
          </a:xfrm>
          <a:prstGeom prst="diamond">
            <a:avLst/>
          </a:prstGeom>
          <a:solidFill>
            <a:srgbClr val="B7791F"/>
          </a:solidFill>
          <a:ln w="12700">
            <a:solidFill>
              <a:srgbClr val="8A5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F1E00"/>
                </a:solidFill>
              </a:rPr>
              <a:t>Onayınız?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28000" y="5256000"/>
            <a:ext cx="1872000" cy="792000"/>
          </a:xfrm>
          <a:prstGeom prst="round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64000" y="538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Rapor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bilgi + HTML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536000" y="5544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824000" y="5256000"/>
            <a:ext cx="1872000" cy="792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60000" y="538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Maske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hassas veri gizlenir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32000" y="5544000"/>
            <a:ext cx="324000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92000" y="5256000"/>
            <a:ext cx="1872000" cy="792000"/>
          </a:xfrm>
          <a:prstGeom prst="round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28000" y="5382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</a:rPr>
              <a:t>Seçenekler</a:t>
            </a:r>
          </a:p>
          <a:p>
            <a:pPr algn="ctr">
              <a:spcAft>
                <a:spcPts val="100"/>
              </a:spcAft>
            </a:pPr>
            <a:r>
              <a:rPr sz="850" b="0">
                <a:solidFill>
                  <a:srgbClr val="DDE8F0"/>
                </a:solidFill>
              </a:rPr>
              <a:t>düzelt / devam / bitir</a:t>
            </a:r>
          </a:p>
        </p:txBody>
      </p:sp>
      <p:sp>
        <p:nvSpPr>
          <p:cNvPr id="40" name="Diamond 39"/>
          <p:cNvSpPr/>
          <p:nvPr/>
        </p:nvSpPr>
        <p:spPr>
          <a:xfrm>
            <a:off x="9324000" y="5040000"/>
            <a:ext cx="1800000" cy="1224000"/>
          </a:xfrm>
          <a:prstGeom prst="diamond">
            <a:avLst/>
          </a:prstGeom>
          <a:solidFill>
            <a:srgbClr val="B7791F"/>
          </a:solidFill>
          <a:ln w="12700">
            <a:solidFill>
              <a:srgbClr val="8A5E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2F1E00"/>
                </a:solidFill>
              </a:rPr>
              <a:t>Kararınız?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796000" y="2448000"/>
            <a:ext cx="0" cy="288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1296000" y="2736000"/>
            <a:ext cx="4500000" cy="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96000" y="2736000"/>
            <a:ext cx="0" cy="720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224000" y="2448000"/>
            <a:ext cx="0" cy="28800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224000" y="3240000"/>
            <a:ext cx="0" cy="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796000" y="4248000"/>
            <a:ext cx="0" cy="288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1296000" y="4536000"/>
            <a:ext cx="4500000" cy="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296000" y="4536000"/>
            <a:ext cx="0" cy="720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224000" y="4464000"/>
            <a:ext cx="0" cy="288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3564000" y="4752000"/>
            <a:ext cx="6660000" cy="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564000" y="4752000"/>
            <a:ext cx="0" cy="504000"/>
          </a:xfrm>
          <a:prstGeom prst="line">
            <a:avLst/>
          </a:prstGeom>
          <a:ln w="19050">
            <a:solidFill>
              <a:srgbClr val="5D6D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0000" y="6192000"/>
            <a:ext cx="11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0" i="1">
                <a:solidFill>
                  <a:srgbClr val="9FB6C9"/>
                </a:solidFill>
                <a:latin typeface="Segoe UI"/>
              </a:rPr>
              <a:t>Her hat cevap beklemez: onay 'hayır' ise akış o durakta sonlanır veya kapsam daraltma döngüsüne döner.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Bulgu Düzeltme — Sizin Seçiminiz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Rapor bulgularından yola çıkar; tamamen onayınızla yürür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11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404000"/>
            <a:ext cx="5508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508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540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Nasıl işler?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72000"/>
            <a:ext cx="5292000" cy="31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1) Raporu verirsiniz — az önce üretilmiş olsun ya da haftalar önce kaydedilmiş olsun; fark etmez, kaynak rapor dosyasıdır.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2) Ajan kanıtlı bulguları sıralar; 'kaç tanesini düzeltelim?' diye sorar (önerilen: en kritik 5).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3) Her bulgu için bugünkü kod okunur, düzeltme tasarlanır, fark raporu hazırlanır: öncesi/sonrası ve satır farkı.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4) Fark raporunu görürsünüz; 'Pull Request açmayı onaylıyor musunuz?' sorusuna 'evet' demeden hiçbir kod alanına yazılmaz.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404000"/>
            <a:ext cx="5544000" cy="3671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404000"/>
            <a:ext cx="5544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54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Onay sonrası ve güvenceler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872000"/>
            <a:ext cx="5328000" cy="31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Onayla: düzeltmeler ayrı bir düzeltme dalına uygulanır → kayıt → gönderim → Pull Request; adresi size bildirilir.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Onaysız: ajan yalnız prova yapar — koda dokunulmaz.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'Aynı bulgulara ikinci PR' engellenir: açılan her PR kayda geçer.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Sınırlar: ana dala doğrudan yazma yok, zorla-gönderim yok, birleştirme yok.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Kanıtı olmayan bulgulara düzeltme üretilmez — 'elle düzeltme' listesine geçer.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Mekanik güvence: kod yazma onayı betik içinde zorunludur — ajanın sözü değil, aracın kuralı.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525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5544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Rapor seç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31999" y="5940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48000" y="5544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Bulgu sayısı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40000" y="5940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56000" y="5544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Fark raporu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48000" y="5940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64000" y="5544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PR onayı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56000" y="5940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2000" y="5544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Uygula + PR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Her Analizin Sonunda: Seçenekleriniz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Rapor teslim edilip kopyalama sorusu bittikten sonra sunulur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12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584000"/>
            <a:ext cx="2718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584000"/>
            <a:ext cx="125999" cy="2592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" y="1674000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E8449"/>
                </a:solidFill>
                <a:latin typeface="Segoe UI"/>
              </a:rPr>
              <a:t>1) Düzeltme öner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000" y="2088000"/>
            <a:ext cx="2448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Bu raporu temel alan kritik bulgulara kod farkı ve PR — önerilen: 5 bulgu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4000" y="1584000"/>
            <a:ext cx="2718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4000" y="1584000"/>
            <a:ext cx="125999" cy="2592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2000" y="1674000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1D4E6E"/>
                </a:solidFill>
                <a:latin typeface="Segoe UI"/>
              </a:rPr>
              <a:t>2) Mevcut rapordan devam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2000" y="2088000"/>
            <a:ext cx="2448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Rapor arşivinden (önceki oturumlar dahil) başka bir rapor seçip düzeltme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8000" y="1584000"/>
            <a:ext cx="2718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8000" y="1584000"/>
            <a:ext cx="125999" cy="2592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6000" y="1674000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3) Aynı akışla devam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000" y="2088000"/>
            <a:ext cx="2448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Yeni repo / yeni doküman — analiz her seferinde güncel koddan, sıfırdan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000" y="1584000"/>
            <a:ext cx="2718000" cy="25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62000" y="1584000"/>
            <a:ext cx="125999" cy="25920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0000" y="1674000"/>
            <a:ext cx="244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5D6D7E"/>
                </a:solidFill>
                <a:latin typeface="Segoe UI"/>
              </a:rPr>
              <a:t>4) Bitir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0000" y="2088000"/>
            <a:ext cx="2448000" cy="1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Özetle kapanır: rapor yolu(ları) + sayısal özet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4464000"/>
            <a:ext cx="11448000" cy="1368000"/>
          </a:xfrm>
          <a:prstGeom prst="rect">
            <a:avLst/>
          </a:prstGeom>
          <a:solidFill>
            <a:srgbClr val="EAF1F7"/>
          </a:solidFill>
          <a:ln w="12700">
            <a:solidFill>
              <a:srgbClr val="1D4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3999" y="4554000"/>
            <a:ext cx="111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 i="0">
                <a:solidFill>
                  <a:srgbClr val="0F2A43"/>
                </a:solidFill>
                <a:latin typeface="Segoe UI"/>
              </a:rPr>
              <a:t>Kurallar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Seçenek listesi kopyalama sorusuyla birleştirilmez; önce kopyalama yanıtınız alınır.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Seçenek 1'i yürütmek için PR onayı ayrıca sorulur — kod yazma adımı bu listeden kendiliğinden yürütülmez.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2303C"/>
                </a:solidFill>
                <a:latin typeface="Segoe UI"/>
              </a:rPr>
              <a:t>Düzeltme isteğe bağlıdır: '4' derseniz ajan yalnız özet verir ve durur.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Temiz Başlangıç — Sıfırla ve Yeniden Tara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Ortamı sıfırlamak işleri bozmaz; döngü güvenli ve ölçülüdür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13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0000" y="1404000"/>
            <a:ext cx="5508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04000"/>
            <a:ext cx="5508000" cy="285120000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000" y="1540800"/>
            <a:ext cx="529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Sıfırlama akışı (plan → onay → çalıştırma)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1872000"/>
            <a:ext cx="5292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1) 'Sıfırla' derseniz ajan ÖNCE neyin silineceğini listeler: doküman hafızası, raporlar, geçici kopyalar, kayıtlar — hiçbir şey silmez.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2) Planı okursunuz; onayınız olmadan silme başlamaz.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3) Onayla: ajanın ürettiği her şey temizlenir; kod deponuz, şablonlar, araçlar ve depo kayıtları korunur.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4) Ortam hazır — yeni tarama güncel koddan, sıfırdan yürür.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Son ölçüm: ~430 MB üretilmiş veri, 20 kalem, tek onayla temizlendi.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999" y="1404000"/>
            <a:ext cx="5544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999" y="1404000"/>
            <a:ext cx="5544000" cy="28512000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000" y="15408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Sıfırlama sonrası pilot tarama (gerçek)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2000" y="1872000"/>
            <a:ext cx="5328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Depo yeniden çalışma kopyası alındı: güncel sürüm dalı, en yeni iş kaydı.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Tahmin sunuldu: 178 dosya · 15.051 satır · 66 desen · ~1 sn tarama.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Tarama sonucu: bilinen desenlerde temiz — önceki turda düzeltilmiş noktalar yayında olarak doğrulandı.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Yapılandırmada 1 sinyal: gizli-değer benzeri satır — 'Doğrulanmalı' etiketiyle rapora girdi (ajan karar vermedi, kanıtı bildirdi).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Bu döngü, düzeltmelerin gerçekten yayında olduğunu kanıtlar: temiz tarama = başarılı düzeltme.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532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C9A227"/>
                </a:solidFill>
                <a:latin typeface="Segoe UI"/>
              </a:rPr>
              <a:t>AKIŞ ÖZETİ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0000" y="561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1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Sıfırla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131999" y="601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48000" y="561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2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Plan gör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40000" y="601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56000" y="561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3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Onayla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48000" y="601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64000" y="561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4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Temiz ortam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56000" y="6012000"/>
            <a:ext cx="179999" cy="288000"/>
          </a:xfrm>
          <a:prstGeom prst="right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72000" y="5616000"/>
            <a:ext cx="1655999" cy="10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9A227"/>
                </a:solidFill>
              </a:rPr>
              <a:t>5</a:t>
            </a:r>
          </a:p>
          <a:p>
            <a:pPr algn="ctr"/>
            <a:r>
              <a:rPr sz="1050" b="1">
                <a:solidFill>
                  <a:srgbClr val="0F2A43"/>
                </a:solidFill>
              </a:rPr>
              <a:t>Taze tarama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Dört Güvence — Her Akışta Değişmez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14 / 19</a:t>
            </a:r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1512000"/>
            <a:ext cx="2718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512000"/>
            <a:ext cx="2718000" cy="28512000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648800"/>
            <a:ext cx="250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Kanıt zorunludur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980000"/>
            <a:ext cx="2502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Her bulgu kod içinde dosya ve satır numarasıyla gösterilir; doküman kaynaklı çıkarımlar bölüm kimliği taşır. Dayanaksız cümle rapora girmez.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4000" y="1512000"/>
            <a:ext cx="2718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4000" y="1512000"/>
            <a:ext cx="2718000" cy="28512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2000" y="1648800"/>
            <a:ext cx="250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Hassas veri gizlenir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2000" y="1980000"/>
            <a:ext cx="2502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Rapor yazılmadan önce tüm metin otomatik taranır; kart numarası, şifre, token benzeri görünümler maskelenir. Rastgele sayılarla karışmaz — doğrulamalı.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8000" y="1512000"/>
            <a:ext cx="2718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8000" y="1512000"/>
            <a:ext cx="2718000" cy="28512000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000" y="1648800"/>
            <a:ext cx="250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Analiz hep tazedir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1980000"/>
            <a:ext cx="2502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Yeni tarama öncekilerin bulgularını girdi almaz; her seferinde o anki kod durumu incelenir. Kıyas yalnız siz isterse yapılır.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000" y="1512000"/>
            <a:ext cx="2718000" cy="374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62000" y="1512000"/>
            <a:ext cx="2718000" cy="28512000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0000" y="1648800"/>
            <a:ext cx="250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Seçim ve onay sizde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0000" y="1980000"/>
            <a:ext cx="2502000" cy="31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Kapsam onayı, bulgu onayı ve kod yazma onayı ayrı ayrı alınır; ajan hiçbir adımı kendiliğinden atlamaz, atlananı size sorar.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5472000"/>
            <a:ext cx="11448000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999" y="5544000"/>
            <a:ext cx="111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1">
                <a:solidFill>
                  <a:srgbClr val="22303C"/>
                </a:solidFill>
                <a:latin typeface="Segoe UI"/>
              </a:rPr>
              <a:t>Dürüstlük kuralı: ajan doğrulanamayan bilgiyi 'Doğrulanmalı' olarak yazar, tahmine dönmez. Boş cevap, uydurma cümleden iyidir.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Çıktılar — Kurumsal Format, Çift Dosya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Her rapor bilgi (yazılabilir) + HTML (sunulabilir) olarak kaydedilir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15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0000" y="1332000"/>
            <a:ext cx="5508000" cy="3219157"/>
          </a:xfrm>
          <a:prstGeom prst="rect">
            <a:avLst/>
          </a:prstGeom>
          <a:solidFill>
            <a:srgbClr val="FFFFFF"/>
          </a:solidFill>
          <a:ln w="1270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apor_html_oz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00" y="1368000"/>
            <a:ext cx="5436000" cy="31471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0000" y="4551157"/>
            <a:ext cx="550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C0392B"/>
                </a:solidFill>
                <a:latin typeface="Segoe UI"/>
              </a:rPr>
              <a:t>Uyum + Risk Birleşik Raporu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FB6C9"/>
                </a:solidFill>
                <a:latin typeface="Segoe UI"/>
              </a:rPr>
              <a:t>Üst bant ve özet rozetleri sabittir: her rapor aynı kalıpta üretilir — 35 repo, 24 kritik bulgu örneği.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332000"/>
            <a:ext cx="5508000" cy="3219157"/>
          </a:xfrm>
          <a:prstGeom prst="rect">
            <a:avLst/>
          </a:prstGeom>
          <a:solidFill>
            <a:srgbClr val="FFFFFF"/>
          </a:solidFill>
          <a:ln w="1270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apor_html_f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000" y="1368000"/>
            <a:ext cx="5436000" cy="31471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63999" y="4551157"/>
            <a:ext cx="5508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E8449"/>
                </a:solidFill>
                <a:latin typeface="Segoe UI"/>
              </a:rPr>
              <a:t>Düzeltme Fark Raporu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9FB6C9"/>
                </a:solidFill>
                <a:latin typeface="Segoe UI"/>
              </a:rPr>
              <a:t>Bulgu başına öncesi/sonrası ve renkli satır farkı — 5 bulguluk gerçek üretim, onaya hazır.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5616000"/>
            <a:ext cx="11448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1">
                <a:solidFill>
                  <a:srgbClr val="9FB6C9"/>
                </a:solidFill>
                <a:latin typeface="Segoe UI"/>
              </a:rPr>
              <a:t>HTML, bilgi dosyasından yalnız görünüm üretir: içerik değişmez. Rapor adı deseni sabittir — &lt;konu&gt;_&lt;tür&gt;_raporu_&lt;tarih_saat&gt;.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Nasıl Kullanılır? — Örnek Talepler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16 / 19</a:t>
            </a:r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1332000"/>
            <a:ext cx="11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332000"/>
            <a:ext cx="125999" cy="864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000" y="1404000"/>
            <a:ext cx="30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Repo Risk Raporu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4000" y="1404000"/>
            <a:ext cx="7848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"C:\repos\odeme-gateway için risk raporu çıkar"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D6D7E"/>
                </a:solidFill>
                <a:latin typeface="Segoe UI"/>
              </a:rPr>
              <a:t>"şu repoyu tara: https://.../repo.git"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0000" y="2275200"/>
            <a:ext cx="11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0000" y="2275200"/>
            <a:ext cx="125999" cy="864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000" y="2347200"/>
            <a:ext cx="30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Bülten Etki Analizi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000" y="2347200"/>
            <a:ext cx="7848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"bultenler klasöründeki yeni duyuruyu analiz et"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D6D7E"/>
                </a:solidFill>
                <a:latin typeface="Segoe UI"/>
              </a:rPr>
              <a:t>"bu dokümanın etkisini odeme reposuna bakarak çıkar"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3218400"/>
            <a:ext cx="11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0000" y="3218400"/>
            <a:ext cx="125999" cy="8640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000" y="3290400"/>
            <a:ext cx="30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Mevzuat Uyum Analizi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4000" y="3290400"/>
            <a:ext cx="7848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"mevzuat klasöründeki yönetmeliğe göre odeme-gateway reposunu denetle"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D6D7E"/>
                </a:solidFill>
                <a:latin typeface="Segoe UI"/>
              </a:rPr>
              <a:t>"bu kanunun metnini repoyla karşılaştır"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161600"/>
            <a:ext cx="11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0000" y="4161600"/>
            <a:ext cx="125999" cy="8640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000" y="4233600"/>
            <a:ext cx="30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İş-Kod-Çözüm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4000" y="4233600"/>
            <a:ext cx="7848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"business/log altındaki hatayı incele, kök nedeni bul"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D6D7E"/>
                </a:solidFill>
                <a:latin typeface="Segoe UI"/>
              </a:rPr>
              <a:t>"SISP-1234 kaydını incele, çözüm öner"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5104800"/>
            <a:ext cx="11448000" cy="86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0000" y="5104800"/>
            <a:ext cx="125999" cy="864000"/>
          </a:xfrm>
          <a:prstGeom prst="rect">
            <a:avLst/>
          </a:prstGeom>
          <a:solidFill>
            <a:srgbClr val="1A5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8000" y="5176800"/>
            <a:ext cx="30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0F2A43"/>
                </a:solidFill>
                <a:latin typeface="Segoe UI"/>
              </a:rPr>
              <a:t>Bulgu Düzeltme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4000" y="5176800"/>
            <a:ext cx="7848000" cy="7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"bu raporun en kritik 5 bulgusunu düzelt, PR aç"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5D6D7E"/>
                </a:solidFill>
                <a:latin typeface="Segoe UI"/>
              </a:rPr>
              <a:t>"raporları listele, geçen haftakinden düzeltme başlat"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0000" y="6156000"/>
            <a:ext cx="11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1">
                <a:solidFill>
                  <a:srgbClr val="9FB6C9"/>
                </a:solidFill>
                <a:latin typeface="Segoe UI"/>
              </a:rPr>
              <a:t>Talebiniz kapsam dışıysa ajan size dört işten uygun olana yön verir.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Yardımcı Araçlar — 17 Yardımcı, Tek Disiplin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000" y="576000"/>
            <a:ext cx="90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1">
                <a:solidFill>
                  <a:srgbClr val="B8CEE0"/>
                </a:solidFill>
                <a:latin typeface="Segoe UI"/>
              </a:rPr>
              <a:t>Her araç yalnız ölçer, tarar, düzenler veya biçimlendirir; hiçbiri karar vermez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17 / 19</a:t>
            </a:r>
          </a:p>
        </p:txBody>
      </p:sp>
      <p:pic>
        <p:nvPicPr>
          <p:cNvPr id="7" name="Picture 6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60000" y="1134000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134000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200" y="1134000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Belge Girişi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0" y="1134000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PDF ve belge dosyalarını ilgili klasörden alır; tarih damgalı benzersiz kopya üretir, üzerine yazar mı diye sormaz.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1423800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0000" y="1423800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00" y="1423800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Belge Okuyucu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000" y="1423800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PDF/DOCX belgelerini okunabilir metne çevirir; taranmış görüntü sayfalarda 'elle aktarım gerekli' uyarısı verir.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1713600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0000" y="1713600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200" y="1713600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Mevzuat Girişi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000" y="1713600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Kanun ve yönetmelik ekleme, indirme ve sayfa tarama işlemlerinin tek kapısı; kurumsal ağ ayarlarıyla güvenli çalışır.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20033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0000" y="2003399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9200" y="20033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İş Kaydı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000" y="20033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Olay kaydı, Jira kaydı ve log çıktılarını düzenli klasörlere yerleştirir; işlenen belgeleri deftere geçirir.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000" y="22931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000" y="2293199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9200" y="22931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Kayıt Yöneticisi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000" y="22931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Analiz ve işlenen defterlerini JSON olarak tutar; defter yalnız bilgilendirmedir, akışı asla engellemez.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0000" y="25829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0000" y="2582999"/>
            <a:ext cx="79200" cy="289800"/>
          </a:xfrm>
          <a:prstGeom prst="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9200" y="25829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Depo Yöneticisi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000" y="25829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Depo keşfi ve onaylı indirme/güncelleme yazışması; commit'lenmemiş değişiklikli depoda yazma işlemi kendiliğinden durur.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0000" y="28727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0000" y="2872799"/>
            <a:ext cx="79200" cy="289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200" y="28727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Depo Envanteri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000" y="28727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Hangi dosyalar, kaç satır, hangi yapılandırma ayarları açık — tarama kapsamının ölçülebilir dayanağını üretir.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000" y="31625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0000" y="3162599"/>
            <a:ext cx="79200" cy="289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200" y="31625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Desen Taraması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0" y="31625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Bilinen risk kalıplarını dosya ve satır etiketiyle bulur; ajandaki doğrulama bu ön taramanın üstüne kurulur.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0000" y="34523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0000" y="3452399"/>
            <a:ext cx="79200" cy="289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9200" y="34523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Tahmin Aracı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000" y="34523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Tarama öncesi dosya/satır/süre/maliyet ölçümü yapar; 'onayınız olmadan tarama yok' kuralının ölçülebilir temelidir.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0000" y="37421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0000" y="3742199"/>
            <a:ext cx="79200" cy="289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9200" y="37421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Veri Gizleyici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80000" y="37421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Kart numarası, şifre ve benzeri görünümleri rapor yazılmadan önce maskeler; gerçek değer rapora hiç girmez.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0000" y="40319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0000" y="4031999"/>
            <a:ext cx="79200" cy="2898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9200" y="40319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Belge Hafızası Kurulumu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000" y="40319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Her belgeyi konu bölümlerine ayırıp kimlikli hafızaya yerleştirir; bölümler orta boyutta tutulur.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0000" y="43217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0000" y="4321799"/>
            <a:ext cx="79200" cy="2898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9200" y="43217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Belge Hafızası Sorgu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000" y="43217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Hafıza içinde konu bazlı arama yapar; her sonuç belge + bölüm kimliğiyle döner — dayanaksız alıntı yoktur.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000" y="46115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0000" y="4611599"/>
            <a:ext cx="79200" cy="2898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9200" y="46115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Veritabanı Tanım Arama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000" y="46115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Prosedür/paket tanımlarını statik metin içinde arar; veritabanına bağlanmaz, SQL çalıştırmaz.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0000" y="49013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0000" y="4901399"/>
            <a:ext cx="79200" cy="2898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200" y="49013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Rapor Biçimlendirici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000" y="49013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Bilgi dosyasından kurumsal HTML görünüm üretir; içeriği değiştirmez — md kaynak, html yalnız sunum katmanıdır.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0000" y="51911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60000" y="5191199"/>
            <a:ext cx="79200" cy="2898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9200" y="51911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Düzeltme / PR Aracı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000" y="51911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Onaylı düzeltmede ayrı dal açar, farkı uygular, PR açar; korunan dallara yazma ve zorla-gönderim yoktur.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0000" y="5480999"/>
            <a:ext cx="11448000" cy="289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0000" y="5480999"/>
            <a:ext cx="79200" cy="2898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9200" y="54809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Sıfırlama Aracı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80000" y="54809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'Sıfırla' komutunda önce plan gösterir, onaydan sonra ürettiği veriyi temizler; şablonlar, araçlar ve kayıtlar korunur.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0000" y="5770799"/>
            <a:ext cx="11448000" cy="289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60000" y="5770799"/>
            <a:ext cx="79200" cy="289800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200" y="5770799"/>
            <a:ext cx="237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2A43"/>
                </a:solidFill>
                <a:latin typeface="Segoe UI"/>
              </a:rPr>
              <a:t>Sunum Üretici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0000" y="5770799"/>
            <a:ext cx="8856000" cy="289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22303C"/>
                </a:solidFill>
                <a:latin typeface="Segoe UI"/>
              </a:rPr>
              <a:t>Bu tanıtım sunumunu tek komutla üretir; slayt sablonları ve kurum logosu yerleşik gelir.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0000" y="6173999"/>
            <a:ext cx="1144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050" b="0" i="1">
                <a:solidFill>
                  <a:srgbClr val="9FB6C9"/>
                </a:solidFill>
                <a:latin typeface="Segoe UI"/>
              </a:rPr>
              <a:t>Tüm araçlar yerel çalışır: dışa veri göndermez, ağ çağrısı yapmaz, kendisi karar vermez — karar ve onay daima sizdedir.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62840000" cy="311040000000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1040000000"/>
            <a:ext cx="4389162840000" cy="1296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25999"/>
            <a:ext cx="8280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 i="0">
                <a:solidFill>
                  <a:srgbClr val="FFFFFF"/>
                </a:solidFill>
                <a:latin typeface="Segoe UI"/>
              </a:rPr>
              <a:t>Önerilen Yol — Üç Adımda Başlayın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119" y="558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00"/>
              </a:spcAft>
            </a:pPr>
            <a:r>
              <a:rPr sz="1050" b="1" i="0">
                <a:solidFill>
                  <a:srgbClr val="173A59"/>
                </a:solidFill>
                <a:latin typeface="Segoe UI"/>
              </a:rPr>
              <a:t>18 / 19</a:t>
            </a:r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119" y="180000"/>
            <a:ext cx="1332000" cy="3984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0000" y="1655999"/>
            <a:ext cx="3671999" cy="30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0000" y="1655999"/>
            <a:ext cx="3671999" cy="251999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000" y="1962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1. Pilot risk raporu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448000"/>
            <a:ext cx="345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Bir repo seçin; ajan tahmini sunduktan sonra tarama yapıp yapılandırılmış rapor üretir. Raporu ekiple paylaşıp geri bildirim toplayın.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000" y="1655999"/>
            <a:ext cx="3671999" cy="30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48000" y="1655999"/>
            <a:ext cx="3671999" cy="251999"/>
          </a:xfrm>
          <a:prstGeom prst="rect">
            <a:avLst/>
          </a:prstGeom>
          <a:solidFill>
            <a:srgbClr val="1D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6000" y="1962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2. Doküman havuzu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6000" y="2448000"/>
            <a:ext cx="345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Bülten ve mevzuat belgelerini ilgili klasörlere girin; ajan her biri için etki ve uyum analizi üretir, yaklaşan geçerlilik tarihlerini öne çıkarır.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6000" y="1655999"/>
            <a:ext cx="3671999" cy="309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6000" y="1655999"/>
            <a:ext cx="3671999" cy="251999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4000" y="1962000"/>
            <a:ext cx="345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0F2A43"/>
                </a:solidFill>
                <a:latin typeface="Segoe UI"/>
              </a:rPr>
              <a:t>3. Düzeltmeyle kapatın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000" y="2448000"/>
            <a:ext cx="3456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2303C"/>
                </a:solidFill>
                <a:latin typeface="Segoe UI"/>
              </a:rPr>
              <a:t>Risk raporundaki en kritik bulguları seçin; fark raporunu inceleyip onaylayın — düzeltme dalı hazır, Pull Request adresi elinizde.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5040000"/>
            <a:ext cx="11448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</a:pPr>
            <a:r>
              <a:rPr sz="1250" b="1" i="0">
                <a:solidFill>
                  <a:srgbClr val="0F2A43"/>
                </a:solidFill>
                <a:latin typeface="Segoe UI"/>
              </a:rPr>
              <a:t>Her adımda aynı güvenceler geçerli: kanıt, gizlilik, tazelik, onay.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2119" y="3078000"/>
            <a:ext cx="5400000" cy="5400000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456119" y="3762000"/>
            <a:ext cx="4031999" cy="4031999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0119" y="4446000"/>
            <a:ext cx="2664000" cy="2664000"/>
          </a:xfrm>
          <a:prstGeom prst="ellipse">
            <a:avLst/>
          </a:prstGeom>
          <a:noFill/>
          <a:ln w="15875">
            <a:solidFill>
              <a:srgbClr val="254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389162840000" cy="64800000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em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2119" y="503999"/>
            <a:ext cx="1655999" cy="495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6000" y="1368000"/>
            <a:ext cx="100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 i="0">
                <a:solidFill>
                  <a:srgbClr val="FFFFFF"/>
                </a:solidFill>
                <a:latin typeface="Segoe UI"/>
              </a:rPr>
              <a:t>Özet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2376000"/>
            <a:ext cx="10260000" cy="30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Dört analiz akışı + bulgu düzeltme seçeneği — hepsi kanıt disipliniyle.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Tarama öncesi maliyet tahmini: ne kadar kod, ne kadar süre, ne kadar maliyet — önceden bilirsiniz.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Temiz başlangıç: 'sıfırla' derseniz ortam güvenli temizlenir; analiz hep güncel koddan yürür.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Hassas veriler otomatik gizlenir; doğrulanamayan bilgi 'Doğrulanmalı' yazar, tahmin üretmez.</a:t>
            </a: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CFDDEA"/>
                </a:solidFill>
                <a:latin typeface="Segoe UI"/>
              </a:rPr>
              <a:t>Kod yazma onayınız olmadan hiçbir adım ilerlemez; her rapor bilgi + HTML çift dosyada, sabit kurumsal biçimde teslim edilir.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5688000"/>
            <a:ext cx="102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C9A227"/>
                </a:solidFill>
                <a:latin typeface="Segoe UI"/>
              </a:rPr>
              <a:t>Başlamak için: 'bir repo için risk raporu çıkar' yazın — gerisini ajan sıralar.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1">
                <a:solidFill>
                  <a:srgbClr val="00AFA0"/>
                </a:solidFill>
                <a:latin typeface="Aptos"/>
              </a:defRPr>
            </a:pPr>
            <a:r>
              <a:t>KAYNAK RAPORU · 24.10.2026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"/>
              </a:defRPr>
            </a:pPr>
            <a:r>
              <a:t>Birleşik risk görünümü: 35 depo, 82 bulgu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637389"/>
                </a:solidFill>
                <a:latin typeface="Aptos"/>
              </a:defRPr>
            </a:pPr>
            <a:r>
              <a:t>Kanun 5464 + Yönetmelik 11180 · Sağlanan birleşik HTML raporundaki ölçümler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37360"/>
            <a:ext cx="26151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737360"/>
            <a:ext cx="73152" cy="105156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47088"/>
            <a:ext cx="2240280" cy="43891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500" b="1">
                <a:solidFill>
                  <a:srgbClr val="112240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3172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taranan depo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37360"/>
            <a:ext cx="26151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737360"/>
            <a:ext cx="73152" cy="1051560"/>
          </a:xfrm>
          <a:prstGeom prst="rect">
            <a:avLst/>
          </a:prstGeom>
          <a:solidFill>
            <a:srgbClr val="D65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47088"/>
            <a:ext cx="2240280" cy="43891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500" b="1">
                <a:solidFill>
                  <a:srgbClr val="112240"/>
                </a:solidFill>
                <a:latin typeface="Aptos"/>
              </a:defRPr>
            </a:pPr>
            <a: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toplam bulgu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7648" y="1737360"/>
            <a:ext cx="26151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27648" y="1737360"/>
            <a:ext cx="73152" cy="105156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847088"/>
            <a:ext cx="2240280" cy="43891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500" b="1">
                <a:solidFill>
                  <a:srgbClr val="112240"/>
                </a:solidFill>
                <a:latin typeface="Aptos"/>
              </a:defRPr>
            </a:pPr>
            <a:r>
              <a:t>%67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33172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uyum · 61 değerlendirme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0576" y="1737360"/>
            <a:ext cx="2615184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0576" y="1737360"/>
            <a:ext cx="73152" cy="105156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5" y="1847088"/>
            <a:ext cx="2240280" cy="438912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500" b="1">
                <a:solidFill>
                  <a:srgbClr val="11224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2331720"/>
            <a:ext cx="224028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Doğrulanmalı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108960"/>
            <a:ext cx="182880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400" b="1">
                <a:solidFill>
                  <a:srgbClr val="112240"/>
                </a:solidFill>
                <a:latin typeface="Aptos"/>
              </a:defRPr>
            </a:pPr>
            <a:r>
              <a:t>Bulgu dağılımı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56432"/>
            <a:ext cx="1078992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300" b="1">
                <a:solidFill>
                  <a:srgbClr val="223045"/>
                </a:solidFill>
                <a:latin typeface="Aptos"/>
              </a:defRPr>
            </a:pPr>
            <a:r>
              <a:t>24 KRİTİK   ·   23 YÜKSEK   ·   21 ORTA   ·   9 DÜŞÜK   ·   5 BİLGİ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160520"/>
            <a:ext cx="10972800" cy="1234440"/>
          </a:xfrm>
          <a:prstGeom prst="rect">
            <a:avLst/>
          </a:prstGeom>
          <a:solidFill>
            <a:srgbClr val="E7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4325112"/>
            <a:ext cx="10469880" cy="86868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300" b="0">
                <a:solidFill>
                  <a:srgbClr val="112240"/>
                </a:solidFill>
                <a:latin typeface="Aptos"/>
              </a:defRPr>
            </a:pPr>
            <a:r>
              <a:t>61 hüküm-depo değerlendirmesi: 41 uyumlu · 10 kısmi · 10 ihlal riski</a:t>
            </a:r>
          </a:p>
          <a:p>
            <a:pPr>
              <a:defRPr sz="1300" b="0">
                <a:solidFill>
                  <a:srgbClr val="112240"/>
                </a:solidFill>
                <a:latin typeface="Aptos"/>
              </a:defRPr>
            </a:pPr>
            <a:r>
              <a:t>Depo bazında en yüksek risk: 17 kritik · 8 yüksek · 10 orta</a:t>
            </a:r>
          </a:p>
          <a:p>
            <a:pPr>
              <a:defRPr sz="1300" b="0">
                <a:solidFill>
                  <a:srgbClr val="112240"/>
                </a:solidFill>
                <a:latin typeface="Aptos"/>
              </a:defRPr>
            </a:pPr>
            <a:r>
              <a:t>Kaynak dayanağı: 13 RAG chunk + 9 DB-RAG atfı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06440"/>
            <a:ext cx="1088136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Kaynak rapor ölçümleri; bağımsız yeniden tarama veya hukuki görüş değildir.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1">
                <a:solidFill>
                  <a:srgbClr val="00AFA0"/>
                </a:solidFill>
                <a:latin typeface="Aptos"/>
              </a:defRPr>
            </a:pPr>
            <a:r>
              <a:t>REMEDIATION · TUR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"/>
              </a:defRPr>
            </a:pPr>
            <a:r>
              <a:t>Kullanıcı onayıyla seçilen beş kritik bulgu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637389"/>
                </a:solidFill>
                <a:latin typeface="Aptos"/>
              </a:defRPr>
            </a:pPr>
            <a:r>
              <a:t>Fark raporu: 5 depo · 9 dosya · +89 / -10 satır · test/PR sonucu bu rapordan doğrulanmıyor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69164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6949440"/>
              </a:tblGrid>
              <a:tr h="6934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Bulgu</a:t>
                      </a:r>
                    </a:p>
                  </a:txBody>
                  <a:tcPr marL="91440" marR="73152" marT="36576" marB="27432"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Alan</a:t>
                      </a:r>
                    </a:p>
                  </a:txBody>
                  <a:tcPr marL="91440" marR="73152" marT="36576" marB="27432"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Fark raporundaki düzeltme özeti</a:t>
                      </a:r>
                    </a:p>
                  </a:txBody>
                  <a:tcPr marL="91440" marR="73152" marT="36576" marB="27432">
                    <a:solidFill>
                      <a:srgbClr val="112240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RISK-C05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Safir.Abex · Kimlik bilgisi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Kod içindeki Basic-auth sabitini kaldırıp yapılandırma/secret store üzerinden okumak; mevcut credential rotasyonu ayrıca izlenmeli.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RISK-C08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safir-online-sobe · Eşleşme ve log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ZERO_CVV merchant eşleşmesini tam eşleşmeye çevirmek; PIN/F55 benzeri hassas trace alanlarını maskelemek.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RISK-C09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acqua-dcc-monex · DCC teklif akışı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İstek kimliğiyle idempotency sağlamak ve geçersiz kur değerlerini POS'a dönmeden önce reddetmek.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RISK-C10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acqua-cassandra-data-archiver · Arşiv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S3 yüklemesini nesne metadata/boyut doğrulamasıyla teyit etmeden kaynak kayıtlarını silmemek.</a:t>
                      </a:r>
                    </a:p>
                  </a:txBody>
                  <a:tcPr marL="91440" marR="73152" marT="36576" marB="27432">
                    <a:solidFill>
                      <a:srgbClr val="E7F0FA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RISK-C11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acqua-rrn-generator · Sayaç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23045"/>
                          </a:solidFill>
                          <a:latin typeface="Aptos"/>
                        </a:defRPr>
                      </a:pPr>
                      <a:r>
                        <a:t>Cassandra LWT [applied] sonucunu denetlemek; başarısızlıkta sınırlı yeniden deneme ve açık hata üretmek.</a:t>
                      </a:r>
                    </a:p>
                  </a:txBody>
                  <a:tcPr marL="91440" marR="73152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016752"/>
            <a:ext cx="1097280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900" b="0">
                <a:solidFill>
                  <a:srgbClr val="637389"/>
                </a:solidFill>
                <a:latin typeface="Aptos"/>
              </a:defRPr>
            </a:pPr>
            <a:r>
              <a:t>Credential/token örnekleri sunuma aktarılmadı; rotasyon ve Git geçmişi temizliği ayrı operasyonel işlerdir.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1">
                <a:solidFill>
                  <a:srgbClr val="00AFA0"/>
                </a:solidFill>
                <a:latin typeface="Aptos"/>
              </a:defRPr>
            </a:pPr>
            <a:r>
              <a:t>KAPANIŞ · DOĞRULAMA DURUMU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029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"/>
              </a:defRPr>
            </a:pPr>
            <a:r>
              <a:t>Fark raporu sonuç kanıtı değildir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637389"/>
                </a:solidFill>
                <a:latin typeface="Aptos"/>
              </a:defRPr>
            </a:pPr>
            <a:r>
              <a:t>Kod farkı, test sonucu, canlı PR ve operasyonel riskler ayrı ayrı doğrulanmalıdır.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28800"/>
            <a:ext cx="345643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828800"/>
            <a:ext cx="3456432" cy="91440"/>
          </a:xfrm>
          <a:prstGeom prst="rect">
            <a:avLst/>
          </a:prstGeom>
          <a:solidFill>
            <a:srgbClr val="35B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057400"/>
            <a:ext cx="310896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500" b="1">
                <a:solidFill>
                  <a:srgbClr val="112240"/>
                </a:solidFill>
                <a:latin typeface="Aptos"/>
              </a:defRPr>
            </a:pPr>
            <a:r>
              <a:t>Açık doğrulama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78608"/>
            <a:ext cx="3108960" cy="109728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3 madde kaynak raporda “Doğrulanmalı”.</a:t>
            </a:r>
          </a:p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İş kararı, ortam ayarı veya istemci davranışı netleştirilmeli.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828800"/>
            <a:ext cx="345643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828800"/>
            <a:ext cx="3456432" cy="91440"/>
          </a:xfrm>
          <a:prstGeom prst="rect">
            <a:avLst/>
          </a:prstGeom>
          <a:solidFill>
            <a:srgbClr val="F8B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3" y="2057400"/>
            <a:ext cx="310896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500" b="1">
                <a:solidFill>
                  <a:srgbClr val="112240"/>
                </a:solidFill>
                <a:latin typeface="Aptos"/>
              </a:defRPr>
            </a:pPr>
            <a:r>
              <a:t>Ayrı operasyon işleri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3" y="2578608"/>
            <a:ext cx="3108960" cy="109728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Credential rotasyonu / vault ve altyapı-konfigürasyon işleri.</a:t>
            </a:r>
          </a:p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Kod farkı bu işleri tek başına kapatmaz.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1828800"/>
            <a:ext cx="3456432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1828800"/>
            <a:ext cx="3456432" cy="91440"/>
          </a:xfrm>
          <a:prstGeom prst="rect">
            <a:avLst/>
          </a:prstGeom>
          <a:solidFill>
            <a:srgbClr val="00A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2057400"/>
            <a:ext cx="3108960" cy="384048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500" b="1">
                <a:solidFill>
                  <a:srgbClr val="112240"/>
                </a:solidFill>
                <a:latin typeface="Aptos"/>
              </a:defRPr>
            </a:pPr>
            <a:r>
              <a:t>Sonraki kapılar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2578608"/>
            <a:ext cx="3108960" cy="109728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Testleri çalıştır ve sonuçları kaydet.</a:t>
            </a:r>
          </a:p>
          <a:p>
            <a:pPr>
              <a:defRPr sz="1100" b="0">
                <a:solidFill>
                  <a:srgbClr val="223045"/>
                </a:solidFill>
                <a:latin typeface="Aptos"/>
              </a:defRPr>
            </a:pPr>
            <a:r>
              <a:t>Diff'i gözden geçir; gerçek PR durumunu GitHub'da doğrula.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4370832"/>
            <a:ext cx="10972800" cy="914400"/>
          </a:xfrm>
          <a:prstGeom prst="rect">
            <a:avLst/>
          </a:prstGeom>
          <a:solidFill>
            <a:srgbClr val="FFF6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53712"/>
            <a:ext cx="10469880" cy="54864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200" b="1">
                <a:solidFill>
                  <a:srgbClr val="112240"/>
                </a:solidFill>
                <a:latin typeface="Aptos"/>
              </a:defRPr>
            </a:pPr>
            <a:r>
              <a:t>Sınır: Bu ek, verilen raporları özetler. Kaynak depolar yeniden taranmadı; testlerin geçtiği veya PR'ın açıldığı iddia edilmez.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40"/>
            <a:ext cx="10881360" cy="274320"/>
          </a:xfrm>
          <a:prstGeom prst="rect">
            <a:avLst/>
          </a:prstGeom>
          <a:noFill/>
        </p:spPr>
        <p:txBody>
          <a:bodyPr wrap="square" lIns="73152" rIns="73152" tIns="36576" bIns="27432" anchor="ctr">
            <a:spAutoFit/>
          </a:bodyPr>
          <a:lstStyle/>
          <a:p>
            <a:pPr>
              <a:defRPr sz="1000" b="0">
                <a:solidFill>
                  <a:srgbClr val="637389"/>
                </a:solidFill>
                <a:latin typeface="Aptos"/>
              </a:defRPr>
            </a:pPr>
            <a:r>
              <a:t>Güvenli paylaşım için credential/token değerleri eklerden çıkarılmıştır.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