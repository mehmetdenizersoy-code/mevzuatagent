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1219211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9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8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8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8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A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132119" y="-720000"/>
            <a:ext cx="4680000" cy="4680000"/>
          </a:xfrm>
          <a:prstGeom prst="ellipse">
            <a:avLst/>
          </a:prstGeom>
          <a:noFill/>
          <a:ln w="15875">
            <a:solidFill>
              <a:srgbClr val="254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744119" y="-936000"/>
            <a:ext cx="3456000" cy="3456000"/>
          </a:xfrm>
          <a:prstGeom prst="ellipse">
            <a:avLst/>
          </a:prstGeom>
          <a:noFill/>
          <a:ln w="15875">
            <a:solidFill>
              <a:srgbClr val="254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356120" y="-1152000"/>
            <a:ext cx="2232000" cy="2232000"/>
          </a:xfrm>
          <a:prstGeom prst="ellipse">
            <a:avLst/>
          </a:prstGeom>
          <a:noFill/>
          <a:ln w="15875">
            <a:solidFill>
              <a:srgbClr val="254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2404080000000"/>
            <a:ext cx="4389162840000" cy="64800000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_tem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72119" y="324000"/>
            <a:ext cx="1655999" cy="4953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36000" y="1512000"/>
            <a:ext cx="10080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4600" b="1" i="0">
                <a:solidFill>
                  <a:srgbClr val="FFFFFF"/>
                </a:solidFill>
                <a:latin typeface="Segoe UI"/>
              </a:rPr>
              <a:t>MevzuAI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6000" y="2484000"/>
            <a:ext cx="1008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2000" b="0" i="0">
                <a:solidFill>
                  <a:srgbClr val="CFDDEA"/>
                </a:solidFill>
                <a:latin typeface="Segoe UI"/>
              </a:rPr>
              <a:t>Analizinizi kanıta dayandıran iş analisti ajanı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36000" y="3671999"/>
            <a:ext cx="2556000" cy="540000"/>
          </a:xfrm>
          <a:prstGeom prst="roundRect">
            <a:avLst/>
          </a:prstGeom>
          <a:solidFill>
            <a:srgbClr val="1A3A5C"/>
          </a:solidFill>
          <a:ln w="12700">
            <a:solidFill>
              <a:srgbClr val="2E5A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</a:rPr>
              <a:t>Repo Risk Raporu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81999" y="3671999"/>
            <a:ext cx="2556000" cy="540000"/>
          </a:xfrm>
          <a:prstGeom prst="roundRect">
            <a:avLst/>
          </a:prstGeom>
          <a:solidFill>
            <a:srgbClr val="1A3A5C"/>
          </a:solidFill>
          <a:ln w="12700">
            <a:solidFill>
              <a:srgbClr val="2E5A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</a:rPr>
              <a:t>Bülten Etki Analizi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27999" y="3671999"/>
            <a:ext cx="2556000" cy="540000"/>
          </a:xfrm>
          <a:prstGeom prst="roundRect">
            <a:avLst/>
          </a:prstGeom>
          <a:solidFill>
            <a:srgbClr val="1A3A5C"/>
          </a:solidFill>
          <a:ln w="12700">
            <a:solidFill>
              <a:srgbClr val="2E5A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</a:rPr>
              <a:t>Mevzuat Uyum Analizi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874000" y="3671999"/>
            <a:ext cx="2556000" cy="540000"/>
          </a:xfrm>
          <a:prstGeom prst="roundRect">
            <a:avLst/>
          </a:prstGeom>
          <a:solidFill>
            <a:srgbClr val="1A3A5C"/>
          </a:solidFill>
          <a:ln w="12700">
            <a:solidFill>
              <a:srgbClr val="2E5A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</a:rPr>
              <a:t>İş-Kod-Çözüm Analizi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36000" y="4464000"/>
            <a:ext cx="10260000" cy="612000"/>
          </a:xfrm>
          <a:prstGeom prst="roundRect">
            <a:avLst/>
          </a:prstGeom>
          <a:solidFill>
            <a:srgbClr val="2A3F30"/>
          </a:solidFill>
          <a:ln w="12700">
            <a:solidFill>
              <a:srgbClr val="2E7D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16000" y="4518000"/>
            <a:ext cx="990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0" i="0">
                <a:solidFill>
                  <a:srgbClr val="CFECD9"/>
                </a:solidFill>
                <a:latin typeface="Segoe UI"/>
              </a:rPr>
              <a:t>+ Bulgu Düzeltme: analiz sonlarında önerilen seçenek; daha önce üretilmiş raporlardan da çalışır.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6000" y="5436000"/>
            <a:ext cx="10080000" cy="86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0" i="0">
                <a:solidFill>
                  <a:srgbClr val="9FB6C9"/>
                </a:solidFill>
                <a:latin typeface="Segoe UI"/>
              </a:rPr>
              <a:t>Her bulgu kod içinde dosya ve satır numarasıyla gösterilir — dayanaksız cümle rapora girmez.</a:t>
            </a:r>
          </a:p>
          <a:p>
            <a:pPr algn="l">
              <a:spcAft>
                <a:spcPts val="500"/>
              </a:spcAft>
            </a:pPr>
            <a:r>
              <a:rPr sz="1250" b="0" i="0">
                <a:solidFill>
                  <a:srgbClr val="9FB6C9"/>
                </a:solidFill>
                <a:latin typeface="Segoe UI"/>
              </a:rPr>
              <a:t>Hassas veriler (kart numarası, şifre, token) rapora yazılmadan otomatik gizlenir.</a:t>
            </a:r>
          </a:p>
          <a:p>
            <a:pPr algn="l">
              <a:spcAft>
                <a:spcPts val="500"/>
              </a:spcAft>
            </a:pPr>
            <a:r>
              <a:rPr sz="1250" b="1" i="0">
                <a:solidFill>
                  <a:srgbClr val="C9A227"/>
                </a:solidFill>
                <a:latin typeface="Segoe UI"/>
              </a:rPr>
              <a:t>Kararlar sizin: ajan her adımda sorar, onaysız işlem yapmaz  ·  v25.10.2026</a:t>
            </a:r>
          </a:p>
        </p:txBody>
      </p:sp>
      <p:pic>
        <p:nvPicPr>
          <p:cNvPr id="16" name="Picture 15" descr="softtech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89720" y="5330952"/>
            <a:ext cx="2148840" cy="93273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A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389162840000" cy="311040000000"/>
          </a:xfrm>
          <a:prstGeom prst="rect">
            <a:avLst/>
          </a:prstGeom>
          <a:solidFill>
            <a:srgbClr val="1D4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11040000000"/>
            <a:ext cx="4389162840000" cy="12960000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4000" y="125999"/>
            <a:ext cx="8280000" cy="61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2500" b="1" i="0">
                <a:solidFill>
                  <a:srgbClr val="FFFFFF"/>
                </a:solidFill>
                <a:latin typeface="Segoe UI"/>
              </a:rPr>
              <a:t>Neden MevzuAI?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119" y="558000"/>
            <a:ext cx="684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500"/>
              </a:spcAft>
            </a:pPr>
            <a:r>
              <a:rPr sz="1050" b="1" i="0">
                <a:solidFill>
                  <a:srgbClr val="173A59"/>
                </a:solidFill>
                <a:latin typeface="Segoe UI"/>
              </a:rPr>
              <a:t>2 / 19</a:t>
            </a:r>
          </a:p>
        </p:txBody>
      </p:sp>
      <p:pic>
        <p:nvPicPr>
          <p:cNvPr id="6" name="Picture 5" descr="logo_tem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0119" y="180000"/>
            <a:ext cx="1332000" cy="398442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360000" y="1224000"/>
            <a:ext cx="5544000" cy="4068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0000" y="1224000"/>
            <a:ext cx="5544000" cy="2851200000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8000" y="1360800"/>
            <a:ext cx="5328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0F2A43"/>
                </a:solidFill>
                <a:latin typeface="Segoe UI"/>
              </a:rPr>
              <a:t>Bugün karşılaştığımız güçlükler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8000" y="1692000"/>
            <a:ext cx="5328000" cy="35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Doküman ve mevzuat yükü artıyor: her yeni duyuru, her kanun değişikliği kod üzerinde etki analizi istiyor.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Etkisini kodda bulmak zaman alıyor: elle aramak uzun sürer, atlanan nokta bırakır.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Raporlar kanıtsız olabiliyor: 'muhtemelen burada' cümlesi doğrulanabilir değil.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Hassas veri riski: analiz sırasında kart numarası veya şifre rapora sızabilir — bu ayrı bir güvenlik olayıdır.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Düzeltme süreci uzuyor: bulgudan Pull Request'a giden yol elle işliyor.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999" y="1224000"/>
            <a:ext cx="5544000" cy="4068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63999" y="1224000"/>
            <a:ext cx="5544000" cy="28512000000"/>
          </a:xfrm>
          <a:prstGeom prst="rect">
            <a:avLst/>
          </a:prstGeom>
          <a:solidFill>
            <a:srgbClr val="1E84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72000" y="1360800"/>
            <a:ext cx="5328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0F2A43"/>
                </a:solidFill>
                <a:latin typeface="Segoe UI"/>
              </a:rPr>
              <a:t>MevzuAI neyi değiştiriyor?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72000" y="1692000"/>
            <a:ext cx="5328000" cy="35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Dokümanı, mevzuatı veya olay kaydını verirsiniz — ajan kod üzerinde etkiyi uçtan uca çıkarır.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Tarama önce otomatik araçlarla yapılır; ajan her eşleşmeyi kod bağlamında tek tek doğrular.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Her sonuç kanıtlıdır: hangi dosyanın hangi satırı, hangi doküman bölümü dayanak gösterilir.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Hassas veriler rapor yazılmadan önce otomatik gizlenir — ayrı çaba istemez.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Dilerseniz düzeltmeye de geçer: kritik bulgulara kod farkı üretir, onayınızla Pull Request açar.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0000" y="5472000"/>
            <a:ext cx="11448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500"/>
              </a:spcAft>
            </a:pPr>
            <a:r>
              <a:rPr sz="1250" b="1" i="0">
                <a:solidFill>
                  <a:srgbClr val="C9A227"/>
                </a:solidFill>
                <a:latin typeface="Segoe UI"/>
              </a:rPr>
              <a:t>Kısacası: ajan analizi hızlandırır, kanıtla dayandırır ve gizliliği korur — karar her zaman sizde kalır.</a:t>
            </a:r>
          </a:p>
        </p:txBody>
      </p:sp>
      <p:pic>
        <p:nvPicPr>
          <p:cNvPr id="16" name="Picture 15" descr="softtech-logo-light-backgrou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85248" y="6382512"/>
            <a:ext cx="960120" cy="416755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A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389162840000" cy="311040000000"/>
          </a:xfrm>
          <a:prstGeom prst="rect">
            <a:avLst/>
          </a:prstGeom>
          <a:solidFill>
            <a:srgbClr val="1D4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11040000000"/>
            <a:ext cx="4389162840000" cy="12960000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4000" y="125999"/>
            <a:ext cx="8280000" cy="61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2500" b="1" i="0">
                <a:solidFill>
                  <a:srgbClr val="FFFFFF"/>
                </a:solidFill>
                <a:latin typeface="Segoe UI"/>
              </a:rPr>
              <a:t>Ortak Akış — Her Analizde Aynı Disiplin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4000" y="576000"/>
            <a:ext cx="90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 i="1">
                <a:solidFill>
                  <a:srgbClr val="B8CEE0"/>
                </a:solidFill>
                <a:latin typeface="Segoe UI"/>
              </a:rPr>
              <a:t>Seçim, kapsam ve yazma adımları daima onayınıza bağlıdır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119" y="558000"/>
            <a:ext cx="684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500"/>
              </a:spcAft>
            </a:pPr>
            <a:r>
              <a:rPr sz="1050" b="1" i="0">
                <a:solidFill>
                  <a:srgbClr val="173A59"/>
                </a:solidFill>
                <a:latin typeface="Segoe UI"/>
              </a:rPr>
              <a:t>3 / 19</a:t>
            </a:r>
          </a:p>
        </p:txBody>
      </p:sp>
      <p:pic>
        <p:nvPicPr>
          <p:cNvPr id="7" name="Picture 6" descr="logo_tem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0119" y="180000"/>
            <a:ext cx="1332000" cy="398442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360000" y="1584000"/>
            <a:ext cx="1278000" cy="273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0000" y="1584000"/>
            <a:ext cx="1278000" cy="216000"/>
          </a:xfrm>
          <a:prstGeom prst="rect">
            <a:avLst/>
          </a:prstGeom>
          <a:solidFill>
            <a:srgbClr val="0F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3999" y="1828800"/>
            <a:ext cx="117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200" b="1" i="0">
                <a:solidFill>
                  <a:srgbClr val="0F2A43"/>
                </a:solidFill>
                <a:latin typeface="Segoe U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3999" y="2052000"/>
            <a:ext cx="117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150" b="1" i="0">
                <a:solidFill>
                  <a:srgbClr val="0F2A43"/>
                </a:solidFill>
                <a:latin typeface="Segoe UI"/>
              </a:rPr>
              <a:t>SEÇİM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3999" y="2628000"/>
            <a:ext cx="1170000" cy="158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950" b="0" i="0">
                <a:solidFill>
                  <a:srgbClr val="5D6D7E"/>
                </a:solidFill>
                <a:latin typeface="Segoe UI"/>
              </a:rPr>
              <a:t>Repo ve/veya dokümanı belirlersiniz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1655999" y="2340000"/>
            <a:ext cx="180000" cy="288000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818000" y="1584000"/>
            <a:ext cx="1278000" cy="273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818000" y="1584000"/>
            <a:ext cx="1278000" cy="216000"/>
          </a:xfrm>
          <a:prstGeom prst="rect">
            <a:avLst/>
          </a:prstGeom>
          <a:solidFill>
            <a:srgbClr val="1D4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872000" y="1828800"/>
            <a:ext cx="117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200" b="1" i="0">
                <a:solidFill>
                  <a:srgbClr val="1D4E6E"/>
                </a:solidFill>
                <a:latin typeface="Segoe U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72000" y="2052000"/>
            <a:ext cx="117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150" b="1" i="0">
                <a:solidFill>
                  <a:srgbClr val="0F2A43"/>
                </a:solidFill>
                <a:latin typeface="Segoe UI"/>
              </a:rPr>
              <a:t>TAHMİN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2000" y="2628000"/>
            <a:ext cx="1170000" cy="158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950" b="0" i="0">
                <a:solidFill>
                  <a:srgbClr val="5D6D7E"/>
                </a:solidFill>
                <a:latin typeface="Segoe UI"/>
              </a:rPr>
              <a:t>Ne kadar kod taranacak; süre ve maliyet önceden sunulur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3114000" y="2340000"/>
            <a:ext cx="180000" cy="288000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3276000" y="1584000"/>
            <a:ext cx="1278000" cy="273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276000" y="1584000"/>
            <a:ext cx="1278000" cy="216000"/>
          </a:xfrm>
          <a:prstGeom prst="rect">
            <a:avLst/>
          </a:prstGeom>
          <a:solidFill>
            <a:srgbClr val="B7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30000" y="1828800"/>
            <a:ext cx="117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200" b="1" i="0">
                <a:solidFill>
                  <a:srgbClr val="B7791F"/>
                </a:solidFill>
                <a:latin typeface="Segoe UI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30000" y="2052000"/>
            <a:ext cx="117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150" b="1" i="0">
                <a:solidFill>
                  <a:srgbClr val="0F2A43"/>
                </a:solidFill>
                <a:latin typeface="Segoe UI"/>
              </a:rPr>
              <a:t>ONAY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30000" y="2628000"/>
            <a:ext cx="1170000" cy="158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950" b="0" i="0">
                <a:solidFill>
                  <a:srgbClr val="5D6D7E"/>
                </a:solidFill>
                <a:latin typeface="Segoe UI"/>
              </a:rPr>
              <a:t>Kapsamı onaylarsınız; isterseniz daraltırsınız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4572000" y="2340000"/>
            <a:ext cx="180000" cy="288000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4733999" y="1584000"/>
            <a:ext cx="1278000" cy="273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733999" y="1584000"/>
            <a:ext cx="1278000" cy="216000"/>
          </a:xfrm>
          <a:prstGeom prst="rect">
            <a:avLst/>
          </a:prstGeom>
          <a:solidFill>
            <a:srgbClr val="1E84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788000" y="1828800"/>
            <a:ext cx="117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200" b="1" i="0">
                <a:solidFill>
                  <a:srgbClr val="1E8449"/>
                </a:solidFill>
                <a:latin typeface="Segoe UI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788000" y="2052000"/>
            <a:ext cx="117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150" b="1" i="0">
                <a:solidFill>
                  <a:srgbClr val="0F2A43"/>
                </a:solidFill>
                <a:latin typeface="Segoe UI"/>
              </a:rPr>
              <a:t>HAZIRLIK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88000" y="2628000"/>
            <a:ext cx="1170000" cy="158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950" b="0" i="0">
                <a:solidFill>
                  <a:srgbClr val="5D6D7E"/>
                </a:solidFill>
                <a:latin typeface="Segoe UI"/>
              </a:rPr>
              <a:t>Doküman bölümlere ayrılır; kod envanteri çıkarılır</a:t>
            </a:r>
          </a:p>
        </p:txBody>
      </p:sp>
      <p:sp>
        <p:nvSpPr>
          <p:cNvPr id="31" name="Right Arrow 30"/>
          <p:cNvSpPr/>
          <p:nvPr/>
        </p:nvSpPr>
        <p:spPr>
          <a:xfrm>
            <a:off x="6030000" y="2340000"/>
            <a:ext cx="180000" cy="288000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6192000" y="1584000"/>
            <a:ext cx="1278000" cy="273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92000" y="1584000"/>
            <a:ext cx="1278000" cy="21600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5999" y="1828800"/>
            <a:ext cx="117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200" b="1" i="0">
                <a:solidFill>
                  <a:srgbClr val="C0392B"/>
                </a:solidFill>
                <a:latin typeface="Segoe UI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5999" y="2052000"/>
            <a:ext cx="117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150" b="1" i="0">
                <a:solidFill>
                  <a:srgbClr val="0F2A43"/>
                </a:solidFill>
                <a:latin typeface="Segoe UI"/>
              </a:rPr>
              <a:t>TARAMA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5999" y="2628000"/>
            <a:ext cx="1170000" cy="158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950" b="0" i="0">
                <a:solidFill>
                  <a:srgbClr val="5D6D7E"/>
                </a:solidFill>
                <a:latin typeface="Segoe UI"/>
              </a:rPr>
              <a:t>Otomatik tarama çalışır; ajan eşleşmeleri doğrular</a:t>
            </a:r>
          </a:p>
        </p:txBody>
      </p:sp>
      <p:sp>
        <p:nvSpPr>
          <p:cNvPr id="37" name="Right Arrow 36"/>
          <p:cNvSpPr/>
          <p:nvPr/>
        </p:nvSpPr>
        <p:spPr>
          <a:xfrm>
            <a:off x="7488000" y="2340000"/>
            <a:ext cx="180000" cy="288000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7650000" y="1584000"/>
            <a:ext cx="1278000" cy="273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7650000" y="1584000"/>
            <a:ext cx="1278000" cy="216000"/>
          </a:xfrm>
          <a:prstGeom prst="rect">
            <a:avLst/>
          </a:prstGeom>
          <a:solidFill>
            <a:srgbClr val="0F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703999" y="1828800"/>
            <a:ext cx="117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200" b="1" i="0">
                <a:solidFill>
                  <a:srgbClr val="0F2A43"/>
                </a:solidFill>
                <a:latin typeface="Segoe UI"/>
              </a:rPr>
              <a:t>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03999" y="2052000"/>
            <a:ext cx="117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150" b="1" i="0">
                <a:solidFill>
                  <a:srgbClr val="0F2A43"/>
                </a:solidFill>
                <a:latin typeface="Segoe UI"/>
              </a:rPr>
              <a:t>SUNUM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703999" y="2628000"/>
            <a:ext cx="1170000" cy="158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950" b="0" i="0">
                <a:solidFill>
                  <a:srgbClr val="5D6D7E"/>
                </a:solidFill>
                <a:latin typeface="Segoe UI"/>
              </a:rPr>
              <a:t>Bulgular/maddeler size sunulur; siz onaylarsınız</a:t>
            </a:r>
          </a:p>
        </p:txBody>
      </p:sp>
      <p:sp>
        <p:nvSpPr>
          <p:cNvPr id="43" name="Right Arrow 42"/>
          <p:cNvSpPr/>
          <p:nvPr/>
        </p:nvSpPr>
        <p:spPr>
          <a:xfrm>
            <a:off x="8946000" y="2340000"/>
            <a:ext cx="180000" cy="288000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9108000" y="1584000"/>
            <a:ext cx="1278000" cy="273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9108000" y="1584000"/>
            <a:ext cx="1278000" cy="216000"/>
          </a:xfrm>
          <a:prstGeom prst="rect">
            <a:avLst/>
          </a:prstGeom>
          <a:solidFill>
            <a:srgbClr val="1D4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162000" y="1828800"/>
            <a:ext cx="117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200" b="1" i="0">
                <a:solidFill>
                  <a:srgbClr val="1D4E6E"/>
                </a:solidFill>
                <a:latin typeface="Segoe UI"/>
              </a:rPr>
              <a:t>7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162000" y="2052000"/>
            <a:ext cx="117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150" b="1" i="0">
                <a:solidFill>
                  <a:srgbClr val="0F2A43"/>
                </a:solidFill>
                <a:latin typeface="Segoe UI"/>
              </a:rPr>
              <a:t>RAPOR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162000" y="2628000"/>
            <a:ext cx="1170000" cy="158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950" b="0" i="0">
                <a:solidFill>
                  <a:srgbClr val="5D6D7E"/>
                </a:solidFill>
                <a:latin typeface="Segoe UI"/>
              </a:rPr>
              <a:t>Rapor kaydedilir; hassas veriler otomatik gizlenir</a:t>
            </a:r>
          </a:p>
        </p:txBody>
      </p:sp>
      <p:sp>
        <p:nvSpPr>
          <p:cNvPr id="49" name="Right Arrow 48"/>
          <p:cNvSpPr/>
          <p:nvPr/>
        </p:nvSpPr>
        <p:spPr>
          <a:xfrm>
            <a:off x="10404000" y="2340000"/>
            <a:ext cx="180000" cy="288000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10566000" y="1584000"/>
            <a:ext cx="1278000" cy="273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10566000" y="1584000"/>
            <a:ext cx="1278000" cy="216000"/>
          </a:xfrm>
          <a:prstGeom prst="rect">
            <a:avLst/>
          </a:prstGeom>
          <a:solidFill>
            <a:srgbClr val="1E84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0620000" y="1828800"/>
            <a:ext cx="117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200" b="1" i="0">
                <a:solidFill>
                  <a:srgbClr val="1E8449"/>
                </a:solidFill>
                <a:latin typeface="Segoe UI"/>
              </a:rPr>
              <a:t>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620000" y="2052000"/>
            <a:ext cx="117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150" b="1" i="0">
                <a:solidFill>
                  <a:srgbClr val="0F2A43"/>
                </a:solidFill>
                <a:latin typeface="Segoe UI"/>
              </a:rPr>
              <a:t>SEÇENEKLER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620000" y="2628000"/>
            <a:ext cx="1170000" cy="158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950" b="0" i="0">
                <a:solidFill>
                  <a:srgbClr val="5D6D7E"/>
                </a:solidFill>
                <a:latin typeface="Segoe UI"/>
              </a:rPr>
              <a:t>Düzeltme / devam / bitir — karar sizin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60000" y="4680000"/>
            <a:ext cx="11448000" cy="1224000"/>
          </a:xfrm>
          <a:prstGeom prst="rect">
            <a:avLst/>
          </a:prstGeom>
          <a:solidFill>
            <a:srgbClr val="EAF1F7"/>
          </a:solidFill>
          <a:ln w="12700">
            <a:solidFill>
              <a:srgbClr val="1D4E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03999" y="4770000"/>
            <a:ext cx="11160000" cy="1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1" i="0">
                <a:solidFill>
                  <a:srgbClr val="0F2A43"/>
                </a:solidFill>
                <a:latin typeface="Segoe UI"/>
              </a:rPr>
              <a:t>Sekiz adımın yedisi sizin kararınıza bağlı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22303C"/>
                </a:solidFill>
                <a:latin typeface="Segoe UI"/>
              </a:rPr>
              <a:t>Ajan yalnız ölçüm ve analiz yapar; kapsam onayı, bulgu onayı ve rapor sonrası yol onayı daima sizden alınır. Bir adım atlanacak olursa ajan durur ve o adımı size sorar.</a:t>
            </a:r>
          </a:p>
        </p:txBody>
      </p:sp>
      <p:pic>
        <p:nvPicPr>
          <p:cNvPr id="57" name="Picture 56" descr="softtech-logo-light-backgrou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85248" y="6382512"/>
            <a:ext cx="960120" cy="41675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A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389162840000" cy="311040000000"/>
          </a:xfrm>
          <a:prstGeom prst="rect">
            <a:avLst/>
          </a:prstGeom>
          <a:solidFill>
            <a:srgbClr val="1D4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11040000000"/>
            <a:ext cx="4389162840000" cy="12960000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4000" y="125999"/>
            <a:ext cx="8280000" cy="61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2500" b="1" i="0">
                <a:solidFill>
                  <a:srgbClr val="FFFFFF"/>
                </a:solidFill>
                <a:latin typeface="Segoe UI"/>
              </a:rPr>
              <a:t>Tarama Öncesi: Ne Zaman ve Ne Kadar?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4000" y="576000"/>
            <a:ext cx="90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 i="1">
                <a:solidFill>
                  <a:srgbClr val="B8CEE0"/>
                </a:solidFill>
                <a:latin typeface="Segoe UI"/>
              </a:rPr>
              <a:t>Tarama başlamadan ajan kapsamı ve maliyeti ölçer; onayınız olmadan tarama başlamaz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119" y="558000"/>
            <a:ext cx="684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500"/>
              </a:spcAft>
            </a:pPr>
            <a:r>
              <a:rPr sz="1050" b="1" i="0">
                <a:solidFill>
                  <a:srgbClr val="173A59"/>
                </a:solidFill>
                <a:latin typeface="Segoe UI"/>
              </a:rPr>
              <a:t>4 / 19</a:t>
            </a:r>
          </a:p>
        </p:txBody>
      </p:sp>
      <p:pic>
        <p:nvPicPr>
          <p:cNvPr id="7" name="Picture 6" descr="logo_tem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0119" y="180000"/>
            <a:ext cx="1332000" cy="398442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360000" y="1404000"/>
            <a:ext cx="5508000" cy="2664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0000" y="1404000"/>
            <a:ext cx="5508000" cy="28512000000"/>
          </a:xfrm>
          <a:prstGeom prst="rect">
            <a:avLst/>
          </a:prstGeom>
          <a:solidFill>
            <a:srgbClr val="1D4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8000" y="1540800"/>
            <a:ext cx="5292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0F2A43"/>
                </a:solidFill>
                <a:latin typeface="Segoe UI"/>
              </a:rPr>
              <a:t>Pilot ölçüm — orta boy tek repo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8000" y="1872000"/>
            <a:ext cx="5292000" cy="21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Kapsam: 178 dosya · 15.051 satır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Uygulanacak tarama: 66 bilinen desen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Otomatik tarama süresi: yaklaşık 1 saniye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Analiz ve rapor: yaklaşık 15-20 dakika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Bağlam maliyeti: düşük (yalnız eşleşen bölümler okunur)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999" y="1404000"/>
            <a:ext cx="5544000" cy="2664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63999" y="1404000"/>
            <a:ext cx="5544000" cy="2851200000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72000" y="1540800"/>
            <a:ext cx="5328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0F2A43"/>
                </a:solidFill>
                <a:latin typeface="Segoe UI"/>
              </a:rPr>
              <a:t>Tam kapsam — 36 repolık tarama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72000" y="1872000"/>
            <a:ext cx="5328000" cy="21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Kapsam: 5.277 dosya · 1 milyonun üzerinde satır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Uygulanacak tarama: 66 desen × repo + mevzuat hükümleri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Otomatik tarama süresi: yaklaşık 1 dakika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Analiz ve rapor: yaklaşık 20-25 dakika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Bağlam maliyeti: ölçülür ve önceden bildirilir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0000" y="4284000"/>
            <a:ext cx="11448000" cy="1655999"/>
          </a:xfrm>
          <a:prstGeom prst="rect">
            <a:avLst/>
          </a:prstGeom>
          <a:solidFill>
            <a:srgbClr val="EAF1F7"/>
          </a:solidFill>
          <a:ln w="12700">
            <a:solidFill>
              <a:srgbClr val="1D4E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3999" y="4374000"/>
            <a:ext cx="11160000" cy="151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1" i="0">
                <a:solidFill>
                  <a:srgbClr val="0F2A43"/>
                </a:solidFill>
                <a:latin typeface="Segoe UI"/>
              </a:rPr>
              <a:t>Nasıl çalışır?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22303C"/>
                </a:solidFill>
                <a:latin typeface="Segoe UI"/>
              </a:rPr>
              <a:t>1) Ajan depoyu ve dokümanı sayar (hangi dosyalar, kaç satır)   →   2) uygulanacak tarama sayısını hesaplar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22303C"/>
                </a:solidFill>
                <a:latin typeface="Segoe UI"/>
              </a:rPr>
              <a:t>3) Süre ve maliyet tahminini tablo olarak sunar   →   4) Sorar: 'Taramaya bu kapsamla başlayayım mı? (evet / daralt / hayır)'</a:t>
            </a:r>
          </a:p>
          <a:p>
            <a:pPr algn="l">
              <a:spcAft>
                <a:spcPts val="500"/>
              </a:spcAft>
            </a:pPr>
            <a:r>
              <a:rPr sz="1050" b="0" i="1">
                <a:solidFill>
                  <a:srgbClr val="5D6D7E"/>
                </a:solidFill>
                <a:latin typeface="Segoe UI"/>
              </a:rPr>
              <a:t>Sayılar gerçek ölçümdür; tahmini süre ve maliyet başında '~' ile belirtilir. Kapsam büyük gelirse 'daralt' dersiniz; envanter yeniden hesaplanır ve tablo tekrar sunulur — siz 'evet' deyene kadar.</a:t>
            </a:r>
          </a:p>
        </p:txBody>
      </p:sp>
      <p:pic>
        <p:nvPicPr>
          <p:cNvPr id="18" name="Picture 17" descr="softtech-logo-light-backgrou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85248" y="6382512"/>
            <a:ext cx="960120" cy="41675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A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389162840000" cy="311040000000"/>
          </a:xfrm>
          <a:prstGeom prst="rect">
            <a:avLst/>
          </a:prstGeom>
          <a:solidFill>
            <a:srgbClr val="1D4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11040000000"/>
            <a:ext cx="4389162840000" cy="12960000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4000" y="125999"/>
            <a:ext cx="8280000" cy="61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2500" b="1" i="0">
                <a:solidFill>
                  <a:srgbClr val="FFFFFF"/>
                </a:solidFill>
                <a:latin typeface="Segoe UI"/>
              </a:rPr>
              <a:t>Girdi Nasıl Seçilir? — Repo ve Döküman Kaynakları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4000" y="576000"/>
            <a:ext cx="90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 i="1">
                <a:solidFill>
                  <a:srgbClr val="B8CEE0"/>
                </a:solidFill>
                <a:latin typeface="Segoe UI"/>
              </a:rPr>
              <a:t>Ajan kaynağı siz söylemeden seçmez: önce arar, sonra kayda bakar, gerekirse sizden ister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119" y="558000"/>
            <a:ext cx="684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500"/>
              </a:spcAft>
            </a:pPr>
            <a:r>
              <a:rPr sz="1050" b="1" i="0">
                <a:solidFill>
                  <a:srgbClr val="173A59"/>
                </a:solidFill>
                <a:latin typeface="Segoe UI"/>
              </a:rPr>
              <a:t>5 / 19</a:t>
            </a:r>
          </a:p>
        </p:txBody>
      </p:sp>
      <p:pic>
        <p:nvPicPr>
          <p:cNvPr id="7" name="Picture 6" descr="logo_tem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0119" y="180000"/>
            <a:ext cx="1332000" cy="398442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360000" y="1404000"/>
            <a:ext cx="5544000" cy="3204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0000" y="1404000"/>
            <a:ext cx="5544000" cy="2851200000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8000" y="1540800"/>
            <a:ext cx="5328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0F2A43"/>
                </a:solidFill>
                <a:latin typeface="Segoe UI"/>
              </a:rPr>
              <a:t>Repo seçimi — sırayla üç durak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8000" y="1872000"/>
            <a:ext cx="5328000" cy="264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0" i="0">
                <a:solidFill>
                  <a:srgbClr val="22303C"/>
                </a:solidFill>
                <a:latin typeface="Segoe UI"/>
              </a:rPr>
              <a:t>1) Verdiğiniz yol: mesajınızda repo yolu yazılıysa soru sorulmaz — repo doğrulanır (geçerli git deposu mu, üzerinde kaydedilmemiş değişiklik var mı) ve akış başlar.</a:t>
            </a:r>
          </a:p>
          <a:p>
            <a:pPr algn="l">
              <a:spcAft>
                <a:spcPts val="600"/>
              </a:spcAft>
            </a:pPr>
            <a:r>
              <a:rPr sz="1050" b="0" i="0">
                <a:solidFill>
                  <a:srgbClr val="22303C"/>
                </a:solidFill>
                <a:latin typeface="Segoe UI"/>
              </a:rPr>
              <a:t>2) Kayıt defteri: yol verilmediyse ajan önce bulunduğunuz dizini ve üst dizinleri tarar; sonra daha önce onayladığınız depolar listesine bakar. Tanıdık repo görünce 'güncelleyeyim mi?' diye sorar.</a:t>
            </a:r>
          </a:p>
          <a:p>
            <a:pPr algn="l">
              <a:spcAft>
                <a:spcPts val="600"/>
              </a:spcAft>
            </a:pPr>
            <a:r>
              <a:rPr sz="1050" b="0" i="0">
                <a:solidFill>
                  <a:srgbClr val="22303C"/>
                </a:solidFill>
                <a:latin typeface="Segoe UI"/>
              </a:rPr>
              <a:t>3) Soru: hiçbiri bulunamazsa ajan durur ve şunu sorar — 'İncelenecek repo dizinini (yerel yol) veya git adresini verir misiniz?' Cevap gelmeden tarama başlamaz.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999" y="1404000"/>
            <a:ext cx="5544000" cy="3204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63999" y="1404000"/>
            <a:ext cx="5544000" cy="28512000000"/>
          </a:xfrm>
          <a:prstGeom prst="rect">
            <a:avLst/>
          </a:prstGeom>
          <a:solidFill>
            <a:srgbClr val="1D4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72000" y="1540800"/>
            <a:ext cx="5328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0F2A43"/>
                </a:solidFill>
                <a:latin typeface="Segoe UI"/>
              </a:rPr>
              <a:t>Uzak repo ve döküman girdileri (hepsi onayla)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72000" y="1872000"/>
            <a:ext cx="5328000" cy="264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0" i="0">
                <a:solidFill>
                  <a:srgbClr val="22303C"/>
                </a:solidFill>
                <a:latin typeface="Segoe UI"/>
              </a:rPr>
              <a:t>Git URL: adresi verirsiniz, ajan 'yerel geçici dizininize indireyim mi?' diye sorar; onayla sığ kopya alır — tam geçmiş indirilmez, yalnız güncel hali incelenir.</a:t>
            </a:r>
          </a:p>
          <a:p>
            <a:pPr algn="l">
              <a:spcAft>
                <a:spcPts val="600"/>
              </a:spcAft>
            </a:pPr>
            <a:r>
              <a:rPr sz="1050" b="0" i="0">
                <a:solidFill>
                  <a:srgbClr val="22303C"/>
                </a:solidFill>
                <a:latin typeface="Segoe UI"/>
              </a:rPr>
              <a:t>Döküman dosya/klasör yolu: dosyanın tam yolunu verirsiniz (ajan ilgili klasöre kopyalar) veya kendiniz ilgili klasöre koyarsınız.</a:t>
            </a:r>
          </a:p>
          <a:p>
            <a:pPr algn="l">
              <a:spcAft>
                <a:spcPts val="600"/>
              </a:spcAft>
            </a:pPr>
            <a:r>
              <a:rPr sz="1050" b="0" i="0">
                <a:solidFill>
                  <a:srgbClr val="22303C"/>
                </a:solidFill>
                <a:latin typeface="Segoe UI"/>
              </a:rPr>
              <a:t>Döküman URL'i: şifresiz tek belge bağlantısı indirilebilir (bülten girdisinde URL indirme yoktur; mevzuatta kapalı tek-belge indirilir).</a:t>
            </a:r>
          </a:p>
          <a:p>
            <a:pPr algn="l">
              <a:spcAft>
                <a:spcPts val="600"/>
              </a:spcAft>
            </a:pPr>
            <a:r>
              <a:rPr sz="1050" b="0" i="0">
                <a:solidFill>
                  <a:srgbClr val="22303C"/>
                </a:solidFill>
                <a:latin typeface="Segoe UI"/>
              </a:rPr>
              <a:t>Mevzuat sayfa tarama: bir sayfa adresi verirsiniz; ajan sayfadaki belge bağlantılarını bulur ve aynı belge için bilgisayar dosyası öncelik alır (doc/docx &gt; pdf).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0000" y="4824000"/>
            <a:ext cx="11448000" cy="1368000"/>
          </a:xfrm>
          <a:prstGeom prst="rect">
            <a:avLst/>
          </a:prstGeom>
          <a:solidFill>
            <a:srgbClr val="EAF1F7"/>
          </a:solidFill>
          <a:ln w="12700">
            <a:solidFill>
              <a:srgbClr val="1D4E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3999" y="4914000"/>
            <a:ext cx="11160000" cy="12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1" i="0">
                <a:solidFill>
                  <a:srgbClr val="0F2A43"/>
                </a:solidFill>
                <a:latin typeface="Segoe UI"/>
              </a:rPr>
              <a:t>Seçimlikler ve güvenceler</a:t>
            </a:r>
          </a:p>
          <a:p>
            <a:pPr algn="l">
              <a:spcAft>
                <a:spcPts val="500"/>
              </a:spcAft>
            </a:pPr>
            <a:r>
              <a:rPr sz="1050" b="0" i="0">
                <a:solidFill>
                  <a:srgbClr val="22303C"/>
                </a:solidFill>
                <a:latin typeface="Segoe UI"/>
              </a:rPr>
              <a:t>Çoklu seçim: birden fazla repo/dökümanı numaralı listeyle verebilirsiniz — ajan sırayla TEK TEK işler; bir rapor bitmeden diğerine başlamaz.</a:t>
            </a:r>
          </a:p>
          <a:p>
            <a:pPr algn="l">
              <a:spcAft>
                <a:spcPts val="500"/>
              </a:spcAft>
            </a:pPr>
            <a:r>
              <a:rPr sz="1050" b="0" i="0">
                <a:solidFill>
                  <a:srgbClr val="22303C"/>
                </a:solidFill>
                <a:latin typeface="Segoe UI"/>
              </a:rPr>
              <a:t>Her indirme ONAYLIDIR: URL'den ne ineceği açıkça bildirilir; şifreli sayfa (401/403/407) görülürse ajan durur, kimlik istemez — indirme atlanır.</a:t>
            </a:r>
          </a:p>
          <a:p>
            <a:pPr algn="l">
              <a:spcAft>
                <a:spcPts val="500"/>
              </a:spcAft>
            </a:pPr>
            <a:r>
              <a:rPr sz="1050" b="0" i="0">
                <a:solidFill>
                  <a:srgbClr val="22303C"/>
                </a:solidFill>
                <a:latin typeface="Segoe UI"/>
              </a:rPr>
              <a:t>Kimlik güvenliği: kullanıcı adı/şifre hiçbir adımda sorulmaz, dosyaya yazılmaz; raporlarda oturum izleri maskeli taşınır.</a:t>
            </a:r>
          </a:p>
        </p:txBody>
      </p:sp>
      <p:pic>
        <p:nvPicPr>
          <p:cNvPr id="18" name="Picture 17" descr="softtech-logo-light-backgrou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85248" y="6382512"/>
            <a:ext cx="960120" cy="41675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A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389162840000" cy="311040000000"/>
          </a:xfrm>
          <a:prstGeom prst="rect">
            <a:avLst/>
          </a:prstGeom>
          <a:solidFill>
            <a:srgbClr val="1D4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11040000000"/>
            <a:ext cx="4389162840000" cy="12960000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4000" y="125999"/>
            <a:ext cx="8280000" cy="61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2500" b="1" i="0">
                <a:solidFill>
                  <a:srgbClr val="FFFFFF"/>
                </a:solidFill>
                <a:latin typeface="Segoe UI"/>
              </a:rPr>
              <a:t>1 — Repo Risk Raporu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4000" y="576000"/>
            <a:ext cx="90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 i="1">
                <a:solidFill>
                  <a:srgbClr val="B8CEE0"/>
                </a:solidFill>
                <a:latin typeface="Segoe UI"/>
              </a:rPr>
              <a:t>Kodun güvenlik ve dolandırıcılık durum raporu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119" y="558000"/>
            <a:ext cx="684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500"/>
              </a:spcAft>
            </a:pPr>
            <a:r>
              <a:rPr sz="1050" b="1" i="0">
                <a:solidFill>
                  <a:srgbClr val="173A59"/>
                </a:solidFill>
                <a:latin typeface="Segoe UI"/>
              </a:rPr>
              <a:t>6 / 19</a:t>
            </a:r>
          </a:p>
        </p:txBody>
      </p:sp>
      <p:pic>
        <p:nvPicPr>
          <p:cNvPr id="7" name="Picture 6" descr="logo_tem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0119" y="180000"/>
            <a:ext cx="1332000" cy="398442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360000" y="1260000"/>
            <a:ext cx="5508000" cy="331199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0000" y="1260000"/>
            <a:ext cx="5508000" cy="2851200000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8000" y="1396800"/>
            <a:ext cx="5292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0F2A43"/>
                </a:solidFill>
                <a:latin typeface="Segoe UI"/>
              </a:rPr>
              <a:t>Ne istersiniz / ajan ne yapar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8000" y="1728000"/>
            <a:ext cx="5292000" cy="27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İstek: repo yolu veya adresi — başka girdi istemez.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Ajan kodu üç eksende tarar: bilinen zafiyetler, dolandırıcılık senaryoları (çift ödeme, yetki aşımı, gizli anahtar kalıntısı), yapılandırma hataları (şifresiz bağlantı, açık ayarlar).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Tarama önce otomatik araçla yürür; ajan her eşleşmeyi koda giderek doğrular ve yanıltıcıları eler.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Bulgular önem sırasına dizilir; rapor yazılmadan hassas veriler gizlenir.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999" y="1260000"/>
            <a:ext cx="5544000" cy="331199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63999" y="1260000"/>
            <a:ext cx="5544000" cy="28512000000"/>
          </a:xfrm>
          <a:prstGeom prst="rect">
            <a:avLst/>
          </a:prstGeom>
          <a:solidFill>
            <a:srgbClr val="1D4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72000" y="1396800"/>
            <a:ext cx="5328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0F2A43"/>
                </a:solidFill>
                <a:latin typeface="Segoe UI"/>
              </a:rPr>
              <a:t>Ne alırsınız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72000" y="1728000"/>
            <a:ext cx="5328000" cy="27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Yönetici özeti: genel risk düzeyi ve öne çıkan sayılar.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Bulgular tablosu: kritikler başta; her satırda konum ve etiket.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Her bulguda: nerede (dosya + satır), neden risk, nasıl kullanılabilir (senaryo), nasıl düzeltilir (kod önerisi).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Pozitif kontroller: doğru yapılmış noktalar da listelenir.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Öncelikli yol haritası: hemen / kısa vade / uzun vade.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Gerçek ölçek: son 35-repolık taramada 24 kritik · 23 yüksek · 21 orta; uyum oranı %67.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0000" y="4608000"/>
            <a:ext cx="432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C9A227"/>
                </a:solidFill>
                <a:latin typeface="Segoe UI"/>
              </a:rPr>
              <a:t>AKIŞ ÖZETİ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-467999" y="4896000"/>
            <a:ext cx="1655999" cy="108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C9A227"/>
                </a:solidFill>
              </a:rPr>
              <a:t>1</a:t>
            </a:r>
          </a:p>
          <a:p>
            <a:pPr algn="ctr"/>
            <a:r>
              <a:rPr sz="1050" b="1">
                <a:solidFill>
                  <a:srgbClr val="0F2A43"/>
                </a:solidFill>
              </a:rPr>
              <a:t>Seçim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1224000" y="5292000"/>
            <a:ext cx="179999" cy="288000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440000" y="4896000"/>
            <a:ext cx="1655999" cy="108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C9A227"/>
                </a:solidFill>
              </a:rPr>
              <a:t>2</a:t>
            </a:r>
          </a:p>
          <a:p>
            <a:pPr algn="ctr"/>
            <a:r>
              <a:rPr sz="1050" b="1">
                <a:solidFill>
                  <a:srgbClr val="0F2A43"/>
                </a:solidFill>
              </a:rPr>
              <a:t>Tahmin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3132000" y="5292000"/>
            <a:ext cx="179999" cy="288000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3348000" y="4896000"/>
            <a:ext cx="1655999" cy="108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C9A227"/>
                </a:solidFill>
              </a:rPr>
              <a:t>3</a:t>
            </a:r>
          </a:p>
          <a:p>
            <a:pPr algn="ctr"/>
            <a:r>
              <a:rPr sz="1050" b="1">
                <a:solidFill>
                  <a:srgbClr val="0F2A43"/>
                </a:solidFill>
              </a:rPr>
              <a:t>Onay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5040000" y="5292000"/>
            <a:ext cx="179999" cy="288000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256000" y="4896000"/>
            <a:ext cx="1655999" cy="108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C9A227"/>
                </a:solidFill>
              </a:rPr>
              <a:t>4</a:t>
            </a:r>
          </a:p>
          <a:p>
            <a:pPr algn="ctr"/>
            <a:r>
              <a:rPr sz="1050" b="1">
                <a:solidFill>
                  <a:srgbClr val="0F2A43"/>
                </a:solidFill>
              </a:rPr>
              <a:t>Tarama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6948000" y="5292000"/>
            <a:ext cx="179999" cy="288000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7164000" y="4896000"/>
            <a:ext cx="1655999" cy="108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C9A227"/>
                </a:solidFill>
              </a:rPr>
              <a:t>5</a:t>
            </a:r>
          </a:p>
          <a:p>
            <a:pPr algn="ctr"/>
            <a:r>
              <a:rPr sz="1050" b="1">
                <a:solidFill>
                  <a:srgbClr val="0F2A43"/>
                </a:solidFill>
              </a:rPr>
              <a:t>Doğrulama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8856000" y="5292000"/>
            <a:ext cx="179999" cy="288000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072000" y="4896000"/>
            <a:ext cx="1655999" cy="108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C9A227"/>
                </a:solidFill>
              </a:rPr>
              <a:t>6</a:t>
            </a:r>
          </a:p>
          <a:p>
            <a:pPr algn="ctr"/>
            <a:r>
              <a:rPr sz="1050" b="1">
                <a:solidFill>
                  <a:srgbClr val="0F2A43"/>
                </a:solidFill>
              </a:rPr>
              <a:t>Rapor</a:t>
            </a:r>
          </a:p>
        </p:txBody>
      </p:sp>
      <p:sp>
        <p:nvSpPr>
          <p:cNvPr id="28" name="Right Arrow 27"/>
          <p:cNvSpPr/>
          <p:nvPr/>
        </p:nvSpPr>
        <p:spPr>
          <a:xfrm>
            <a:off x="10764000" y="5292000"/>
            <a:ext cx="179999" cy="288000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10980000" y="4896000"/>
            <a:ext cx="1655999" cy="108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C9A227"/>
                </a:solidFill>
              </a:rPr>
              <a:t>7</a:t>
            </a:r>
          </a:p>
          <a:p>
            <a:pPr algn="ctr"/>
            <a:r>
              <a:rPr sz="1050" b="1">
                <a:solidFill>
                  <a:srgbClr val="0F2A43"/>
                </a:solidFill>
              </a:rPr>
              <a:t>Seçenekler</a:t>
            </a:r>
          </a:p>
        </p:txBody>
      </p:sp>
      <p:pic>
        <p:nvPicPr>
          <p:cNvPr id="30" name="Picture 29" descr="softtech-logo-light-backgrou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85248" y="6382512"/>
            <a:ext cx="960120" cy="41675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A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389162840000" cy="311040000000"/>
          </a:xfrm>
          <a:prstGeom prst="rect">
            <a:avLst/>
          </a:prstGeom>
          <a:solidFill>
            <a:srgbClr val="1D4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11040000000"/>
            <a:ext cx="4389162840000" cy="12960000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4000" y="125999"/>
            <a:ext cx="8280000" cy="61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2500" b="1" i="0">
                <a:solidFill>
                  <a:srgbClr val="FFFFFF"/>
                </a:solidFill>
                <a:latin typeface="Segoe UI"/>
              </a:rPr>
              <a:t>2 — Bülten (Doküman) Etki Analizi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4000" y="576000"/>
            <a:ext cx="90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 i="1">
                <a:solidFill>
                  <a:srgbClr val="B8CEE0"/>
                </a:solidFill>
                <a:latin typeface="Segoe UI"/>
              </a:rPr>
              <a:t>Yeni duyurunun kod üzerindeki etkisi, madde madde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119" y="558000"/>
            <a:ext cx="684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500"/>
              </a:spcAft>
            </a:pPr>
            <a:r>
              <a:rPr sz="1050" b="1" i="0">
                <a:solidFill>
                  <a:srgbClr val="173A59"/>
                </a:solidFill>
                <a:latin typeface="Segoe UI"/>
              </a:rPr>
              <a:t>7 / 19</a:t>
            </a:r>
          </a:p>
        </p:txBody>
      </p:sp>
      <p:pic>
        <p:nvPicPr>
          <p:cNvPr id="7" name="Picture 6" descr="logo_tem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0119" y="180000"/>
            <a:ext cx="1332000" cy="398442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360000" y="1260000"/>
            <a:ext cx="5508000" cy="331199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0000" y="1260000"/>
            <a:ext cx="5508000" cy="28512000000"/>
          </a:xfrm>
          <a:prstGeom prst="rect">
            <a:avLst/>
          </a:prstGeom>
          <a:solidFill>
            <a:srgbClr val="1D4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8000" y="1396800"/>
            <a:ext cx="5292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0F2A43"/>
                </a:solidFill>
                <a:latin typeface="Segoe UI"/>
              </a:rPr>
              <a:t>Ne istersiniz / ajan ne yapar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8000" y="1728000"/>
            <a:ext cx="5292000" cy="27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İstek: doküman dosyası + isterseniz ilgili repo.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Ajan dokümanı doğal yapısından maddelere ayırır (M-01, M-02...).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Repo verdiyseniz her maddeyi kodda arar: bugünkü durum ne, doküman ne istiyor, fark nerede?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Madde listesi ve etki tablosunu önce size sunar; onayınız olmadan rapora geçmez.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999" y="1260000"/>
            <a:ext cx="5544000" cy="331199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63999" y="1260000"/>
            <a:ext cx="5544000" cy="28512000000"/>
          </a:xfrm>
          <a:prstGeom prst="rect">
            <a:avLst/>
          </a:prstGeom>
          <a:solidFill>
            <a:srgbClr val="1D4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72000" y="1396800"/>
            <a:ext cx="5328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0F2A43"/>
                </a:solidFill>
                <a:latin typeface="Segoe UI"/>
              </a:rPr>
              <a:t>Her madde için ne raporlanır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72000" y="1728000"/>
            <a:ext cx="5328000" cy="27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Dokümanın istediği değişiklik: teknik özet + geçerlilik tarihi + aciliyet — tarihler asla atlanmaz.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Bugünkü durum (dosya/fonksiyon/satır) ve olması gereken, adım adım.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Etkilenen bileşenler tablosu: kod / yapılandırma / veri / test × risk × öncelik.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Yapılmazsa ne olur: hangi işlem nasıl bozulur?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Test önerileri + efor tahmini (küçük/orta/büyük).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Rapor sonunda: öncelikli liste + en riskli 3 bileşen + sürüm önerisi + etkilenmeyen alanlar.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0000" y="4608000"/>
            <a:ext cx="432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C9A227"/>
                </a:solidFill>
                <a:latin typeface="Segoe UI"/>
              </a:rPr>
              <a:t>AKIŞ ÖZETİ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86000" y="4896000"/>
            <a:ext cx="1655999" cy="108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C9A227"/>
                </a:solidFill>
              </a:rPr>
              <a:t>1</a:t>
            </a:r>
          </a:p>
          <a:p>
            <a:pPr algn="ctr"/>
            <a:r>
              <a:rPr sz="1050" b="1">
                <a:solidFill>
                  <a:srgbClr val="0F2A43"/>
                </a:solidFill>
              </a:rPr>
              <a:t>Doküman seç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2178000" y="5292000"/>
            <a:ext cx="179999" cy="288000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2394000" y="4896000"/>
            <a:ext cx="1655999" cy="108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C9A227"/>
                </a:solidFill>
              </a:rPr>
              <a:t>2</a:t>
            </a:r>
          </a:p>
          <a:p>
            <a:pPr algn="ctr"/>
            <a:r>
              <a:rPr sz="1050" b="1">
                <a:solidFill>
                  <a:srgbClr val="0F2A43"/>
                </a:solidFill>
              </a:rPr>
              <a:t>Tahmin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4086000" y="5292000"/>
            <a:ext cx="179999" cy="288000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4302000" y="4896000"/>
            <a:ext cx="1655999" cy="108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C9A227"/>
                </a:solidFill>
              </a:rPr>
              <a:t>3</a:t>
            </a:r>
          </a:p>
          <a:p>
            <a:pPr algn="ctr"/>
            <a:r>
              <a:rPr sz="1050" b="1">
                <a:solidFill>
                  <a:srgbClr val="0F2A43"/>
                </a:solidFill>
              </a:rPr>
              <a:t>Repo?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5994000" y="5292000"/>
            <a:ext cx="179999" cy="288000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210000" y="4896000"/>
            <a:ext cx="1655999" cy="108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C9A227"/>
                </a:solidFill>
              </a:rPr>
              <a:t>4</a:t>
            </a:r>
          </a:p>
          <a:p>
            <a:pPr algn="ctr"/>
            <a:r>
              <a:rPr sz="1050" b="1">
                <a:solidFill>
                  <a:srgbClr val="0F2A43"/>
                </a:solidFill>
              </a:rPr>
              <a:t>Madde analizi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7902000" y="5292000"/>
            <a:ext cx="179999" cy="288000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118000" y="4896000"/>
            <a:ext cx="1655999" cy="108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C9A227"/>
                </a:solidFill>
              </a:rPr>
              <a:t>5</a:t>
            </a:r>
          </a:p>
          <a:p>
            <a:pPr algn="ctr"/>
            <a:r>
              <a:rPr sz="1050" b="1">
                <a:solidFill>
                  <a:srgbClr val="0F2A43"/>
                </a:solidFill>
              </a:rPr>
              <a:t>Onay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9810000" y="5292000"/>
            <a:ext cx="179999" cy="288000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10026000" y="4896000"/>
            <a:ext cx="1655999" cy="108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C9A227"/>
                </a:solidFill>
              </a:rPr>
              <a:t>6</a:t>
            </a:r>
          </a:p>
          <a:p>
            <a:pPr algn="ctr"/>
            <a:r>
              <a:rPr sz="1050" b="1">
                <a:solidFill>
                  <a:srgbClr val="0F2A43"/>
                </a:solidFill>
              </a:rPr>
              <a:t>Rapor</a:t>
            </a:r>
          </a:p>
        </p:txBody>
      </p:sp>
      <p:pic>
        <p:nvPicPr>
          <p:cNvPr id="28" name="Picture 27" descr="softtech-logo-light-backgrou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85248" y="6382512"/>
            <a:ext cx="960120" cy="416755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A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389162840000" cy="311040000000"/>
          </a:xfrm>
          <a:prstGeom prst="rect">
            <a:avLst/>
          </a:prstGeom>
          <a:solidFill>
            <a:srgbClr val="1D4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11040000000"/>
            <a:ext cx="4389162840000" cy="12960000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4000" y="125999"/>
            <a:ext cx="8280000" cy="61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2500" b="1" i="0">
                <a:solidFill>
                  <a:srgbClr val="FFFFFF"/>
                </a:solidFill>
                <a:latin typeface="Segoe UI"/>
              </a:rPr>
              <a:t>3 — Mevzuat Uyum Analizi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4000" y="576000"/>
            <a:ext cx="90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 i="1">
                <a:solidFill>
                  <a:srgbClr val="B8CEE0"/>
                </a:solidFill>
                <a:latin typeface="Segoe UI"/>
              </a:rPr>
              <a:t>Hukuki gereklilik kodda ne kadar sağlanmış? Tek tek denetim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119" y="558000"/>
            <a:ext cx="684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500"/>
              </a:spcAft>
            </a:pPr>
            <a:r>
              <a:rPr sz="1050" b="1" i="0">
                <a:solidFill>
                  <a:srgbClr val="173A59"/>
                </a:solidFill>
                <a:latin typeface="Segoe UI"/>
              </a:rPr>
              <a:t>8 / 19</a:t>
            </a:r>
          </a:p>
        </p:txBody>
      </p:sp>
      <p:pic>
        <p:nvPicPr>
          <p:cNvPr id="7" name="Picture 6" descr="logo_tem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0119" y="180000"/>
            <a:ext cx="1332000" cy="398442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360000" y="1260000"/>
            <a:ext cx="5508000" cy="331199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0000" y="1260000"/>
            <a:ext cx="5508000" cy="28512000000"/>
          </a:xfrm>
          <a:prstGeom prst="rect">
            <a:avLst/>
          </a:prstGeom>
          <a:solidFill>
            <a:srgbClr val="B7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8000" y="1396800"/>
            <a:ext cx="5292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0F2A43"/>
                </a:solidFill>
                <a:latin typeface="Segoe UI"/>
              </a:rPr>
              <a:t>Denetim kurgusu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8000" y="1728000"/>
            <a:ext cx="5292000" cy="27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İstek: kanun/yönetmelik belgesi (dosya, bağlantı veya yapıştırılan metin) + repo.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Ajan hükümleri numaralar (KANUN-17, YON-21 gibi) ve konu gruplarına ayırır: sözleşme, komisyon/kesinti, fiş, iade, terminasyon...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Her hüküm kodu birden çok yöntemle aranır: alan adları, işleyiş akışı, veritabanı/yapılandırma tanımları.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Negatif kontroller zorunludur: yasak bir işlem kod ile üretilmeye çalışılabilir mi? (ör. müşteriden ek ücret alınabilir mi?)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999" y="1260000"/>
            <a:ext cx="5544000" cy="331199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63999" y="1260000"/>
            <a:ext cx="5544000" cy="28512000000"/>
          </a:xfrm>
          <a:prstGeom prst="rect">
            <a:avLst/>
          </a:prstGeom>
          <a:solidFill>
            <a:srgbClr val="B7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72000" y="1396800"/>
            <a:ext cx="5328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0F2A43"/>
                </a:solidFill>
                <a:latin typeface="Segoe UI"/>
              </a:rPr>
              <a:t>Karar ve rapor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72000" y="1728000"/>
            <a:ext cx="5328000" cy="27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Her hükme karar: UYUMLU (kanıtıyla) / UYUMSUZ / EKSİK / KODDA YOK (sessizce uyumlu sayılmaz) / PARAMETRİK (kurum kararına bağlı).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En kritik ihlal sınıfı: müşteriye maliyet/ek ücret aktarımı — önce kontrol edilir.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Uyum oranı (%), pozitif kontroller ve kapsam dışı hükümler ayrı listelenir.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Her karar; hüküm metni + kod konumu ile dayanır. Kod okunamayan bölüm 'Doğrulanmalı' etiketlenir.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Rapor sonunda öncelikli düzeltme yol haritası gelir.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0000" y="4608000"/>
            <a:ext cx="432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C9A227"/>
                </a:solidFill>
                <a:latin typeface="Segoe UI"/>
              </a:rPr>
              <a:t>AKIŞ ÖZETİ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86000" y="4896000"/>
            <a:ext cx="1655999" cy="108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C9A227"/>
                </a:solidFill>
              </a:rPr>
              <a:t>1</a:t>
            </a:r>
          </a:p>
          <a:p>
            <a:pPr algn="ctr"/>
            <a:r>
              <a:rPr sz="1050" b="1">
                <a:solidFill>
                  <a:srgbClr val="0F2A43"/>
                </a:solidFill>
              </a:rPr>
              <a:t>Mevzuat gir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2178000" y="5292000"/>
            <a:ext cx="179999" cy="288000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2394000" y="4896000"/>
            <a:ext cx="1655999" cy="108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C9A227"/>
                </a:solidFill>
              </a:rPr>
              <a:t>2</a:t>
            </a:r>
          </a:p>
          <a:p>
            <a:pPr algn="ctr"/>
            <a:r>
              <a:rPr sz="1050" b="1">
                <a:solidFill>
                  <a:srgbClr val="0F2A43"/>
                </a:solidFill>
              </a:rPr>
              <a:t>Hüküm çıkar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4086000" y="5292000"/>
            <a:ext cx="179999" cy="288000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4302000" y="4896000"/>
            <a:ext cx="1655999" cy="108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C9A227"/>
                </a:solidFill>
              </a:rPr>
              <a:t>3</a:t>
            </a:r>
          </a:p>
          <a:p>
            <a:pPr algn="ctr"/>
            <a:r>
              <a:rPr sz="1050" b="1">
                <a:solidFill>
                  <a:srgbClr val="0F2A43"/>
                </a:solidFill>
              </a:rPr>
              <a:t>Repo?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5994000" y="5292000"/>
            <a:ext cx="179999" cy="288000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210000" y="4896000"/>
            <a:ext cx="1655999" cy="108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C9A227"/>
                </a:solidFill>
              </a:rPr>
              <a:t>4</a:t>
            </a:r>
          </a:p>
          <a:p>
            <a:pPr algn="ctr"/>
            <a:r>
              <a:rPr sz="1050" b="1">
                <a:solidFill>
                  <a:srgbClr val="0F2A43"/>
                </a:solidFill>
              </a:rPr>
              <a:t>Kod denetimi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7902000" y="5292000"/>
            <a:ext cx="179999" cy="288000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118000" y="4896000"/>
            <a:ext cx="1655999" cy="108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C9A227"/>
                </a:solidFill>
              </a:rPr>
              <a:t>5</a:t>
            </a:r>
          </a:p>
          <a:p>
            <a:pPr algn="ctr"/>
            <a:r>
              <a:rPr sz="1050" b="1">
                <a:solidFill>
                  <a:srgbClr val="0F2A43"/>
                </a:solidFill>
              </a:rPr>
              <a:t>Negatif test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9810000" y="5292000"/>
            <a:ext cx="179999" cy="288000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10026000" y="4896000"/>
            <a:ext cx="1655999" cy="108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C9A227"/>
                </a:solidFill>
              </a:rPr>
              <a:t>6</a:t>
            </a:r>
          </a:p>
          <a:p>
            <a:pPr algn="ctr"/>
            <a:r>
              <a:rPr sz="1050" b="1">
                <a:solidFill>
                  <a:srgbClr val="0F2A43"/>
                </a:solidFill>
              </a:rPr>
              <a:t>Rapor</a:t>
            </a:r>
          </a:p>
        </p:txBody>
      </p:sp>
      <p:pic>
        <p:nvPicPr>
          <p:cNvPr id="28" name="Picture 27" descr="softtech-logo-light-backgrou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85248" y="6382512"/>
            <a:ext cx="960120" cy="41675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A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389162840000" cy="311040000000"/>
          </a:xfrm>
          <a:prstGeom prst="rect">
            <a:avLst/>
          </a:prstGeom>
          <a:solidFill>
            <a:srgbClr val="1D4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11040000000"/>
            <a:ext cx="4389162840000" cy="12960000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4000" y="125999"/>
            <a:ext cx="8280000" cy="61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2500" b="1" i="0">
                <a:solidFill>
                  <a:srgbClr val="FFFFFF"/>
                </a:solidFill>
                <a:latin typeface="Segoe UI"/>
              </a:rPr>
              <a:t>4 — İş-Kod-Çözüm Analizi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4000" y="576000"/>
            <a:ext cx="90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 i="1">
                <a:solidFill>
                  <a:srgbClr val="B8CEE0"/>
                </a:solidFill>
                <a:latin typeface="Segoe UI"/>
              </a:rPr>
              <a:t>Olay/Jira/log kaydından kök nedene ve çözüm önerisine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119" y="558000"/>
            <a:ext cx="684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500"/>
              </a:spcAft>
            </a:pPr>
            <a:r>
              <a:rPr sz="1050" b="1" i="0">
                <a:solidFill>
                  <a:srgbClr val="173A59"/>
                </a:solidFill>
                <a:latin typeface="Segoe UI"/>
              </a:rPr>
              <a:t>9 / 19</a:t>
            </a:r>
          </a:p>
        </p:txBody>
      </p:sp>
      <p:pic>
        <p:nvPicPr>
          <p:cNvPr id="7" name="Picture 6" descr="logo_tem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0119" y="180000"/>
            <a:ext cx="1332000" cy="398442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360000" y="1260000"/>
            <a:ext cx="5508000" cy="331199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0000" y="1260000"/>
            <a:ext cx="5508000" cy="28512000000"/>
          </a:xfrm>
          <a:prstGeom prst="rect">
            <a:avLst/>
          </a:prstGeom>
          <a:solidFill>
            <a:srgbClr val="1E84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8000" y="1396800"/>
            <a:ext cx="5292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0F2A43"/>
                </a:solidFill>
                <a:latin typeface="Segoe UI"/>
              </a:rPr>
              <a:t>İnceleme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8000" y="1728000"/>
            <a:ext cx="5292000" cy="27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İstek: olay kaydı, Jira kaydı, log çıktısı veya iş dokümanı + repo.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Ajan 'hangi kaydı işleyelim?' diye sorar; onayınızla seçer.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Log'tan hata kodu tablosu çıkarır: hangi kod kaç kere, hangi zaman aralığında.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Kodda aynı hata noktalarını arar; olay zamanlarını akışla eşler.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Varsa veritabanı prosedür tanımları da incelenir (bağlantı yok — yalnız tanım metni).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999" y="1260000"/>
            <a:ext cx="5544000" cy="331199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63999" y="1260000"/>
            <a:ext cx="5544000" cy="28512000000"/>
          </a:xfrm>
          <a:prstGeom prst="rect">
            <a:avLst/>
          </a:prstGeom>
          <a:solidFill>
            <a:srgbClr val="1E84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72000" y="1396800"/>
            <a:ext cx="5328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0F2A43"/>
                </a:solidFill>
                <a:latin typeface="Segoe UI"/>
              </a:rPr>
              <a:t>Çözüm ve sınır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72000" y="1728000"/>
            <a:ext cx="5328000" cy="27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Kök neden analizi: birincil neden ve katkılar, kanıtla ayrılır.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Çözüm önerisi kod farkı biçiminde: neyin nereden kaldırılıp/ekleneceği.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Test önerisi: değişikliği doğrulayacak senaryolar.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ÖNEMLİ SINIR: ajan kodu değiştirmez — öneriyi üretir, onayınız olmadan uygulamaz.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Yalnız log verdiyseniz: desen + muhtemel bileşen verilir; 'kod doğrulaması gerekli' notu düşülür.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Her çıkarım kanıt taşır: hangi log satırı, hangi kod satırı, hangi doküman bölümü.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0000" y="4608000"/>
            <a:ext cx="432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C9A227"/>
                </a:solidFill>
                <a:latin typeface="Segoe UI"/>
              </a:rPr>
              <a:t>AKIŞ ÖZETİ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86000" y="4896000"/>
            <a:ext cx="1655999" cy="108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C9A227"/>
                </a:solidFill>
              </a:rPr>
              <a:t>1</a:t>
            </a:r>
          </a:p>
          <a:p>
            <a:pPr algn="ctr"/>
            <a:r>
              <a:rPr sz="1050" b="1">
                <a:solidFill>
                  <a:srgbClr val="0F2A43"/>
                </a:solidFill>
              </a:rPr>
              <a:t>Kayıt seç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2178000" y="5292000"/>
            <a:ext cx="179999" cy="288000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2394000" y="4896000"/>
            <a:ext cx="1655999" cy="108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C9A227"/>
                </a:solidFill>
              </a:rPr>
              <a:t>2</a:t>
            </a:r>
          </a:p>
          <a:p>
            <a:pPr algn="ctr"/>
            <a:r>
              <a:rPr sz="1050" b="1">
                <a:solidFill>
                  <a:srgbClr val="0F2A43"/>
                </a:solidFill>
              </a:rPr>
              <a:t>Repo?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4086000" y="5292000"/>
            <a:ext cx="179999" cy="288000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4302000" y="4896000"/>
            <a:ext cx="1655999" cy="108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C9A227"/>
                </a:solidFill>
              </a:rPr>
              <a:t>3</a:t>
            </a:r>
          </a:p>
          <a:p>
            <a:pPr algn="ctr"/>
            <a:r>
              <a:rPr sz="1050" b="1">
                <a:solidFill>
                  <a:srgbClr val="0F2A43"/>
                </a:solidFill>
              </a:rPr>
              <a:t>Hata tablosu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5994000" y="5292000"/>
            <a:ext cx="179999" cy="288000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210000" y="4896000"/>
            <a:ext cx="1655999" cy="108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C9A227"/>
                </a:solidFill>
              </a:rPr>
              <a:t>4</a:t>
            </a:r>
          </a:p>
          <a:p>
            <a:pPr algn="ctr"/>
            <a:r>
              <a:rPr sz="1050" b="1">
                <a:solidFill>
                  <a:srgbClr val="0F2A43"/>
                </a:solidFill>
              </a:rPr>
              <a:t>Kod incelemesi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7902000" y="5292000"/>
            <a:ext cx="179999" cy="288000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118000" y="4896000"/>
            <a:ext cx="1655999" cy="108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C9A227"/>
                </a:solidFill>
              </a:rPr>
              <a:t>5</a:t>
            </a:r>
          </a:p>
          <a:p>
            <a:pPr algn="ctr"/>
            <a:r>
              <a:rPr sz="1050" b="1">
                <a:solidFill>
                  <a:srgbClr val="0F2A43"/>
                </a:solidFill>
              </a:rPr>
              <a:t>Kök neden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9810000" y="5292000"/>
            <a:ext cx="179999" cy="288000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10026000" y="4896000"/>
            <a:ext cx="1655999" cy="108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C9A227"/>
                </a:solidFill>
              </a:rPr>
              <a:t>6</a:t>
            </a:r>
          </a:p>
          <a:p>
            <a:pPr algn="ctr"/>
            <a:r>
              <a:rPr sz="1050" b="1">
                <a:solidFill>
                  <a:srgbClr val="0F2A43"/>
                </a:solidFill>
              </a:rPr>
              <a:t>Rapor</a:t>
            </a:r>
          </a:p>
        </p:txBody>
      </p:sp>
      <p:pic>
        <p:nvPicPr>
          <p:cNvPr id="28" name="Picture 27" descr="softtech-logo-light-backgrou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85248" y="6382512"/>
            <a:ext cx="960120" cy="416755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A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389162840000" cy="311040000000"/>
          </a:xfrm>
          <a:prstGeom prst="rect">
            <a:avLst/>
          </a:prstGeom>
          <a:solidFill>
            <a:srgbClr val="1D4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11040000000"/>
            <a:ext cx="4389162840000" cy="12960000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4000" y="125999"/>
            <a:ext cx="8280000" cy="61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2500" b="1" i="0">
                <a:solidFill>
                  <a:srgbClr val="FFFFFF"/>
                </a:solidFill>
                <a:latin typeface="Segoe UI"/>
              </a:rPr>
              <a:t>Süreç Diyagramı — Onay Duraklı Ana 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4000" y="576000"/>
            <a:ext cx="90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 i="1">
                <a:solidFill>
                  <a:srgbClr val="B8CEE0"/>
                </a:solidFill>
                <a:latin typeface="Segoe UI"/>
              </a:rPr>
              <a:t>Her elma bir onay durağıdır; cevap gelmeden akış ilerlemez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119" y="558000"/>
            <a:ext cx="684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500"/>
              </a:spcAft>
            </a:pPr>
            <a:r>
              <a:rPr sz="1050" b="1" i="0">
                <a:solidFill>
                  <a:srgbClr val="173A59"/>
                </a:solidFill>
                <a:latin typeface="Segoe UI"/>
              </a:rPr>
              <a:t>10 / 19</a:t>
            </a:r>
          </a:p>
        </p:txBody>
      </p:sp>
      <p:pic>
        <p:nvPicPr>
          <p:cNvPr id="7" name="Picture 6" descr="logo_tem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0119" y="180000"/>
            <a:ext cx="1332000" cy="398442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360000" y="1440000"/>
            <a:ext cx="1872000" cy="792000"/>
          </a:xfrm>
          <a:prstGeom prst="roundRect">
            <a:avLst/>
          </a:prstGeom>
          <a:solidFill>
            <a:srgbClr val="0F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96000" y="1565999"/>
            <a:ext cx="180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"/>
              </a:spcAft>
            </a:pPr>
            <a:r>
              <a:rPr sz="1150" b="1">
                <a:solidFill>
                  <a:srgbClr val="FFFFFF"/>
                </a:solidFill>
              </a:rPr>
              <a:t>Talep</a:t>
            </a:r>
          </a:p>
          <a:p>
            <a:pPr algn="ctr">
              <a:spcAft>
                <a:spcPts val="100"/>
              </a:spcAft>
            </a:pPr>
            <a:r>
              <a:rPr sz="850" b="0">
                <a:solidFill>
                  <a:srgbClr val="DDE8F0"/>
                </a:solidFill>
              </a:rPr>
              <a:t>doğal dil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268000" y="1728000"/>
            <a:ext cx="324000" cy="288000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628000" y="1440000"/>
            <a:ext cx="1872000" cy="792000"/>
          </a:xfrm>
          <a:prstGeom prst="roundRect">
            <a:avLst/>
          </a:prstGeom>
          <a:solidFill>
            <a:srgbClr val="1D4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664000" y="1565999"/>
            <a:ext cx="180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"/>
              </a:spcAft>
            </a:pPr>
            <a:r>
              <a:rPr sz="1150" b="1">
                <a:solidFill>
                  <a:srgbClr val="FFFFFF"/>
                </a:solidFill>
              </a:rPr>
              <a:t>Seçim</a:t>
            </a:r>
          </a:p>
          <a:p>
            <a:pPr algn="ctr">
              <a:spcAft>
                <a:spcPts val="100"/>
              </a:spcAft>
            </a:pPr>
            <a:r>
              <a:rPr sz="850" b="0">
                <a:solidFill>
                  <a:srgbClr val="DDE8F0"/>
                </a:solidFill>
              </a:rPr>
              <a:t>repo / doküman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536000" y="1728000"/>
            <a:ext cx="324000" cy="288000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iamond 13"/>
          <p:cNvSpPr/>
          <p:nvPr/>
        </p:nvSpPr>
        <p:spPr>
          <a:xfrm>
            <a:off x="4896000" y="1224000"/>
            <a:ext cx="1800000" cy="1224000"/>
          </a:xfrm>
          <a:prstGeom prst="diamond">
            <a:avLst/>
          </a:prstGeom>
          <a:solidFill>
            <a:srgbClr val="B7791F"/>
          </a:solidFill>
          <a:ln w="12700">
            <a:solidFill>
              <a:srgbClr val="8A5E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50" b="1">
                <a:solidFill>
                  <a:srgbClr val="2F1E00"/>
                </a:solidFill>
              </a:rPr>
              <a:t>Onayınız?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6732000" y="1728000"/>
            <a:ext cx="324000" cy="288000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092000" y="1440000"/>
            <a:ext cx="1872000" cy="792000"/>
          </a:xfrm>
          <a:prstGeom prst="roundRect">
            <a:avLst/>
          </a:prstGeom>
          <a:solidFill>
            <a:srgbClr val="5D6D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128000" y="1565999"/>
            <a:ext cx="180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"/>
              </a:spcAft>
            </a:pPr>
            <a:r>
              <a:rPr sz="1150" b="1">
                <a:solidFill>
                  <a:srgbClr val="FFFFFF"/>
                </a:solidFill>
              </a:rPr>
              <a:t>Çalışma Kopyası</a:t>
            </a:r>
          </a:p>
          <a:p>
            <a:pPr algn="ctr">
              <a:spcAft>
                <a:spcPts val="100"/>
              </a:spcAft>
            </a:pPr>
            <a:r>
              <a:rPr sz="850" b="0">
                <a:solidFill>
                  <a:srgbClr val="DDE8F0"/>
                </a:solidFill>
              </a:rPr>
              <a:t>TEMP klasörüne</a:t>
            </a:r>
          </a:p>
        </p:txBody>
      </p:sp>
      <p:sp>
        <p:nvSpPr>
          <p:cNvPr id="18" name="Diamond 17"/>
          <p:cNvSpPr/>
          <p:nvPr/>
        </p:nvSpPr>
        <p:spPr>
          <a:xfrm>
            <a:off x="9324000" y="1224000"/>
            <a:ext cx="1800000" cy="1224000"/>
          </a:xfrm>
          <a:prstGeom prst="diamond">
            <a:avLst/>
          </a:prstGeom>
          <a:solidFill>
            <a:srgbClr val="B7791F"/>
          </a:solidFill>
          <a:ln w="12700">
            <a:solidFill>
              <a:srgbClr val="8A5E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50" b="1">
                <a:solidFill>
                  <a:srgbClr val="2F1E00"/>
                </a:solidFill>
              </a:rPr>
              <a:t>Temiz mi?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324000" y="2736000"/>
            <a:ext cx="1800000" cy="576000"/>
          </a:xfrm>
          <a:prstGeom prst="round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60000" y="2771999"/>
            <a:ext cx="1728000" cy="50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"/>
              </a:spcAft>
            </a:pPr>
            <a:r>
              <a:rPr sz="1150" b="1">
                <a:solidFill>
                  <a:srgbClr val="FFFFFF"/>
                </a:solidFill>
              </a:rPr>
              <a:t>Temiz değilse → DUR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0000" y="3456000"/>
            <a:ext cx="1872000" cy="792000"/>
          </a:xfrm>
          <a:prstGeom prst="roundRect">
            <a:avLst/>
          </a:prstGeom>
          <a:solidFill>
            <a:srgbClr val="1D4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96000" y="3581999"/>
            <a:ext cx="180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"/>
              </a:spcAft>
            </a:pPr>
            <a:r>
              <a:rPr sz="1150" b="1">
                <a:solidFill>
                  <a:srgbClr val="FFFFFF"/>
                </a:solidFill>
              </a:rPr>
              <a:t>Tahmin</a:t>
            </a:r>
          </a:p>
          <a:p>
            <a:pPr algn="ctr">
              <a:spcAft>
                <a:spcPts val="100"/>
              </a:spcAft>
            </a:pPr>
            <a:r>
              <a:rPr sz="850" b="0">
                <a:solidFill>
                  <a:srgbClr val="DDE8F0"/>
                </a:solidFill>
              </a:rPr>
              <a:t>dosya / satır / süre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2268000" y="3744000"/>
            <a:ext cx="324000" cy="288000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Diamond 23"/>
          <p:cNvSpPr/>
          <p:nvPr/>
        </p:nvSpPr>
        <p:spPr>
          <a:xfrm>
            <a:off x="2628000" y="3240000"/>
            <a:ext cx="1800000" cy="1224000"/>
          </a:xfrm>
          <a:prstGeom prst="diamond">
            <a:avLst/>
          </a:prstGeom>
          <a:solidFill>
            <a:srgbClr val="B7791F"/>
          </a:solidFill>
          <a:ln w="12700">
            <a:solidFill>
              <a:srgbClr val="8A5E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50" b="1">
                <a:solidFill>
                  <a:srgbClr val="2F1E00"/>
                </a:solidFill>
              </a:rPr>
              <a:t>Kapsam OK?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4464000" y="3744000"/>
            <a:ext cx="324000" cy="288000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4824000" y="3456000"/>
            <a:ext cx="1872000" cy="792000"/>
          </a:xfrm>
          <a:prstGeom prst="round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860000" y="3581999"/>
            <a:ext cx="180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"/>
              </a:spcAft>
            </a:pPr>
            <a:r>
              <a:rPr sz="1150" b="1">
                <a:solidFill>
                  <a:srgbClr val="FFFFFF"/>
                </a:solidFill>
              </a:rPr>
              <a:t>Tarama</a:t>
            </a:r>
          </a:p>
          <a:p>
            <a:pPr algn="ctr">
              <a:spcAft>
                <a:spcPts val="100"/>
              </a:spcAft>
            </a:pPr>
            <a:r>
              <a:rPr sz="850" b="0">
                <a:solidFill>
                  <a:srgbClr val="DDE8F0"/>
                </a:solidFill>
              </a:rPr>
              <a:t>otomatik + doğrulama</a:t>
            </a:r>
          </a:p>
        </p:txBody>
      </p:sp>
      <p:sp>
        <p:nvSpPr>
          <p:cNvPr id="28" name="Right Arrow 27"/>
          <p:cNvSpPr/>
          <p:nvPr/>
        </p:nvSpPr>
        <p:spPr>
          <a:xfrm>
            <a:off x="6732000" y="3744000"/>
            <a:ext cx="324000" cy="288000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7092000" y="3456000"/>
            <a:ext cx="1872000" cy="792000"/>
          </a:xfrm>
          <a:prstGeom prst="roundRect">
            <a:avLst/>
          </a:prstGeom>
          <a:solidFill>
            <a:srgbClr val="0F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128000" y="3581999"/>
            <a:ext cx="180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"/>
              </a:spcAft>
            </a:pPr>
            <a:r>
              <a:rPr sz="1150" b="1">
                <a:solidFill>
                  <a:srgbClr val="FFFFFF"/>
                </a:solidFill>
              </a:rPr>
              <a:t>Sunum</a:t>
            </a:r>
          </a:p>
          <a:p>
            <a:pPr algn="ctr">
              <a:spcAft>
                <a:spcPts val="100"/>
              </a:spcAft>
            </a:pPr>
            <a:r>
              <a:rPr sz="850" b="0">
                <a:solidFill>
                  <a:srgbClr val="DDE8F0"/>
                </a:solidFill>
              </a:rPr>
              <a:t>bulgular / maddeler</a:t>
            </a:r>
          </a:p>
        </p:txBody>
      </p:sp>
      <p:sp>
        <p:nvSpPr>
          <p:cNvPr id="31" name="Diamond 30"/>
          <p:cNvSpPr/>
          <p:nvPr/>
        </p:nvSpPr>
        <p:spPr>
          <a:xfrm>
            <a:off x="9324000" y="3240000"/>
            <a:ext cx="1800000" cy="1224000"/>
          </a:xfrm>
          <a:prstGeom prst="diamond">
            <a:avLst/>
          </a:prstGeom>
          <a:solidFill>
            <a:srgbClr val="B7791F"/>
          </a:solidFill>
          <a:ln w="12700">
            <a:solidFill>
              <a:srgbClr val="8A5E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50" b="1">
                <a:solidFill>
                  <a:srgbClr val="2F1E00"/>
                </a:solidFill>
              </a:rPr>
              <a:t>Onayınız?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628000" y="5256000"/>
            <a:ext cx="1872000" cy="792000"/>
          </a:xfrm>
          <a:prstGeom prst="roundRect">
            <a:avLst/>
          </a:prstGeom>
          <a:solidFill>
            <a:srgbClr val="1D4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664000" y="5382000"/>
            <a:ext cx="180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"/>
              </a:spcAft>
            </a:pPr>
            <a:r>
              <a:rPr sz="1150" b="1">
                <a:solidFill>
                  <a:srgbClr val="FFFFFF"/>
                </a:solidFill>
              </a:rPr>
              <a:t>Rapor</a:t>
            </a:r>
          </a:p>
          <a:p>
            <a:pPr algn="ctr">
              <a:spcAft>
                <a:spcPts val="100"/>
              </a:spcAft>
            </a:pPr>
            <a:r>
              <a:rPr sz="850" b="0">
                <a:solidFill>
                  <a:srgbClr val="DDE8F0"/>
                </a:solidFill>
              </a:rPr>
              <a:t>bilgi + HTML</a:t>
            </a:r>
          </a:p>
        </p:txBody>
      </p:sp>
      <p:sp>
        <p:nvSpPr>
          <p:cNvPr id="34" name="Right Arrow 33"/>
          <p:cNvSpPr/>
          <p:nvPr/>
        </p:nvSpPr>
        <p:spPr>
          <a:xfrm>
            <a:off x="4536000" y="5544000"/>
            <a:ext cx="324000" cy="288000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4824000" y="5256000"/>
            <a:ext cx="1872000" cy="792000"/>
          </a:xfrm>
          <a:prstGeom prst="round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860000" y="5382000"/>
            <a:ext cx="180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"/>
              </a:spcAft>
            </a:pPr>
            <a:r>
              <a:rPr sz="1150" b="1">
                <a:solidFill>
                  <a:srgbClr val="FFFFFF"/>
                </a:solidFill>
              </a:rPr>
              <a:t>Maske</a:t>
            </a:r>
          </a:p>
          <a:p>
            <a:pPr algn="ctr">
              <a:spcAft>
                <a:spcPts val="100"/>
              </a:spcAft>
            </a:pPr>
            <a:r>
              <a:rPr sz="850" b="0">
                <a:solidFill>
                  <a:srgbClr val="DDE8F0"/>
                </a:solidFill>
              </a:rPr>
              <a:t>hassas veri gizlenir</a:t>
            </a:r>
          </a:p>
        </p:txBody>
      </p:sp>
      <p:sp>
        <p:nvSpPr>
          <p:cNvPr id="37" name="Right Arrow 36"/>
          <p:cNvSpPr/>
          <p:nvPr/>
        </p:nvSpPr>
        <p:spPr>
          <a:xfrm>
            <a:off x="6732000" y="5544000"/>
            <a:ext cx="324000" cy="288000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7092000" y="5256000"/>
            <a:ext cx="1872000" cy="792000"/>
          </a:xfrm>
          <a:prstGeom prst="roundRect">
            <a:avLst/>
          </a:prstGeom>
          <a:solidFill>
            <a:srgbClr val="1E84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128000" y="5382000"/>
            <a:ext cx="180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"/>
              </a:spcAft>
            </a:pPr>
            <a:r>
              <a:rPr sz="1150" b="1">
                <a:solidFill>
                  <a:srgbClr val="FFFFFF"/>
                </a:solidFill>
              </a:rPr>
              <a:t>Seçenekler</a:t>
            </a:r>
          </a:p>
          <a:p>
            <a:pPr algn="ctr">
              <a:spcAft>
                <a:spcPts val="100"/>
              </a:spcAft>
            </a:pPr>
            <a:r>
              <a:rPr sz="850" b="0">
                <a:solidFill>
                  <a:srgbClr val="DDE8F0"/>
                </a:solidFill>
              </a:rPr>
              <a:t>düzelt / devam / bitir</a:t>
            </a:r>
          </a:p>
        </p:txBody>
      </p:sp>
      <p:sp>
        <p:nvSpPr>
          <p:cNvPr id="40" name="Diamond 39"/>
          <p:cNvSpPr/>
          <p:nvPr/>
        </p:nvSpPr>
        <p:spPr>
          <a:xfrm>
            <a:off x="9324000" y="5040000"/>
            <a:ext cx="1800000" cy="1224000"/>
          </a:xfrm>
          <a:prstGeom prst="diamond">
            <a:avLst/>
          </a:prstGeom>
          <a:solidFill>
            <a:srgbClr val="B7791F"/>
          </a:solidFill>
          <a:ln w="12700">
            <a:solidFill>
              <a:srgbClr val="8A5E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50" b="1">
                <a:solidFill>
                  <a:srgbClr val="2F1E00"/>
                </a:solidFill>
              </a:rPr>
              <a:t>Kararınız?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5796000" y="2448000"/>
            <a:ext cx="0" cy="288000"/>
          </a:xfrm>
          <a:prstGeom prst="line">
            <a:avLst/>
          </a:prstGeom>
          <a:ln w="19050">
            <a:solidFill>
              <a:srgbClr val="5D6D7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H="1">
            <a:off x="1296000" y="2736000"/>
            <a:ext cx="4500000" cy="0"/>
          </a:xfrm>
          <a:prstGeom prst="line">
            <a:avLst/>
          </a:prstGeom>
          <a:ln w="19050">
            <a:solidFill>
              <a:srgbClr val="5D6D7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1296000" y="2736000"/>
            <a:ext cx="0" cy="720000"/>
          </a:xfrm>
          <a:prstGeom prst="line">
            <a:avLst/>
          </a:prstGeom>
          <a:ln w="19050">
            <a:solidFill>
              <a:srgbClr val="5D6D7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10224000" y="2448000"/>
            <a:ext cx="0" cy="288000"/>
          </a:xfrm>
          <a:prstGeom prst="line">
            <a:avLst/>
          </a:prstGeom>
          <a:ln w="19050">
            <a:solidFill>
              <a:srgbClr val="C039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10224000" y="3240000"/>
            <a:ext cx="0" cy="0"/>
          </a:xfrm>
          <a:prstGeom prst="line">
            <a:avLst/>
          </a:prstGeom>
          <a:ln w="19050">
            <a:solidFill>
              <a:srgbClr val="5D6D7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5796000" y="4248000"/>
            <a:ext cx="0" cy="288000"/>
          </a:xfrm>
          <a:prstGeom prst="line">
            <a:avLst/>
          </a:prstGeom>
          <a:ln w="19050">
            <a:solidFill>
              <a:srgbClr val="5D6D7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H="1">
            <a:off x="1296000" y="4536000"/>
            <a:ext cx="4500000" cy="0"/>
          </a:xfrm>
          <a:prstGeom prst="line">
            <a:avLst/>
          </a:prstGeom>
          <a:ln w="19050">
            <a:solidFill>
              <a:srgbClr val="5D6D7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1296000" y="4536000"/>
            <a:ext cx="0" cy="720000"/>
          </a:xfrm>
          <a:prstGeom prst="line">
            <a:avLst/>
          </a:prstGeom>
          <a:ln w="19050">
            <a:solidFill>
              <a:srgbClr val="5D6D7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10224000" y="4464000"/>
            <a:ext cx="0" cy="288000"/>
          </a:xfrm>
          <a:prstGeom prst="line">
            <a:avLst/>
          </a:prstGeom>
          <a:ln w="19050">
            <a:solidFill>
              <a:srgbClr val="5D6D7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H="1">
            <a:off x="3564000" y="4752000"/>
            <a:ext cx="6660000" cy="0"/>
          </a:xfrm>
          <a:prstGeom prst="line">
            <a:avLst/>
          </a:prstGeom>
          <a:ln w="19050">
            <a:solidFill>
              <a:srgbClr val="5D6D7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3564000" y="4752000"/>
            <a:ext cx="0" cy="504000"/>
          </a:xfrm>
          <a:prstGeom prst="line">
            <a:avLst/>
          </a:prstGeom>
          <a:ln w="19050">
            <a:solidFill>
              <a:srgbClr val="5D6D7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360000" y="6192000"/>
            <a:ext cx="1144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500"/>
              </a:spcAft>
            </a:pPr>
            <a:r>
              <a:rPr sz="1000" b="0" i="1">
                <a:solidFill>
                  <a:srgbClr val="9FB6C9"/>
                </a:solidFill>
                <a:latin typeface="Segoe UI"/>
              </a:rPr>
              <a:t>Her hat cevap beklemez: onay 'hayır' ise akış o durakta sonlanır veya kapsam daraltma döngüsüne döner.</a:t>
            </a:r>
          </a:p>
        </p:txBody>
      </p:sp>
      <p:pic>
        <p:nvPicPr>
          <p:cNvPr id="53" name="Picture 52" descr="softtech-logo-light-backgrou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85248" y="6382512"/>
            <a:ext cx="960120" cy="41675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A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389162840000" cy="311040000000"/>
          </a:xfrm>
          <a:prstGeom prst="rect">
            <a:avLst/>
          </a:prstGeom>
          <a:solidFill>
            <a:srgbClr val="1D4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11040000000"/>
            <a:ext cx="4389162840000" cy="12960000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4000" y="125999"/>
            <a:ext cx="8280000" cy="61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2500" b="1" i="0">
                <a:solidFill>
                  <a:srgbClr val="FFFFFF"/>
                </a:solidFill>
                <a:latin typeface="Segoe UI"/>
              </a:rPr>
              <a:t>Bulgu Düzeltme — Sizin Seçiminiz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4000" y="576000"/>
            <a:ext cx="90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 i="1">
                <a:solidFill>
                  <a:srgbClr val="B8CEE0"/>
                </a:solidFill>
                <a:latin typeface="Segoe UI"/>
              </a:rPr>
              <a:t>Rapor bulgularından yola çıkar; tamamen onayınızla yürür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119" y="558000"/>
            <a:ext cx="684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500"/>
              </a:spcAft>
            </a:pPr>
            <a:r>
              <a:rPr sz="1050" b="1" i="0">
                <a:solidFill>
                  <a:srgbClr val="173A59"/>
                </a:solidFill>
                <a:latin typeface="Segoe UI"/>
              </a:rPr>
              <a:t>11 / 19</a:t>
            </a:r>
          </a:p>
        </p:txBody>
      </p:sp>
      <p:pic>
        <p:nvPicPr>
          <p:cNvPr id="7" name="Picture 6" descr="logo_tem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0119" y="180000"/>
            <a:ext cx="1332000" cy="398442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360000" y="1404000"/>
            <a:ext cx="5508000" cy="367199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0000" y="1404000"/>
            <a:ext cx="5508000" cy="28512000000"/>
          </a:xfrm>
          <a:prstGeom prst="rect">
            <a:avLst/>
          </a:prstGeom>
          <a:solidFill>
            <a:srgbClr val="1E84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8000" y="1540800"/>
            <a:ext cx="5292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0F2A43"/>
                </a:solidFill>
                <a:latin typeface="Segoe UI"/>
              </a:rPr>
              <a:t>Nasıl işler?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8000" y="1872000"/>
            <a:ext cx="5292000" cy="311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1) Raporu verirsiniz — az önce üretilmiş olsun ya da haftalar önce kaydedilmiş olsun; fark etmez, kaynak rapor dosyasıdır.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2) Ajan kanıtlı bulguları sıralar; 'kaç tanesini düzeltelim?' diye sorar (önerilen: en kritik 5).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3) Her bulgu için bugünkü kod okunur, düzeltme tasarlanır, fark raporu hazırlanır: öncesi/sonrası ve satır farkı.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4) Fark raporunu görürsünüz; 'Pull Request açmayı onaylıyor musunuz?' sorusuna 'evet' demeden hiçbir kod alanına yazılmaz.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999" y="1404000"/>
            <a:ext cx="5544000" cy="367199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63999" y="1404000"/>
            <a:ext cx="5544000" cy="28512000000"/>
          </a:xfrm>
          <a:prstGeom prst="rect">
            <a:avLst/>
          </a:prstGeom>
          <a:solidFill>
            <a:srgbClr val="1E84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72000" y="1540800"/>
            <a:ext cx="5328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0F2A43"/>
                </a:solidFill>
                <a:latin typeface="Segoe UI"/>
              </a:rPr>
              <a:t>Onay sonrası ve güvenceler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72000" y="1872000"/>
            <a:ext cx="5328000" cy="311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Onayla: düzeltmeler ayrı bir düzeltme dalına uygulanır → kayıt → gönderim → Pull Request; adresi size bildirilir.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Onaysız: ajan yalnız prova yapar — koda dokunulmaz.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'Aynı bulgulara ikinci PR' engellenir: açılan her PR kayda geçer.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Sınırlar: ana dala doğrudan yazma yok, zorla-gönderim yok, birleştirme yok.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Kanıtı olmayan bulgulara düzeltme üretilmez — 'elle düzeltme' listesine geçer.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Mekanik güvence: kod yazma onayı betik içinde zorunludur — ajanın sözü değil, aracın kuralı.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0000" y="5256000"/>
            <a:ext cx="432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C9A227"/>
                </a:solidFill>
                <a:latin typeface="Segoe UI"/>
              </a:rPr>
              <a:t>AKIŞ ÖZETİ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440000" y="5544000"/>
            <a:ext cx="1655999" cy="108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C9A227"/>
                </a:solidFill>
              </a:rPr>
              <a:t>1</a:t>
            </a:r>
          </a:p>
          <a:p>
            <a:pPr algn="ctr"/>
            <a:r>
              <a:rPr sz="1050" b="1">
                <a:solidFill>
                  <a:srgbClr val="0F2A43"/>
                </a:solidFill>
              </a:rPr>
              <a:t>Rapor seç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3131999" y="5940000"/>
            <a:ext cx="179999" cy="288000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3348000" y="5544000"/>
            <a:ext cx="1655999" cy="108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C9A227"/>
                </a:solidFill>
              </a:rPr>
              <a:t>2</a:t>
            </a:r>
          </a:p>
          <a:p>
            <a:pPr algn="ctr"/>
            <a:r>
              <a:rPr sz="1050" b="1">
                <a:solidFill>
                  <a:srgbClr val="0F2A43"/>
                </a:solidFill>
              </a:rPr>
              <a:t>Bulgu sayısı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5040000" y="5940000"/>
            <a:ext cx="179999" cy="288000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256000" y="5544000"/>
            <a:ext cx="1655999" cy="108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C9A227"/>
                </a:solidFill>
              </a:rPr>
              <a:t>3</a:t>
            </a:r>
          </a:p>
          <a:p>
            <a:pPr algn="ctr"/>
            <a:r>
              <a:rPr sz="1050" b="1">
                <a:solidFill>
                  <a:srgbClr val="0F2A43"/>
                </a:solidFill>
              </a:rPr>
              <a:t>Fark raporu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6948000" y="5940000"/>
            <a:ext cx="179999" cy="288000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164000" y="5544000"/>
            <a:ext cx="1655999" cy="108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C9A227"/>
                </a:solidFill>
              </a:rPr>
              <a:t>4</a:t>
            </a:r>
          </a:p>
          <a:p>
            <a:pPr algn="ctr"/>
            <a:r>
              <a:rPr sz="1050" b="1">
                <a:solidFill>
                  <a:srgbClr val="0F2A43"/>
                </a:solidFill>
              </a:rPr>
              <a:t>PR onayı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8856000" y="5940000"/>
            <a:ext cx="179999" cy="288000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9072000" y="5544000"/>
            <a:ext cx="1655999" cy="108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C9A227"/>
                </a:solidFill>
              </a:rPr>
              <a:t>5</a:t>
            </a:r>
          </a:p>
          <a:p>
            <a:pPr algn="ctr"/>
            <a:r>
              <a:rPr sz="1050" b="1">
                <a:solidFill>
                  <a:srgbClr val="0F2A43"/>
                </a:solidFill>
              </a:rPr>
              <a:t>Uygula + PR</a:t>
            </a:r>
          </a:p>
        </p:txBody>
      </p:sp>
      <p:pic>
        <p:nvPicPr>
          <p:cNvPr id="26" name="Picture 25" descr="softtech-logo-light-backgrou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85248" y="6382512"/>
            <a:ext cx="960120" cy="416755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A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389162840000" cy="311040000000"/>
          </a:xfrm>
          <a:prstGeom prst="rect">
            <a:avLst/>
          </a:prstGeom>
          <a:solidFill>
            <a:srgbClr val="1D4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11040000000"/>
            <a:ext cx="4389162840000" cy="12960000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4000" y="125999"/>
            <a:ext cx="8280000" cy="61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2500" b="1" i="0">
                <a:solidFill>
                  <a:srgbClr val="FFFFFF"/>
                </a:solidFill>
                <a:latin typeface="Segoe UI"/>
              </a:rPr>
              <a:t>Her Analizin Sonunda: Seçenekleriniz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4000" y="576000"/>
            <a:ext cx="90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 i="1">
                <a:solidFill>
                  <a:srgbClr val="B8CEE0"/>
                </a:solidFill>
                <a:latin typeface="Segoe UI"/>
              </a:rPr>
              <a:t>Rapor teslim edilip kopyalama sorusu bittikten sonra sunulur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119" y="558000"/>
            <a:ext cx="684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500"/>
              </a:spcAft>
            </a:pPr>
            <a:r>
              <a:rPr sz="1050" b="1" i="0">
                <a:solidFill>
                  <a:srgbClr val="173A59"/>
                </a:solidFill>
                <a:latin typeface="Segoe UI"/>
              </a:rPr>
              <a:t>12 / 19</a:t>
            </a:r>
          </a:p>
        </p:txBody>
      </p:sp>
      <p:pic>
        <p:nvPicPr>
          <p:cNvPr id="7" name="Picture 6" descr="logo_tem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0119" y="180000"/>
            <a:ext cx="1332000" cy="398442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360000" y="1584000"/>
            <a:ext cx="2718000" cy="259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0000" y="1584000"/>
            <a:ext cx="125999" cy="2592000"/>
          </a:xfrm>
          <a:prstGeom prst="rect">
            <a:avLst/>
          </a:prstGeom>
          <a:solidFill>
            <a:srgbClr val="1E84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58000" y="1674000"/>
            <a:ext cx="2448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1E8449"/>
                </a:solidFill>
                <a:latin typeface="Segoe UI"/>
              </a:rPr>
              <a:t>1) Düzeltme öner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58000" y="2088000"/>
            <a:ext cx="2448000" cy="19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22303C"/>
                </a:solidFill>
                <a:latin typeface="Segoe UI"/>
              </a:rPr>
              <a:t>Bu raporu temel alan kritik bulgulara kod farkı ve PR — önerilen: 5 bulgu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94000" y="1584000"/>
            <a:ext cx="2718000" cy="259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294000" y="1584000"/>
            <a:ext cx="125999" cy="2592000"/>
          </a:xfrm>
          <a:prstGeom prst="rect">
            <a:avLst/>
          </a:prstGeom>
          <a:solidFill>
            <a:srgbClr val="1D4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92000" y="1674000"/>
            <a:ext cx="2448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1D4E6E"/>
                </a:solidFill>
                <a:latin typeface="Segoe UI"/>
              </a:rPr>
              <a:t>2) Mevcut rapordan devam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92000" y="2088000"/>
            <a:ext cx="2448000" cy="19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22303C"/>
                </a:solidFill>
                <a:latin typeface="Segoe UI"/>
              </a:rPr>
              <a:t>Rapor arşivinden (önceki oturumlar dahil) başka bir rapor seçip düzeltme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28000" y="1584000"/>
            <a:ext cx="2718000" cy="259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28000" y="1584000"/>
            <a:ext cx="125999" cy="2592000"/>
          </a:xfrm>
          <a:prstGeom prst="rect">
            <a:avLst/>
          </a:prstGeom>
          <a:solidFill>
            <a:srgbClr val="0F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26000" y="1674000"/>
            <a:ext cx="2448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0F2A43"/>
                </a:solidFill>
                <a:latin typeface="Segoe UI"/>
              </a:rPr>
              <a:t>3) Aynı akışla devam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26000" y="2088000"/>
            <a:ext cx="2448000" cy="19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22303C"/>
                </a:solidFill>
                <a:latin typeface="Segoe UI"/>
              </a:rPr>
              <a:t>Yeni repo / yeni doküman — analiz her seferinde güncel koddan, sıfırdan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62000" y="1584000"/>
            <a:ext cx="2718000" cy="259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162000" y="1584000"/>
            <a:ext cx="125999" cy="2592000"/>
          </a:xfrm>
          <a:prstGeom prst="rect">
            <a:avLst/>
          </a:prstGeom>
          <a:solidFill>
            <a:srgbClr val="5D6D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360000" y="1674000"/>
            <a:ext cx="2448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5D6D7E"/>
                </a:solidFill>
                <a:latin typeface="Segoe UI"/>
              </a:rPr>
              <a:t>4) Bitir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60000" y="2088000"/>
            <a:ext cx="2448000" cy="19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22303C"/>
                </a:solidFill>
                <a:latin typeface="Segoe UI"/>
              </a:rPr>
              <a:t>Özetle kapanır: rapor yolu(ları) + sayısal özet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0000" y="4464000"/>
            <a:ext cx="11448000" cy="1368000"/>
          </a:xfrm>
          <a:prstGeom prst="rect">
            <a:avLst/>
          </a:prstGeom>
          <a:solidFill>
            <a:srgbClr val="EAF1F7"/>
          </a:solidFill>
          <a:ln w="12700">
            <a:solidFill>
              <a:srgbClr val="1D4E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3999" y="4554000"/>
            <a:ext cx="11160000" cy="1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1" i="0">
                <a:solidFill>
                  <a:srgbClr val="0F2A43"/>
                </a:solidFill>
                <a:latin typeface="Segoe UI"/>
              </a:rPr>
              <a:t>Kurallar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22303C"/>
                </a:solidFill>
                <a:latin typeface="Segoe UI"/>
              </a:rPr>
              <a:t>Seçenek listesi kopyalama sorusuyla birleştirilmez; önce kopyalama yanıtınız alınır.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22303C"/>
                </a:solidFill>
                <a:latin typeface="Segoe UI"/>
              </a:rPr>
              <a:t>Seçenek 1'i yürütmek için PR onayı ayrıca sorulur — kod yazma adımı bu listeden kendiliğinden yürütülmez.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22303C"/>
                </a:solidFill>
                <a:latin typeface="Segoe UI"/>
              </a:rPr>
              <a:t>Düzeltme isteğe bağlıdır: '4' derseniz ajan yalnız özet verir ve durur.</a:t>
            </a:r>
          </a:p>
        </p:txBody>
      </p:sp>
      <p:pic>
        <p:nvPicPr>
          <p:cNvPr id="26" name="Picture 25" descr="softtech-logo-light-backgrou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85248" y="6382512"/>
            <a:ext cx="960120" cy="416755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A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389162840000" cy="311040000000"/>
          </a:xfrm>
          <a:prstGeom prst="rect">
            <a:avLst/>
          </a:prstGeom>
          <a:solidFill>
            <a:srgbClr val="1D4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11040000000"/>
            <a:ext cx="4389162840000" cy="12960000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4000" y="125999"/>
            <a:ext cx="8280000" cy="61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2500" b="1" i="0">
                <a:solidFill>
                  <a:srgbClr val="FFFFFF"/>
                </a:solidFill>
                <a:latin typeface="Segoe UI"/>
              </a:rPr>
              <a:t>Temiz Başlangıç — Sıfırla ve Yeniden Tara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4000" y="576000"/>
            <a:ext cx="90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 i="1">
                <a:solidFill>
                  <a:srgbClr val="B8CEE0"/>
                </a:solidFill>
                <a:latin typeface="Segoe UI"/>
              </a:rPr>
              <a:t>Ortamı sıfırlamak işleri bozmaz; döngü güvenli ve ölçülüdür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119" y="558000"/>
            <a:ext cx="684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500"/>
              </a:spcAft>
            </a:pPr>
            <a:r>
              <a:rPr sz="1050" b="1" i="0">
                <a:solidFill>
                  <a:srgbClr val="173A59"/>
                </a:solidFill>
                <a:latin typeface="Segoe UI"/>
              </a:rPr>
              <a:t>13 / 19</a:t>
            </a:r>
          </a:p>
        </p:txBody>
      </p:sp>
      <p:pic>
        <p:nvPicPr>
          <p:cNvPr id="7" name="Picture 6" descr="logo_tem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0119" y="180000"/>
            <a:ext cx="1332000" cy="398442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360000" y="1404000"/>
            <a:ext cx="5508000" cy="3744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0000" y="1404000"/>
            <a:ext cx="5508000" cy="28512000000"/>
          </a:xfrm>
          <a:prstGeom prst="rect">
            <a:avLst/>
          </a:prstGeom>
          <a:solidFill>
            <a:srgbClr val="5D6D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8000" y="1540800"/>
            <a:ext cx="5292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0F2A43"/>
                </a:solidFill>
                <a:latin typeface="Segoe UI"/>
              </a:rPr>
              <a:t>Sıfırlama akışı (plan → onay → çalıştırma)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8000" y="1872000"/>
            <a:ext cx="5292000" cy="31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1) 'Sıfırla' derseniz ajan ÖNCE neyin silineceğini listeler: doküman hafızası, raporlar, geçici kopyalar, kayıtlar — hiçbir şey silmez.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2) Planı okursunuz; onayınız olmadan silme başlamaz.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3) Onayla: ajanın ürettiği her şey temizlenir; kod deponuz, şablonlar, araçlar ve depo kayıtları korunur.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4) Ortam hazır — yeni tarama güncel koddan, sıfırdan yürür.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Son ölçüm: ~430 MB üretilmiş veri, 20 kalem, tek onayla temizlendi.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999" y="1404000"/>
            <a:ext cx="5544000" cy="3744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63999" y="1404000"/>
            <a:ext cx="5544000" cy="28512000000"/>
          </a:xfrm>
          <a:prstGeom prst="rect">
            <a:avLst/>
          </a:prstGeom>
          <a:solidFill>
            <a:srgbClr val="1E84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72000" y="1540800"/>
            <a:ext cx="5328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0F2A43"/>
                </a:solidFill>
                <a:latin typeface="Segoe UI"/>
              </a:rPr>
              <a:t>Sıfırlama sonrası pilot tarama (gerçek)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72000" y="1872000"/>
            <a:ext cx="5328000" cy="31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Depo yeniden çalışma kopyası alındı: güncel sürüm dalı, en yeni iş kaydı.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Tahmin sunuldu: 178 dosya · 15.051 satır · 66 desen · ~1 sn tarama.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Tarama sonucu: bilinen desenlerde temiz — önceki turda düzeltilmiş noktalar yayında olarak doğrulandı.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Yapılandırmada 1 sinyal: gizli-değer benzeri satır — 'Doğrulanmalı' etiketiyle rapora girdi (ajan karar vermedi, kanıtı bildirdi).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Bu döngü, düzeltmelerin gerçekten yayında olduğunu kanıtlar: temiz tarama = başarılı düzeltme.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0000" y="5328000"/>
            <a:ext cx="432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C9A227"/>
                </a:solidFill>
                <a:latin typeface="Segoe UI"/>
              </a:rPr>
              <a:t>AKIŞ ÖZETİ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440000" y="5616000"/>
            <a:ext cx="1655999" cy="108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C9A227"/>
                </a:solidFill>
              </a:rPr>
              <a:t>1</a:t>
            </a:r>
          </a:p>
          <a:p>
            <a:pPr algn="ctr"/>
            <a:r>
              <a:rPr sz="1050" b="1">
                <a:solidFill>
                  <a:srgbClr val="0F2A43"/>
                </a:solidFill>
              </a:rPr>
              <a:t>Sıfırla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3131999" y="6012000"/>
            <a:ext cx="179999" cy="288000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3348000" y="5616000"/>
            <a:ext cx="1655999" cy="108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C9A227"/>
                </a:solidFill>
              </a:rPr>
              <a:t>2</a:t>
            </a:r>
          </a:p>
          <a:p>
            <a:pPr algn="ctr"/>
            <a:r>
              <a:rPr sz="1050" b="1">
                <a:solidFill>
                  <a:srgbClr val="0F2A43"/>
                </a:solidFill>
              </a:rPr>
              <a:t>Plan gör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5040000" y="6012000"/>
            <a:ext cx="179999" cy="288000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256000" y="5616000"/>
            <a:ext cx="1655999" cy="108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C9A227"/>
                </a:solidFill>
              </a:rPr>
              <a:t>3</a:t>
            </a:r>
          </a:p>
          <a:p>
            <a:pPr algn="ctr"/>
            <a:r>
              <a:rPr sz="1050" b="1">
                <a:solidFill>
                  <a:srgbClr val="0F2A43"/>
                </a:solidFill>
              </a:rPr>
              <a:t>Onayla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6948000" y="6012000"/>
            <a:ext cx="179999" cy="288000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164000" y="5616000"/>
            <a:ext cx="1655999" cy="108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C9A227"/>
                </a:solidFill>
              </a:rPr>
              <a:t>4</a:t>
            </a:r>
          </a:p>
          <a:p>
            <a:pPr algn="ctr"/>
            <a:r>
              <a:rPr sz="1050" b="1">
                <a:solidFill>
                  <a:srgbClr val="0F2A43"/>
                </a:solidFill>
              </a:rPr>
              <a:t>Temiz ortam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8856000" y="6012000"/>
            <a:ext cx="179999" cy="288000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9072000" y="5616000"/>
            <a:ext cx="1655999" cy="108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C9A227"/>
                </a:solidFill>
              </a:rPr>
              <a:t>5</a:t>
            </a:r>
          </a:p>
          <a:p>
            <a:pPr algn="ctr"/>
            <a:r>
              <a:rPr sz="1050" b="1">
                <a:solidFill>
                  <a:srgbClr val="0F2A43"/>
                </a:solidFill>
              </a:rPr>
              <a:t>Taze tarama</a:t>
            </a:r>
          </a:p>
        </p:txBody>
      </p:sp>
      <p:pic>
        <p:nvPicPr>
          <p:cNvPr id="26" name="Picture 25" descr="softtech-logo-light-backgrou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85248" y="6382512"/>
            <a:ext cx="960120" cy="416755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A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389162840000" cy="311040000000"/>
          </a:xfrm>
          <a:prstGeom prst="rect">
            <a:avLst/>
          </a:prstGeom>
          <a:solidFill>
            <a:srgbClr val="1D4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11040000000"/>
            <a:ext cx="4389162840000" cy="12960000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4000" y="125999"/>
            <a:ext cx="8280000" cy="61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2500" b="1" i="0">
                <a:solidFill>
                  <a:srgbClr val="FFFFFF"/>
                </a:solidFill>
                <a:latin typeface="Segoe UI"/>
              </a:rPr>
              <a:t>Dört Güvence — Her Akışta Değişmez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119" y="558000"/>
            <a:ext cx="684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500"/>
              </a:spcAft>
            </a:pPr>
            <a:r>
              <a:rPr sz="1050" b="1" i="0">
                <a:solidFill>
                  <a:srgbClr val="173A59"/>
                </a:solidFill>
                <a:latin typeface="Segoe UI"/>
              </a:rPr>
              <a:t>14 / 19</a:t>
            </a:r>
          </a:p>
        </p:txBody>
      </p:sp>
      <p:pic>
        <p:nvPicPr>
          <p:cNvPr id="6" name="Picture 5" descr="logo_tem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0119" y="180000"/>
            <a:ext cx="1332000" cy="398442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360000" y="1512000"/>
            <a:ext cx="2718000" cy="3744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0000" y="1512000"/>
            <a:ext cx="2718000" cy="2851200000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8000" y="1648800"/>
            <a:ext cx="2502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0F2A43"/>
                </a:solidFill>
                <a:latin typeface="Segoe UI"/>
              </a:rPr>
              <a:t>Kanıt zorunludur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8000" y="1980000"/>
            <a:ext cx="2502000" cy="31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Her bulgu kod içinde dosya ve satır numarasıyla gösterilir; doküman kaynaklı çıkarımlar bölüm kimliği taşır. Dayanaksız cümle rapora girmez.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94000" y="1512000"/>
            <a:ext cx="2718000" cy="3744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294000" y="1512000"/>
            <a:ext cx="2718000" cy="28512000000"/>
          </a:xfrm>
          <a:prstGeom prst="rect">
            <a:avLst/>
          </a:prstGeom>
          <a:solidFill>
            <a:srgbClr val="1D4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02000" y="1648800"/>
            <a:ext cx="2502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0F2A43"/>
                </a:solidFill>
                <a:latin typeface="Segoe UI"/>
              </a:rPr>
              <a:t>Hassas veri gizlenir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02000" y="1980000"/>
            <a:ext cx="2502000" cy="31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Rapor yazılmadan önce tüm metin otomatik taranır; kart numarası, şifre, token benzeri görünümler maskelenir. Rastgele sayılarla karışmaz — doğrulamalı.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28000" y="1512000"/>
            <a:ext cx="2718000" cy="3744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28000" y="1512000"/>
            <a:ext cx="2718000" cy="28512000000"/>
          </a:xfrm>
          <a:prstGeom prst="rect">
            <a:avLst/>
          </a:prstGeom>
          <a:solidFill>
            <a:srgbClr val="0F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36000" y="1648800"/>
            <a:ext cx="2502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0F2A43"/>
                </a:solidFill>
                <a:latin typeface="Segoe UI"/>
              </a:rPr>
              <a:t>Analiz hep tazedir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36000" y="1980000"/>
            <a:ext cx="2502000" cy="31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Yeni tarama öncekilerin bulgularını girdi almaz; her seferinde o anki kod durumu incelenir. Kıyas yalnız siz isterse yapılır.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62000" y="1512000"/>
            <a:ext cx="2718000" cy="3744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162000" y="1512000"/>
            <a:ext cx="2718000" cy="28512000000"/>
          </a:xfrm>
          <a:prstGeom prst="rect">
            <a:avLst/>
          </a:prstGeom>
          <a:solidFill>
            <a:srgbClr val="B7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70000" y="1648800"/>
            <a:ext cx="2502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0F2A43"/>
                </a:solidFill>
                <a:latin typeface="Segoe UI"/>
              </a:rPr>
              <a:t>Seçim ve onay sizde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70000" y="1980000"/>
            <a:ext cx="2502000" cy="31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Kapsam onayı, bulgu onayı ve kod yazma onayı ayrı ayrı alınır; ajan hiçbir adımı kendiliğinden atlamaz, atlananı size sorar.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0000" y="5472000"/>
            <a:ext cx="11448000" cy="72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3999" y="5544000"/>
            <a:ext cx="1116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150" b="0" i="1">
                <a:solidFill>
                  <a:srgbClr val="22303C"/>
                </a:solidFill>
                <a:latin typeface="Segoe UI"/>
              </a:rPr>
              <a:t>Dürüstlük kuralı: ajan doğrulanamayan bilgiyi 'Doğrulanmalı' olarak yazar, tahmine dönmez. Boş cevap, uydurma cümleden iyidir.</a:t>
            </a:r>
          </a:p>
        </p:txBody>
      </p:sp>
      <p:pic>
        <p:nvPicPr>
          <p:cNvPr id="25" name="Picture 24" descr="softtech-logo-light-backgrou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85248" y="6382512"/>
            <a:ext cx="960120" cy="416755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A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389162840000" cy="311040000000"/>
          </a:xfrm>
          <a:prstGeom prst="rect">
            <a:avLst/>
          </a:prstGeom>
          <a:solidFill>
            <a:srgbClr val="1D4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11040000000"/>
            <a:ext cx="4389162840000" cy="12960000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4000" y="125999"/>
            <a:ext cx="8280000" cy="61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2500" b="1" i="0">
                <a:solidFill>
                  <a:srgbClr val="FFFFFF"/>
                </a:solidFill>
                <a:latin typeface="Segoe UI"/>
              </a:rPr>
              <a:t>Çıktılar — Kurumsal Format, Çift Dosya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4000" y="576000"/>
            <a:ext cx="90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 i="1">
                <a:solidFill>
                  <a:srgbClr val="B8CEE0"/>
                </a:solidFill>
                <a:latin typeface="Segoe UI"/>
              </a:rPr>
              <a:t>Her rapor bilgi (yazılabilir) + HTML (sunulabilir) olarak kaydedilir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119" y="558000"/>
            <a:ext cx="684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500"/>
              </a:spcAft>
            </a:pPr>
            <a:r>
              <a:rPr sz="1050" b="1" i="0">
                <a:solidFill>
                  <a:srgbClr val="173A59"/>
                </a:solidFill>
                <a:latin typeface="Segoe UI"/>
              </a:rPr>
              <a:t>15 / 19</a:t>
            </a:r>
          </a:p>
        </p:txBody>
      </p:sp>
      <p:pic>
        <p:nvPicPr>
          <p:cNvPr id="7" name="Picture 6" descr="logo_tem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0119" y="180000"/>
            <a:ext cx="1332000" cy="398442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360000" y="1332000"/>
            <a:ext cx="5508000" cy="3219157"/>
          </a:xfrm>
          <a:prstGeom prst="rect">
            <a:avLst/>
          </a:prstGeom>
          <a:solidFill>
            <a:srgbClr val="FFFFFF"/>
          </a:solidFill>
          <a:ln w="12700">
            <a:solidFill>
              <a:srgbClr val="5D6D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rapor_html_oz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6000" y="1368000"/>
            <a:ext cx="5436000" cy="314715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60000" y="4551157"/>
            <a:ext cx="5508000" cy="115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C0392B"/>
                </a:solidFill>
                <a:latin typeface="Segoe UI"/>
              </a:rPr>
              <a:t>Uyum + Risk Birleşik Raporu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9FB6C9"/>
                </a:solidFill>
                <a:latin typeface="Segoe UI"/>
              </a:rPr>
              <a:t>Üst bant ve özet rozetleri sabittir: her rapor aynı kalıpta üretilir — 35 repo, 24 kritik bulgu örneği.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63999" y="1332000"/>
            <a:ext cx="5508000" cy="3219157"/>
          </a:xfrm>
          <a:prstGeom prst="rect">
            <a:avLst/>
          </a:prstGeom>
          <a:solidFill>
            <a:srgbClr val="FFFFFF"/>
          </a:solidFill>
          <a:ln w="12700">
            <a:solidFill>
              <a:srgbClr val="5D6D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rapor_html_f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0000" y="1368000"/>
            <a:ext cx="5436000" cy="314715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263999" y="4551157"/>
            <a:ext cx="5508000" cy="115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1E8449"/>
                </a:solidFill>
                <a:latin typeface="Segoe UI"/>
              </a:rPr>
              <a:t>Düzeltme Fark Raporu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9FB6C9"/>
                </a:solidFill>
                <a:latin typeface="Segoe UI"/>
              </a:rPr>
              <a:t>Bulgu başına öncesi/sonrası ve renkli satır farkı — 5 bulguluk gerçek üretim, onaya hazır.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0000" y="5616000"/>
            <a:ext cx="11448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500"/>
              </a:spcAft>
            </a:pPr>
            <a:r>
              <a:rPr sz="1050" b="0" i="1">
                <a:solidFill>
                  <a:srgbClr val="9FB6C9"/>
                </a:solidFill>
                <a:latin typeface="Segoe UI"/>
              </a:rPr>
              <a:t>HTML, bilgi dosyasından yalnız görünüm üretir: içerik değişmez. Rapor adı deseni sabittir — &lt;konu&gt;_&lt;tür&gt;_raporu_&lt;tarih_saat&gt;.</a:t>
            </a:r>
          </a:p>
        </p:txBody>
      </p:sp>
      <p:pic>
        <p:nvPicPr>
          <p:cNvPr id="15" name="Picture 14" descr="softtech-logo-light-backgroun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85248" y="6382512"/>
            <a:ext cx="960120" cy="416755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A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389162840000" cy="311040000000"/>
          </a:xfrm>
          <a:prstGeom prst="rect">
            <a:avLst/>
          </a:prstGeom>
          <a:solidFill>
            <a:srgbClr val="1D4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11040000000"/>
            <a:ext cx="4389162840000" cy="12960000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4000" y="125999"/>
            <a:ext cx="8280000" cy="61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2500" b="1" i="0">
                <a:solidFill>
                  <a:srgbClr val="FFFFFF"/>
                </a:solidFill>
                <a:latin typeface="Segoe UI"/>
              </a:rPr>
              <a:t>Nasıl Kullanılır? — Örnek Talepler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119" y="558000"/>
            <a:ext cx="684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500"/>
              </a:spcAft>
            </a:pPr>
            <a:r>
              <a:rPr sz="1050" b="1" i="0">
                <a:solidFill>
                  <a:srgbClr val="173A59"/>
                </a:solidFill>
                <a:latin typeface="Segoe UI"/>
              </a:rPr>
              <a:t>16 / 19</a:t>
            </a:r>
          </a:p>
        </p:txBody>
      </p:sp>
      <p:pic>
        <p:nvPicPr>
          <p:cNvPr id="6" name="Picture 5" descr="logo_tem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0119" y="180000"/>
            <a:ext cx="1332000" cy="398442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360000" y="1332000"/>
            <a:ext cx="11448000" cy="864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0000" y="1332000"/>
            <a:ext cx="125999" cy="86400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58000" y="1404000"/>
            <a:ext cx="3096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0F2A43"/>
                </a:solidFill>
                <a:latin typeface="Segoe UI"/>
              </a:rPr>
              <a:t>Repo Risk Raporu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44000" y="1404000"/>
            <a:ext cx="7848000" cy="75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"C:\repos\odeme-gateway için risk raporu çıkar"</a:t>
            </a:r>
          </a:p>
          <a:p>
            <a:pPr algn="l">
              <a:spcAft>
                <a:spcPts val="500"/>
              </a:spcAft>
            </a:pPr>
            <a:r>
              <a:rPr sz="1150" b="0" i="0">
                <a:solidFill>
                  <a:srgbClr val="5D6D7E"/>
                </a:solidFill>
                <a:latin typeface="Segoe UI"/>
              </a:rPr>
              <a:t>"şu repoyu tara: https://.../repo.git"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0000" y="2275200"/>
            <a:ext cx="11448000" cy="864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0000" y="2275200"/>
            <a:ext cx="125999" cy="864000"/>
          </a:xfrm>
          <a:prstGeom prst="rect">
            <a:avLst/>
          </a:prstGeom>
          <a:solidFill>
            <a:srgbClr val="1D4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8000" y="2347200"/>
            <a:ext cx="3096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0F2A43"/>
                </a:solidFill>
                <a:latin typeface="Segoe UI"/>
              </a:rPr>
              <a:t>Bülten Etki Analizi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44000" y="2347200"/>
            <a:ext cx="7848000" cy="75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"bultenler klasöründeki yeni duyuruyu analiz et"</a:t>
            </a:r>
          </a:p>
          <a:p>
            <a:pPr algn="l">
              <a:spcAft>
                <a:spcPts val="500"/>
              </a:spcAft>
            </a:pPr>
            <a:r>
              <a:rPr sz="1150" b="0" i="0">
                <a:solidFill>
                  <a:srgbClr val="5D6D7E"/>
                </a:solidFill>
                <a:latin typeface="Segoe UI"/>
              </a:rPr>
              <a:t>"bu dokümanın etkisini odeme reposuna bakarak çıkar"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0000" y="3218400"/>
            <a:ext cx="11448000" cy="864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0000" y="3218400"/>
            <a:ext cx="125999" cy="864000"/>
          </a:xfrm>
          <a:prstGeom prst="rect">
            <a:avLst/>
          </a:prstGeom>
          <a:solidFill>
            <a:srgbClr val="B7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8000" y="3290400"/>
            <a:ext cx="3096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0F2A43"/>
                </a:solidFill>
                <a:latin typeface="Segoe UI"/>
              </a:rPr>
              <a:t>Mevzuat Uyum Analizi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44000" y="3290400"/>
            <a:ext cx="7848000" cy="75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"mevzuat klasöründeki yönetmeliğe göre odeme-gateway reposunu denetle"</a:t>
            </a:r>
          </a:p>
          <a:p>
            <a:pPr algn="l">
              <a:spcAft>
                <a:spcPts val="500"/>
              </a:spcAft>
            </a:pPr>
            <a:r>
              <a:rPr sz="1150" b="0" i="0">
                <a:solidFill>
                  <a:srgbClr val="5D6D7E"/>
                </a:solidFill>
                <a:latin typeface="Segoe UI"/>
              </a:rPr>
              <a:t>"bu kanunun metnini repoyla karşılaştır"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60000" y="4161600"/>
            <a:ext cx="11448000" cy="864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60000" y="4161600"/>
            <a:ext cx="125999" cy="864000"/>
          </a:xfrm>
          <a:prstGeom prst="rect">
            <a:avLst/>
          </a:prstGeom>
          <a:solidFill>
            <a:srgbClr val="1E84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58000" y="4233600"/>
            <a:ext cx="3096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0F2A43"/>
                </a:solidFill>
                <a:latin typeface="Segoe UI"/>
              </a:rPr>
              <a:t>İş-Kod-Çözüm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44000" y="4233600"/>
            <a:ext cx="7848000" cy="75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"business/log altındaki hatayı incele, kök nedeni bul"</a:t>
            </a:r>
          </a:p>
          <a:p>
            <a:pPr algn="l">
              <a:spcAft>
                <a:spcPts val="500"/>
              </a:spcAft>
            </a:pPr>
            <a:r>
              <a:rPr sz="1150" b="0" i="0">
                <a:solidFill>
                  <a:srgbClr val="5D6D7E"/>
                </a:solidFill>
                <a:latin typeface="Segoe UI"/>
              </a:rPr>
              <a:t>"SISP-1234 kaydını incele, çözüm öner"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60000" y="5104800"/>
            <a:ext cx="11448000" cy="864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60000" y="5104800"/>
            <a:ext cx="125999" cy="864000"/>
          </a:xfrm>
          <a:prstGeom prst="rect">
            <a:avLst/>
          </a:prstGeom>
          <a:solidFill>
            <a:srgbClr val="1A54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58000" y="5176800"/>
            <a:ext cx="3096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0F2A43"/>
                </a:solidFill>
                <a:latin typeface="Segoe UI"/>
              </a:rPr>
              <a:t>Bulgu Düzeltme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744000" y="5176800"/>
            <a:ext cx="7848000" cy="75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"bu raporun en kritik 5 bulgusunu düzelt, PR aç"</a:t>
            </a:r>
          </a:p>
          <a:p>
            <a:pPr algn="l">
              <a:spcAft>
                <a:spcPts val="500"/>
              </a:spcAft>
            </a:pPr>
            <a:r>
              <a:rPr sz="1150" b="0" i="0">
                <a:solidFill>
                  <a:srgbClr val="5D6D7E"/>
                </a:solidFill>
                <a:latin typeface="Segoe UI"/>
              </a:rPr>
              <a:t>"raporları listele, geçen haftakinden düzeltme başlat"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0000" y="6156000"/>
            <a:ext cx="1144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500"/>
              </a:spcAft>
            </a:pPr>
            <a:r>
              <a:rPr sz="1050" b="0" i="1">
                <a:solidFill>
                  <a:srgbClr val="9FB6C9"/>
                </a:solidFill>
                <a:latin typeface="Segoe UI"/>
              </a:rPr>
              <a:t>Talebiniz kapsam dışıysa ajan size dört işten uygun olana yön verir.</a:t>
            </a:r>
          </a:p>
        </p:txBody>
      </p:sp>
      <p:pic>
        <p:nvPicPr>
          <p:cNvPr id="28" name="Picture 27" descr="softtech-logo-light-backgrou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85248" y="6382512"/>
            <a:ext cx="960120" cy="416755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A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389162840000" cy="311040000000"/>
          </a:xfrm>
          <a:prstGeom prst="rect">
            <a:avLst/>
          </a:prstGeom>
          <a:solidFill>
            <a:srgbClr val="1D4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11040000000"/>
            <a:ext cx="4389162840000" cy="12960000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4000" y="125999"/>
            <a:ext cx="8280000" cy="61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2500" b="1" i="0">
                <a:solidFill>
                  <a:srgbClr val="FFFFFF"/>
                </a:solidFill>
                <a:latin typeface="Segoe UI"/>
              </a:rPr>
              <a:t>Yardımcı Araçlar — 17 Yardımcı, Tek Disiplin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4000" y="576000"/>
            <a:ext cx="90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 i="1">
                <a:solidFill>
                  <a:srgbClr val="B8CEE0"/>
                </a:solidFill>
                <a:latin typeface="Segoe UI"/>
              </a:rPr>
              <a:t>Her araç yalnız ölçer, tarar, düzenler veya biçimlendirir; hiçbiri karar vermez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119" y="558000"/>
            <a:ext cx="684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500"/>
              </a:spcAft>
            </a:pPr>
            <a:r>
              <a:rPr sz="1050" b="1" i="0">
                <a:solidFill>
                  <a:srgbClr val="173A59"/>
                </a:solidFill>
                <a:latin typeface="Segoe UI"/>
              </a:rPr>
              <a:t>17 / 19</a:t>
            </a:r>
          </a:p>
        </p:txBody>
      </p:sp>
      <p:pic>
        <p:nvPicPr>
          <p:cNvPr id="7" name="Picture 6" descr="logo_tem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0119" y="180000"/>
            <a:ext cx="1332000" cy="398442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360000" y="1134000"/>
            <a:ext cx="11448000" cy="289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0000" y="1134000"/>
            <a:ext cx="79200" cy="289800"/>
          </a:xfrm>
          <a:prstGeom prst="rect">
            <a:avLst/>
          </a:prstGeom>
          <a:solidFill>
            <a:srgbClr val="5D6D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9200" y="1134000"/>
            <a:ext cx="2376000" cy="289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0F2A43"/>
                </a:solidFill>
                <a:latin typeface="Segoe UI"/>
              </a:rPr>
              <a:t>Belge Girişi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80000" y="1134000"/>
            <a:ext cx="8856000" cy="289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>
                <a:solidFill>
                  <a:srgbClr val="22303C"/>
                </a:solidFill>
                <a:latin typeface="Segoe UI"/>
              </a:rPr>
              <a:t>PDF ve belge dosyalarını ilgili klasörden alır; tarih damgalı benzersiz kopya üretir, üzerine yazar mı diye sormaz.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0000" y="1423800"/>
            <a:ext cx="11448000" cy="2898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60000" y="1423800"/>
            <a:ext cx="79200" cy="289800"/>
          </a:xfrm>
          <a:prstGeom prst="rect">
            <a:avLst/>
          </a:prstGeom>
          <a:solidFill>
            <a:srgbClr val="5D6D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9200" y="1423800"/>
            <a:ext cx="2376000" cy="289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0F2A43"/>
                </a:solidFill>
                <a:latin typeface="Segoe UI"/>
              </a:rPr>
              <a:t>Belge Okuyucu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80000" y="1423800"/>
            <a:ext cx="8856000" cy="289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>
                <a:solidFill>
                  <a:srgbClr val="22303C"/>
                </a:solidFill>
                <a:latin typeface="Segoe UI"/>
              </a:rPr>
              <a:t>PDF/DOCX belgelerini okunabilir metne çevirir; taranmış görüntü sayfalarda 'elle aktarım gerekli' uyarısı verir.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0000" y="1713600"/>
            <a:ext cx="11448000" cy="289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60000" y="1713600"/>
            <a:ext cx="79200" cy="289800"/>
          </a:xfrm>
          <a:prstGeom prst="rect">
            <a:avLst/>
          </a:prstGeom>
          <a:solidFill>
            <a:srgbClr val="5D6D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9200" y="1713600"/>
            <a:ext cx="2376000" cy="289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0F2A43"/>
                </a:solidFill>
                <a:latin typeface="Segoe UI"/>
              </a:rPr>
              <a:t>Mevzuat Girişi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80000" y="1713600"/>
            <a:ext cx="8856000" cy="289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>
                <a:solidFill>
                  <a:srgbClr val="22303C"/>
                </a:solidFill>
                <a:latin typeface="Segoe UI"/>
              </a:rPr>
              <a:t>Kanun ve yönetmelik ekleme, indirme ve sayfa tarama işlemlerinin tek kapısı; kurumsal ağ ayarlarıyla güvenli çalışır.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0000" y="2003399"/>
            <a:ext cx="11448000" cy="2898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60000" y="2003399"/>
            <a:ext cx="79200" cy="289800"/>
          </a:xfrm>
          <a:prstGeom prst="rect">
            <a:avLst/>
          </a:prstGeom>
          <a:solidFill>
            <a:srgbClr val="5D6D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9200" y="2003399"/>
            <a:ext cx="2376000" cy="289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0F2A43"/>
                </a:solidFill>
                <a:latin typeface="Segoe UI"/>
              </a:rPr>
              <a:t>İş Kaydı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880000" y="2003399"/>
            <a:ext cx="8856000" cy="289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>
                <a:solidFill>
                  <a:srgbClr val="22303C"/>
                </a:solidFill>
                <a:latin typeface="Segoe UI"/>
              </a:rPr>
              <a:t>Olay kaydı, Jira kaydı ve log çıktılarını düzenli klasörlere yerleştirir; işlenen belgeleri deftere geçirir.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0000" y="2293199"/>
            <a:ext cx="11448000" cy="289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60000" y="2293199"/>
            <a:ext cx="79200" cy="289800"/>
          </a:xfrm>
          <a:prstGeom prst="rect">
            <a:avLst/>
          </a:prstGeom>
          <a:solidFill>
            <a:srgbClr val="5D6D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9200" y="2293199"/>
            <a:ext cx="2376000" cy="289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0F2A43"/>
                </a:solidFill>
                <a:latin typeface="Segoe UI"/>
              </a:rPr>
              <a:t>Kayıt Yöneticisi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880000" y="2293199"/>
            <a:ext cx="8856000" cy="289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>
                <a:solidFill>
                  <a:srgbClr val="22303C"/>
                </a:solidFill>
                <a:latin typeface="Segoe UI"/>
              </a:rPr>
              <a:t>Analiz ve işlenen defterlerini JSON olarak tutar; defter yalnız bilgilendirmedir, akışı asla engellemez.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60000" y="2582999"/>
            <a:ext cx="11448000" cy="2898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60000" y="2582999"/>
            <a:ext cx="79200" cy="289800"/>
          </a:xfrm>
          <a:prstGeom prst="rect">
            <a:avLst/>
          </a:prstGeom>
          <a:solidFill>
            <a:srgbClr val="5D6D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39200" y="2582999"/>
            <a:ext cx="2376000" cy="289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0F2A43"/>
                </a:solidFill>
                <a:latin typeface="Segoe UI"/>
              </a:rPr>
              <a:t>Depo Yöneticisi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80000" y="2582999"/>
            <a:ext cx="8856000" cy="289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>
                <a:solidFill>
                  <a:srgbClr val="22303C"/>
                </a:solidFill>
                <a:latin typeface="Segoe UI"/>
              </a:rPr>
              <a:t>Depo keşfi ve onaylı indirme/güncelleme yazışması; commit'lenmemiş değişiklikli depoda yazma işlemi kendiliğinden durur.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60000" y="2872799"/>
            <a:ext cx="11448000" cy="289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60000" y="2872799"/>
            <a:ext cx="79200" cy="28980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39200" y="2872799"/>
            <a:ext cx="2376000" cy="289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0F2A43"/>
                </a:solidFill>
                <a:latin typeface="Segoe UI"/>
              </a:rPr>
              <a:t>Depo Envanteri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880000" y="2872799"/>
            <a:ext cx="8856000" cy="289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>
                <a:solidFill>
                  <a:srgbClr val="22303C"/>
                </a:solidFill>
                <a:latin typeface="Segoe UI"/>
              </a:rPr>
              <a:t>Hangi dosyalar, kaç satır, hangi yapılandırma ayarları açık — tarama kapsamının ölçülebilir dayanağını üretir.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0000" y="3162599"/>
            <a:ext cx="11448000" cy="2898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60000" y="3162599"/>
            <a:ext cx="79200" cy="28980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39200" y="3162599"/>
            <a:ext cx="2376000" cy="289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0F2A43"/>
                </a:solidFill>
                <a:latin typeface="Segoe UI"/>
              </a:rPr>
              <a:t>Desen Taraması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880000" y="3162599"/>
            <a:ext cx="8856000" cy="289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>
                <a:solidFill>
                  <a:srgbClr val="22303C"/>
                </a:solidFill>
                <a:latin typeface="Segoe UI"/>
              </a:rPr>
              <a:t>Bilinen risk kalıplarını dosya ve satır etiketiyle bulur; ajandaki doğrulama bu ön taramanın üstüne kurulur.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0000" y="3452399"/>
            <a:ext cx="11448000" cy="289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60000" y="3452399"/>
            <a:ext cx="79200" cy="28980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39200" y="3452399"/>
            <a:ext cx="2376000" cy="289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0F2A43"/>
                </a:solidFill>
                <a:latin typeface="Segoe UI"/>
              </a:rPr>
              <a:t>Tahmin Aracı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880000" y="3452399"/>
            <a:ext cx="8856000" cy="289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>
                <a:solidFill>
                  <a:srgbClr val="22303C"/>
                </a:solidFill>
                <a:latin typeface="Segoe UI"/>
              </a:rPr>
              <a:t>Tarama öncesi dosya/satır/süre/maliyet ölçümü yapar; 'onayınız olmadan tarama yok' kuralının ölçülebilir temelidir.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60000" y="3742199"/>
            <a:ext cx="11448000" cy="2898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360000" y="3742199"/>
            <a:ext cx="79200" cy="28980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39200" y="3742199"/>
            <a:ext cx="2376000" cy="289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0F2A43"/>
                </a:solidFill>
                <a:latin typeface="Segoe UI"/>
              </a:rPr>
              <a:t>Veri Gizleyici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880000" y="3742199"/>
            <a:ext cx="8856000" cy="289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>
                <a:solidFill>
                  <a:srgbClr val="22303C"/>
                </a:solidFill>
                <a:latin typeface="Segoe UI"/>
              </a:rPr>
              <a:t>Kart numarası, şifre ve benzeri görünümleri rapor yazılmadan önce maskeler; gerçek değer rapora hiç girmez.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60000" y="4031999"/>
            <a:ext cx="11448000" cy="289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360000" y="4031999"/>
            <a:ext cx="79200" cy="289800"/>
          </a:xfrm>
          <a:prstGeom prst="rect">
            <a:avLst/>
          </a:prstGeom>
          <a:solidFill>
            <a:srgbClr val="1D4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39200" y="4031999"/>
            <a:ext cx="2376000" cy="289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0F2A43"/>
                </a:solidFill>
                <a:latin typeface="Segoe UI"/>
              </a:rPr>
              <a:t>Belge Hafızası Kurulumu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880000" y="4031999"/>
            <a:ext cx="8856000" cy="289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>
                <a:solidFill>
                  <a:srgbClr val="22303C"/>
                </a:solidFill>
                <a:latin typeface="Segoe UI"/>
              </a:rPr>
              <a:t>Her belgeyi konu bölümlerine ayırıp kimlikli hafızaya yerleştirir; bölümler orta boyutta tutulur.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60000" y="4321799"/>
            <a:ext cx="11448000" cy="2898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360000" y="4321799"/>
            <a:ext cx="79200" cy="289800"/>
          </a:xfrm>
          <a:prstGeom prst="rect">
            <a:avLst/>
          </a:prstGeom>
          <a:solidFill>
            <a:srgbClr val="1D4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39200" y="4321799"/>
            <a:ext cx="2376000" cy="289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0F2A43"/>
                </a:solidFill>
                <a:latin typeface="Segoe UI"/>
              </a:rPr>
              <a:t>Belge Hafızası Sorgu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880000" y="4321799"/>
            <a:ext cx="8856000" cy="289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>
                <a:solidFill>
                  <a:srgbClr val="22303C"/>
                </a:solidFill>
                <a:latin typeface="Segoe UI"/>
              </a:rPr>
              <a:t>Hafıza içinde konu bazlı arama yapar; her sonuç belge + bölüm kimliğiyle döner — dayanaksız alıntı yoktur.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60000" y="4611599"/>
            <a:ext cx="11448000" cy="289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360000" y="4611599"/>
            <a:ext cx="79200" cy="289800"/>
          </a:xfrm>
          <a:prstGeom prst="rect">
            <a:avLst/>
          </a:prstGeom>
          <a:solidFill>
            <a:srgbClr val="1D4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39200" y="4611599"/>
            <a:ext cx="2376000" cy="289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0F2A43"/>
                </a:solidFill>
                <a:latin typeface="Segoe UI"/>
              </a:rPr>
              <a:t>Veritabanı Tanım Arama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880000" y="4611599"/>
            <a:ext cx="8856000" cy="289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>
                <a:solidFill>
                  <a:srgbClr val="22303C"/>
                </a:solidFill>
                <a:latin typeface="Segoe UI"/>
              </a:rPr>
              <a:t>Prosedür/paket tanımlarını statik metin içinde arar; veritabanına bağlanmaz, SQL çalıştırmaz.</a:t>
            </a:r>
          </a:p>
        </p:txBody>
      </p:sp>
      <p:sp>
        <p:nvSpPr>
          <p:cNvPr id="60" name="Rectangle 59"/>
          <p:cNvSpPr/>
          <p:nvPr/>
        </p:nvSpPr>
        <p:spPr>
          <a:xfrm>
            <a:off x="360000" y="4901399"/>
            <a:ext cx="11448000" cy="2898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360000" y="4901399"/>
            <a:ext cx="79200" cy="289800"/>
          </a:xfrm>
          <a:prstGeom prst="rect">
            <a:avLst/>
          </a:prstGeom>
          <a:solidFill>
            <a:srgbClr val="1D4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439200" y="4901399"/>
            <a:ext cx="2376000" cy="289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0F2A43"/>
                </a:solidFill>
                <a:latin typeface="Segoe UI"/>
              </a:rPr>
              <a:t>Rapor Biçimlendirici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880000" y="4901399"/>
            <a:ext cx="8856000" cy="289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>
                <a:solidFill>
                  <a:srgbClr val="22303C"/>
                </a:solidFill>
                <a:latin typeface="Segoe UI"/>
              </a:rPr>
              <a:t>Bilgi dosyasından kurumsal HTML görünüm üretir; içeriği değiştirmez — md kaynak, html yalnız sunum katmanıdır.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60000" y="5191199"/>
            <a:ext cx="11448000" cy="289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360000" y="5191199"/>
            <a:ext cx="79200" cy="289800"/>
          </a:xfrm>
          <a:prstGeom prst="rect">
            <a:avLst/>
          </a:prstGeom>
          <a:solidFill>
            <a:srgbClr val="1E84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39200" y="5191199"/>
            <a:ext cx="2376000" cy="289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0F2A43"/>
                </a:solidFill>
                <a:latin typeface="Segoe UI"/>
              </a:rPr>
              <a:t>Düzeltme / PR Aracı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880000" y="5191199"/>
            <a:ext cx="8856000" cy="289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>
                <a:solidFill>
                  <a:srgbClr val="22303C"/>
                </a:solidFill>
                <a:latin typeface="Segoe UI"/>
              </a:rPr>
              <a:t>Onaylı düzeltmede ayrı dal açar, farkı uygular, PR açar; korunan dallara yazma ve zorla-gönderim yoktur.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0000" y="5480999"/>
            <a:ext cx="11448000" cy="2898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360000" y="5480999"/>
            <a:ext cx="79200" cy="289800"/>
          </a:xfrm>
          <a:prstGeom prst="rect">
            <a:avLst/>
          </a:prstGeom>
          <a:solidFill>
            <a:srgbClr val="1E84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439200" y="5480999"/>
            <a:ext cx="2376000" cy="289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0F2A43"/>
                </a:solidFill>
                <a:latin typeface="Segoe UI"/>
              </a:rPr>
              <a:t>Sıfırlama Aracı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880000" y="5480999"/>
            <a:ext cx="8856000" cy="289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>
                <a:solidFill>
                  <a:srgbClr val="22303C"/>
                </a:solidFill>
                <a:latin typeface="Segoe UI"/>
              </a:rPr>
              <a:t>'Sıfırla' komutunda önce plan gösterir, onaydan sonra ürettiği veriyi temizler; şablonlar, araçlar ve kayıtlar korunur.</a:t>
            </a:r>
          </a:p>
        </p:txBody>
      </p:sp>
      <p:sp>
        <p:nvSpPr>
          <p:cNvPr id="72" name="Rectangle 71"/>
          <p:cNvSpPr/>
          <p:nvPr/>
        </p:nvSpPr>
        <p:spPr>
          <a:xfrm>
            <a:off x="360000" y="5770799"/>
            <a:ext cx="11448000" cy="289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360000" y="5770799"/>
            <a:ext cx="79200" cy="289800"/>
          </a:xfrm>
          <a:prstGeom prst="rect">
            <a:avLst/>
          </a:prstGeom>
          <a:solidFill>
            <a:srgbClr val="1E84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439200" y="5770799"/>
            <a:ext cx="2376000" cy="289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0F2A43"/>
                </a:solidFill>
                <a:latin typeface="Segoe UI"/>
              </a:rPr>
              <a:t>Sunum Üretici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880000" y="5770799"/>
            <a:ext cx="8856000" cy="289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>
                <a:solidFill>
                  <a:srgbClr val="22303C"/>
                </a:solidFill>
                <a:latin typeface="Segoe UI"/>
              </a:rPr>
              <a:t>Bu tanıtım sunumunu tek komutla üretir; slayt sablonları ve kurum logosu yerleşik gelir.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60000" y="6173999"/>
            <a:ext cx="1144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500"/>
              </a:spcAft>
            </a:pPr>
            <a:r>
              <a:rPr sz="1050" b="0" i="1">
                <a:solidFill>
                  <a:srgbClr val="9FB6C9"/>
                </a:solidFill>
                <a:latin typeface="Segoe UI"/>
              </a:rPr>
              <a:t>Tüm araçlar yerel çalışır: dışa veri göndermez, ağ çağrısı yapmaz, kendisi karar vermez — karar ve onay daima sizdedir.</a:t>
            </a:r>
          </a:p>
        </p:txBody>
      </p:sp>
      <p:pic>
        <p:nvPicPr>
          <p:cNvPr id="77" name="Picture 76" descr="softtech-logo-light-backgrou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85248" y="6382512"/>
            <a:ext cx="960120" cy="416755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A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389162840000" cy="311040000000"/>
          </a:xfrm>
          <a:prstGeom prst="rect">
            <a:avLst/>
          </a:prstGeom>
          <a:solidFill>
            <a:srgbClr val="1D4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11040000000"/>
            <a:ext cx="4389162840000" cy="12960000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4000" y="125999"/>
            <a:ext cx="8280000" cy="61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2500" b="1" i="0">
                <a:solidFill>
                  <a:srgbClr val="FFFFFF"/>
                </a:solidFill>
                <a:latin typeface="Segoe UI"/>
              </a:rPr>
              <a:t>Önerilen Yol — Üç Adımda Başlayın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119" y="558000"/>
            <a:ext cx="684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500"/>
              </a:spcAft>
            </a:pPr>
            <a:r>
              <a:rPr sz="1050" b="1" i="0">
                <a:solidFill>
                  <a:srgbClr val="173A59"/>
                </a:solidFill>
                <a:latin typeface="Segoe UI"/>
              </a:rPr>
              <a:t>18 / 19</a:t>
            </a:r>
          </a:p>
        </p:txBody>
      </p:sp>
      <p:pic>
        <p:nvPicPr>
          <p:cNvPr id="6" name="Picture 5" descr="logo_tem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0119" y="180000"/>
            <a:ext cx="1332000" cy="398442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360000" y="1655999"/>
            <a:ext cx="3671999" cy="309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0000" y="1655999"/>
            <a:ext cx="3671999" cy="251999"/>
          </a:xfrm>
          <a:prstGeom prst="rect">
            <a:avLst/>
          </a:prstGeom>
          <a:solidFill>
            <a:srgbClr val="0F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8000" y="1962000"/>
            <a:ext cx="3456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0F2A43"/>
                </a:solidFill>
                <a:latin typeface="Segoe UI"/>
              </a:rPr>
              <a:t>1. Pilot risk raporu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8000" y="2448000"/>
            <a:ext cx="3456000" cy="21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Bir repo seçin; ajan tahmini sunduktan sonra tarama yapıp yapılandırılmış rapor üretir. Raporu ekiple paylaşıp geri bildirim toplayın.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48000" y="1655999"/>
            <a:ext cx="3671999" cy="309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48000" y="1655999"/>
            <a:ext cx="3671999" cy="251999"/>
          </a:xfrm>
          <a:prstGeom prst="rect">
            <a:avLst/>
          </a:prstGeom>
          <a:solidFill>
            <a:srgbClr val="1D4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56000" y="1962000"/>
            <a:ext cx="3456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0F2A43"/>
                </a:solidFill>
                <a:latin typeface="Segoe UI"/>
              </a:rPr>
              <a:t>2. Doküman havuzu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56000" y="2448000"/>
            <a:ext cx="3456000" cy="21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Bülten ve mevzuat belgelerini ilgili klasörlere girin; ajan her biri için etki ve uyum analizi üretir, yaklaşan geçerlilik tarihlerini öne çıkarır.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36000" y="1655999"/>
            <a:ext cx="3671999" cy="309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36000" y="1655999"/>
            <a:ext cx="3671999" cy="251999"/>
          </a:xfrm>
          <a:prstGeom prst="rect">
            <a:avLst/>
          </a:prstGeom>
          <a:solidFill>
            <a:srgbClr val="1E84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44000" y="1962000"/>
            <a:ext cx="3456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0F2A43"/>
                </a:solidFill>
                <a:latin typeface="Segoe UI"/>
              </a:rPr>
              <a:t>3. Düzeltmeyle kapatın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44000" y="2448000"/>
            <a:ext cx="3456000" cy="21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Risk raporundaki en kritik bulguları seçin; fark raporunu inceleyip onaylayın — düzeltme dalı hazır, Pull Request adresi elinizde.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0000" y="5040000"/>
            <a:ext cx="11448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500"/>
              </a:spcAft>
            </a:pPr>
            <a:r>
              <a:rPr sz="1250" b="1" i="0">
                <a:solidFill>
                  <a:srgbClr val="0F2A43"/>
                </a:solidFill>
                <a:latin typeface="Segoe UI"/>
              </a:rPr>
              <a:t>Her adımda aynı güvenceler geçerli: kanıt, gizlilik, tazelik, onay.</a:t>
            </a:r>
          </a:p>
        </p:txBody>
      </p:sp>
      <p:pic>
        <p:nvPicPr>
          <p:cNvPr id="20" name="Picture 19" descr="softtech-logo-light-backgrou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85248" y="6382512"/>
            <a:ext cx="960120" cy="416755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A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772119" y="3078000"/>
            <a:ext cx="5400000" cy="5400000"/>
          </a:xfrm>
          <a:prstGeom prst="ellipse">
            <a:avLst/>
          </a:prstGeom>
          <a:noFill/>
          <a:ln w="15875">
            <a:solidFill>
              <a:srgbClr val="254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456119" y="3762000"/>
            <a:ext cx="4031999" cy="4031999"/>
          </a:xfrm>
          <a:prstGeom prst="ellipse">
            <a:avLst/>
          </a:prstGeom>
          <a:noFill/>
          <a:ln w="15875">
            <a:solidFill>
              <a:srgbClr val="254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140119" y="4446000"/>
            <a:ext cx="2664000" cy="2664000"/>
          </a:xfrm>
          <a:prstGeom prst="ellipse">
            <a:avLst/>
          </a:prstGeom>
          <a:noFill/>
          <a:ln w="15875">
            <a:solidFill>
              <a:srgbClr val="254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4389162840000" cy="64800000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_tem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72119" y="503999"/>
            <a:ext cx="1655999" cy="4953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36000" y="1368000"/>
            <a:ext cx="10080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3600" b="1" i="0">
                <a:solidFill>
                  <a:srgbClr val="FFFFFF"/>
                </a:solidFill>
                <a:latin typeface="Segoe UI"/>
              </a:rPr>
              <a:t>Özet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6000" y="2376000"/>
            <a:ext cx="10260000" cy="30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500" b="0" i="0">
                <a:solidFill>
                  <a:srgbClr val="CFDDEA"/>
                </a:solidFill>
                <a:latin typeface="Segoe UI"/>
              </a:rPr>
              <a:t>Dört analiz akışı + bulgu düzeltme seçeneği — hepsi kanıt disipliniyle.</a:t>
            </a:r>
          </a:p>
          <a:p>
            <a:pPr algn="l">
              <a:spcAft>
                <a:spcPts val="900"/>
              </a:spcAft>
            </a:pPr>
            <a:r>
              <a:rPr sz="1500" b="0" i="0">
                <a:solidFill>
                  <a:srgbClr val="CFDDEA"/>
                </a:solidFill>
                <a:latin typeface="Segoe UI"/>
              </a:rPr>
              <a:t>Tarama öncesi maliyet tahmini: ne kadar kod, ne kadar süre, ne kadar maliyet — önceden bilirsiniz.</a:t>
            </a:r>
          </a:p>
          <a:p>
            <a:pPr algn="l">
              <a:spcAft>
                <a:spcPts val="900"/>
              </a:spcAft>
            </a:pPr>
            <a:r>
              <a:rPr sz="1500" b="0" i="0">
                <a:solidFill>
                  <a:srgbClr val="CFDDEA"/>
                </a:solidFill>
                <a:latin typeface="Segoe UI"/>
              </a:rPr>
              <a:t>Temiz başlangıç: 'sıfırla' derseniz ortam güvenli temizlenir; analiz hep güncel koddan yürür.</a:t>
            </a:r>
          </a:p>
          <a:p>
            <a:pPr algn="l">
              <a:spcAft>
                <a:spcPts val="900"/>
              </a:spcAft>
            </a:pPr>
            <a:r>
              <a:rPr sz="1500" b="0" i="0">
                <a:solidFill>
                  <a:srgbClr val="CFDDEA"/>
                </a:solidFill>
                <a:latin typeface="Segoe UI"/>
              </a:rPr>
              <a:t>Hassas veriler otomatik gizlenir; doğrulanamayan bilgi 'Doğrulanmalı' yazar, tahmin üretmez.</a:t>
            </a:r>
          </a:p>
          <a:p>
            <a:pPr algn="l">
              <a:spcAft>
                <a:spcPts val="500"/>
              </a:spcAft>
            </a:pPr>
            <a:r>
              <a:rPr sz="1500" b="0" i="0">
                <a:solidFill>
                  <a:srgbClr val="CFDDEA"/>
                </a:solidFill>
                <a:latin typeface="Segoe UI"/>
              </a:rPr>
              <a:t>Kod yazma onayınız olmadan hiçbir adım ilerlemez; her rapor bilgi + HTML çift dosyada, sabit kurumsal biçimde teslim edilir.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6000" y="5688000"/>
            <a:ext cx="1026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C9A227"/>
                </a:solidFill>
                <a:latin typeface="Segoe UI"/>
              </a:rPr>
              <a:t>Başlamak için: 'bir repo için risk raporu çıkar' yazın — gerisini ajan sıralar.</a:t>
            </a:r>
          </a:p>
        </p:txBody>
      </p:sp>
      <p:pic>
        <p:nvPicPr>
          <p:cNvPr id="10" name="Picture 9" descr="softtech-logo-light-backgrou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85248" y="6382512"/>
            <a:ext cx="960120" cy="416755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74320"/>
            <a:ext cx="10972800" cy="228600"/>
          </a:xfrm>
          <a:prstGeom prst="rect">
            <a:avLst/>
          </a:prstGeom>
          <a:noFill/>
        </p:spPr>
        <p:txBody>
          <a:bodyPr wrap="square" lIns="73152" rIns="73152" tIns="36576" bIns="27432" anchor="ctr">
            <a:spAutoFit/>
          </a:bodyPr>
          <a:lstStyle/>
          <a:p>
            <a:pPr>
              <a:defRPr sz="1000" b="1">
                <a:solidFill>
                  <a:srgbClr val="00AFA0"/>
                </a:solidFill>
                <a:latin typeface="Aptos"/>
              </a:defRPr>
            </a:pPr>
            <a:r>
              <a:t>KAYNAK RAPORU · 24.10.2026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94360"/>
            <a:ext cx="10972800" cy="502920"/>
          </a:xfrm>
          <a:prstGeom prst="rect">
            <a:avLst/>
          </a:prstGeom>
          <a:noFill/>
        </p:spPr>
        <p:txBody>
          <a:bodyPr wrap="square" lIns="73152" rIns="73152" tIns="36576" bIns="27432" anchor="ctr">
            <a:spAutoFit/>
          </a:bodyPr>
          <a:lstStyle/>
          <a:p>
            <a:pPr>
              <a:defRPr sz="2400" b="1">
                <a:solidFill>
                  <a:srgbClr val="112240"/>
                </a:solidFill>
                <a:latin typeface="Aptos"/>
              </a:defRPr>
            </a:pPr>
            <a:r>
              <a:t>Birleşik risk görünümü: 35 depo, 82 bulgu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115568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27432" anchor="ctr">
            <a:spAutoFit/>
          </a:bodyPr>
          <a:lstStyle/>
          <a:p>
            <a:pPr>
              <a:defRPr sz="1100" b="0">
                <a:solidFill>
                  <a:srgbClr val="637389"/>
                </a:solidFill>
                <a:latin typeface="Aptos"/>
              </a:defRPr>
            </a:pPr>
            <a:r>
              <a:t>Kanun 5464 + Yönetmelik 11180 · Sağlanan birleşik HTML raporundaki ölçümler</a:t>
            </a:r>
          </a:p>
        </p:txBody>
      </p:sp>
      <p:sp>
        <p:nvSpPr>
          <p:cNvPr id="5" name="Rectangle 4"/>
          <p:cNvSpPr/>
          <p:nvPr/>
        </p:nvSpPr>
        <p:spPr>
          <a:xfrm>
            <a:off x="621792" y="1737360"/>
            <a:ext cx="2615184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21792" y="1737360"/>
            <a:ext cx="73152" cy="1051560"/>
          </a:xfrm>
          <a:prstGeom prst="rect">
            <a:avLst/>
          </a:prstGeom>
          <a:solidFill>
            <a:srgbClr val="00AF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847088"/>
            <a:ext cx="2240280" cy="438912"/>
          </a:xfrm>
          <a:prstGeom prst="rect">
            <a:avLst/>
          </a:prstGeom>
          <a:noFill/>
        </p:spPr>
        <p:txBody>
          <a:bodyPr wrap="square" lIns="73152" rIns="73152" tIns="36576" bIns="27432" anchor="ctr">
            <a:spAutoFit/>
          </a:bodyPr>
          <a:lstStyle/>
          <a:p>
            <a:pPr>
              <a:defRPr sz="2500" b="1">
                <a:solidFill>
                  <a:srgbClr val="112240"/>
                </a:solidFill>
                <a:latin typeface="Aptos"/>
              </a:defRPr>
            </a:pPr>
            <a:r>
              <a:t>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331720"/>
            <a:ext cx="2240280" cy="274320"/>
          </a:xfrm>
          <a:prstGeom prst="rect">
            <a:avLst/>
          </a:prstGeom>
          <a:noFill/>
        </p:spPr>
        <p:txBody>
          <a:bodyPr wrap="square" lIns="73152" rIns="73152" tIns="36576" bIns="27432" anchor="ctr">
            <a:spAutoFit/>
          </a:bodyPr>
          <a:lstStyle/>
          <a:p>
            <a:pPr>
              <a:defRPr sz="1000" b="0">
                <a:solidFill>
                  <a:srgbClr val="637389"/>
                </a:solidFill>
                <a:latin typeface="Aptos"/>
              </a:defRPr>
            </a:pPr>
            <a:r>
              <a:t>taranan depo</a:t>
            </a:r>
          </a:p>
        </p:txBody>
      </p:sp>
      <p:sp>
        <p:nvSpPr>
          <p:cNvPr id="9" name="Rectangle 8"/>
          <p:cNvSpPr/>
          <p:nvPr/>
        </p:nvSpPr>
        <p:spPr>
          <a:xfrm>
            <a:off x="3474720" y="1737360"/>
            <a:ext cx="2615184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474720" y="1737360"/>
            <a:ext cx="73152" cy="1051560"/>
          </a:xfrm>
          <a:prstGeom prst="rect">
            <a:avLst/>
          </a:prstGeom>
          <a:solidFill>
            <a:srgbClr val="D65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0" y="1847088"/>
            <a:ext cx="2240280" cy="438912"/>
          </a:xfrm>
          <a:prstGeom prst="rect">
            <a:avLst/>
          </a:prstGeom>
          <a:noFill/>
        </p:spPr>
        <p:txBody>
          <a:bodyPr wrap="square" lIns="73152" rIns="73152" tIns="36576" bIns="27432" anchor="ctr">
            <a:spAutoFit/>
          </a:bodyPr>
          <a:lstStyle/>
          <a:p>
            <a:pPr>
              <a:defRPr sz="2500" b="1">
                <a:solidFill>
                  <a:srgbClr val="112240"/>
                </a:solidFill>
                <a:latin typeface="Aptos"/>
              </a:defRPr>
            </a:pPr>
            <a:r>
              <a:t>82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0" y="2331720"/>
            <a:ext cx="2240280" cy="274320"/>
          </a:xfrm>
          <a:prstGeom prst="rect">
            <a:avLst/>
          </a:prstGeom>
          <a:noFill/>
        </p:spPr>
        <p:txBody>
          <a:bodyPr wrap="square" lIns="73152" rIns="73152" tIns="36576" bIns="27432" anchor="ctr">
            <a:spAutoFit/>
          </a:bodyPr>
          <a:lstStyle/>
          <a:p>
            <a:pPr>
              <a:defRPr sz="1000" b="0">
                <a:solidFill>
                  <a:srgbClr val="637389"/>
                </a:solidFill>
                <a:latin typeface="Aptos"/>
              </a:defRPr>
            </a:pPr>
            <a:r>
              <a:t>toplam bulgu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27648" y="1737360"/>
            <a:ext cx="2615184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27648" y="1737360"/>
            <a:ext cx="73152" cy="1051560"/>
          </a:xfrm>
          <a:prstGeom prst="rect">
            <a:avLst/>
          </a:prstGeom>
          <a:solidFill>
            <a:srgbClr val="35BE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10528" y="1847088"/>
            <a:ext cx="2240280" cy="438912"/>
          </a:xfrm>
          <a:prstGeom prst="rect">
            <a:avLst/>
          </a:prstGeom>
          <a:noFill/>
        </p:spPr>
        <p:txBody>
          <a:bodyPr wrap="square" lIns="73152" rIns="73152" tIns="36576" bIns="27432" anchor="ctr">
            <a:spAutoFit/>
          </a:bodyPr>
          <a:lstStyle/>
          <a:p>
            <a:pPr>
              <a:defRPr sz="2500" b="1">
                <a:solidFill>
                  <a:srgbClr val="112240"/>
                </a:solidFill>
                <a:latin typeface="Aptos"/>
              </a:defRPr>
            </a:pPr>
            <a:r>
              <a:t>%67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10528" y="2331720"/>
            <a:ext cx="2240280" cy="274320"/>
          </a:xfrm>
          <a:prstGeom prst="rect">
            <a:avLst/>
          </a:prstGeom>
          <a:noFill/>
        </p:spPr>
        <p:txBody>
          <a:bodyPr wrap="square" lIns="73152" rIns="73152" tIns="36576" bIns="27432" anchor="ctr">
            <a:spAutoFit/>
          </a:bodyPr>
          <a:lstStyle/>
          <a:p>
            <a:pPr>
              <a:defRPr sz="1000" b="0">
                <a:solidFill>
                  <a:srgbClr val="637389"/>
                </a:solidFill>
                <a:latin typeface="Aptos"/>
              </a:defRPr>
            </a:pPr>
            <a:r>
              <a:t>uyum · 61 değerlendirme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80576" y="1737360"/>
            <a:ext cx="2615184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180576" y="1737360"/>
            <a:ext cx="73152" cy="1051560"/>
          </a:xfrm>
          <a:prstGeom prst="rect">
            <a:avLst/>
          </a:prstGeom>
          <a:solidFill>
            <a:srgbClr val="F8B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63455" y="1847088"/>
            <a:ext cx="2240280" cy="438912"/>
          </a:xfrm>
          <a:prstGeom prst="rect">
            <a:avLst/>
          </a:prstGeom>
          <a:noFill/>
        </p:spPr>
        <p:txBody>
          <a:bodyPr wrap="square" lIns="73152" rIns="73152" tIns="36576" bIns="27432" anchor="ctr">
            <a:spAutoFit/>
          </a:bodyPr>
          <a:lstStyle/>
          <a:p>
            <a:pPr>
              <a:defRPr sz="2500" b="1">
                <a:solidFill>
                  <a:srgbClr val="112240"/>
                </a:solidFill>
                <a:latin typeface="Aptos"/>
              </a:defRPr>
            </a:pPr>
            <a:r>
              <a:t>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63455" y="2331720"/>
            <a:ext cx="2240280" cy="274320"/>
          </a:xfrm>
          <a:prstGeom prst="rect">
            <a:avLst/>
          </a:prstGeom>
          <a:noFill/>
        </p:spPr>
        <p:txBody>
          <a:bodyPr wrap="square" lIns="73152" rIns="73152" tIns="36576" bIns="27432" anchor="ctr">
            <a:spAutoFit/>
          </a:bodyPr>
          <a:lstStyle/>
          <a:p>
            <a:pPr>
              <a:defRPr sz="1000" b="0">
                <a:solidFill>
                  <a:srgbClr val="637389"/>
                </a:solidFill>
                <a:latin typeface="Aptos"/>
              </a:defRPr>
            </a:pPr>
            <a:r>
              <a:t>Doğrulanmalı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3232" y="3108960"/>
            <a:ext cx="1828800" cy="274320"/>
          </a:xfrm>
          <a:prstGeom prst="rect">
            <a:avLst/>
          </a:prstGeom>
          <a:noFill/>
        </p:spPr>
        <p:txBody>
          <a:bodyPr wrap="square" lIns="73152" rIns="73152" tIns="36576" bIns="27432" anchor="ctr">
            <a:spAutoFit/>
          </a:bodyPr>
          <a:lstStyle/>
          <a:p>
            <a:pPr>
              <a:defRPr sz="1400" b="1">
                <a:solidFill>
                  <a:srgbClr val="112240"/>
                </a:solidFill>
                <a:latin typeface="Aptos"/>
              </a:defRPr>
            </a:pPr>
            <a:r>
              <a:t>Bulgu dağılımı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3232" y="3456432"/>
            <a:ext cx="10789920" cy="384048"/>
          </a:xfrm>
          <a:prstGeom prst="rect">
            <a:avLst/>
          </a:prstGeom>
          <a:noFill/>
        </p:spPr>
        <p:txBody>
          <a:bodyPr wrap="square" lIns="73152" rIns="73152" tIns="36576" bIns="27432" anchor="ctr">
            <a:spAutoFit/>
          </a:bodyPr>
          <a:lstStyle/>
          <a:p>
            <a:pPr>
              <a:defRPr sz="1300" b="1">
                <a:solidFill>
                  <a:srgbClr val="223045"/>
                </a:solidFill>
                <a:latin typeface="Aptos"/>
              </a:defRPr>
            </a:pPr>
            <a:r>
              <a:t>24 KRİTİK   ·   23 YÜKSEK   ·   21 ORTA   ·   9 DÜŞÜK   ·   5 BİLGİ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1792" y="4160520"/>
            <a:ext cx="10972800" cy="1234440"/>
          </a:xfrm>
          <a:prstGeom prst="rect">
            <a:avLst/>
          </a:prstGeom>
          <a:solidFill>
            <a:srgbClr val="E7F0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50392" y="4325112"/>
            <a:ext cx="10469880" cy="868680"/>
          </a:xfrm>
          <a:prstGeom prst="rect">
            <a:avLst/>
          </a:prstGeom>
          <a:noFill/>
        </p:spPr>
        <p:txBody>
          <a:bodyPr wrap="square" lIns="73152" rIns="73152" tIns="36576" bIns="27432" anchor="ctr">
            <a:spAutoFit/>
          </a:bodyPr>
          <a:lstStyle/>
          <a:p>
            <a:pPr>
              <a:defRPr sz="1300" b="0">
                <a:solidFill>
                  <a:srgbClr val="112240"/>
                </a:solidFill>
                <a:latin typeface="Aptos"/>
              </a:defRPr>
            </a:pPr>
            <a:r>
              <a:t>61 hüküm-depo değerlendirmesi: 41 uyumlu · 10 kısmi · 10 ihlal riski</a:t>
            </a:r>
          </a:p>
          <a:p>
            <a:pPr>
              <a:defRPr sz="1300" b="0">
                <a:solidFill>
                  <a:srgbClr val="112240"/>
                </a:solidFill>
                <a:latin typeface="Aptos"/>
              </a:defRPr>
            </a:pPr>
            <a:r>
              <a:t>Depo bazında en yüksek risk: 17 kritik · 8 yüksek · 10 orta</a:t>
            </a:r>
          </a:p>
          <a:p>
            <a:pPr>
              <a:defRPr sz="1300" b="0">
                <a:solidFill>
                  <a:srgbClr val="112240"/>
                </a:solidFill>
                <a:latin typeface="Aptos"/>
              </a:defRPr>
            </a:pPr>
            <a:r>
              <a:t>Kaynak dayanağı: 13 RAG chunk + 9 DB-RAG atfı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5806440"/>
            <a:ext cx="10881360" cy="274320"/>
          </a:xfrm>
          <a:prstGeom prst="rect">
            <a:avLst/>
          </a:prstGeom>
          <a:noFill/>
        </p:spPr>
        <p:txBody>
          <a:bodyPr wrap="square" lIns="73152" rIns="73152" tIns="36576" bIns="27432" anchor="ctr">
            <a:spAutoFit/>
          </a:bodyPr>
          <a:lstStyle/>
          <a:p>
            <a:pPr>
              <a:defRPr sz="1000" b="0">
                <a:solidFill>
                  <a:srgbClr val="637389"/>
                </a:solidFill>
                <a:latin typeface="Aptos"/>
              </a:defRPr>
            </a:pPr>
            <a:r>
              <a:t>Kaynak rapor ölçümleri; bağımsız yeniden tarama veya hukuki görüş değildir.</a:t>
            </a:r>
          </a:p>
        </p:txBody>
      </p:sp>
      <p:pic>
        <p:nvPicPr>
          <p:cNvPr id="26" name="Picture 25" descr="softtech-logo-light-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85248" y="6382512"/>
            <a:ext cx="960120" cy="416755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74320"/>
            <a:ext cx="10972800" cy="228600"/>
          </a:xfrm>
          <a:prstGeom prst="rect">
            <a:avLst/>
          </a:prstGeom>
          <a:noFill/>
        </p:spPr>
        <p:txBody>
          <a:bodyPr wrap="square" lIns="73152" rIns="73152" tIns="36576" bIns="27432" anchor="ctr">
            <a:spAutoFit/>
          </a:bodyPr>
          <a:lstStyle/>
          <a:p>
            <a:pPr>
              <a:defRPr sz="1000" b="1">
                <a:solidFill>
                  <a:srgbClr val="00AFA0"/>
                </a:solidFill>
                <a:latin typeface="Aptos"/>
              </a:defRPr>
            </a:pPr>
            <a:r>
              <a:t>REMEDIATION · TUR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94360"/>
            <a:ext cx="10972800" cy="502920"/>
          </a:xfrm>
          <a:prstGeom prst="rect">
            <a:avLst/>
          </a:prstGeom>
          <a:noFill/>
        </p:spPr>
        <p:txBody>
          <a:bodyPr wrap="square" lIns="73152" rIns="73152" tIns="36576" bIns="27432" anchor="ctr">
            <a:spAutoFit/>
          </a:bodyPr>
          <a:lstStyle/>
          <a:p>
            <a:pPr>
              <a:defRPr sz="2400" b="1">
                <a:solidFill>
                  <a:srgbClr val="112240"/>
                </a:solidFill>
                <a:latin typeface="Aptos"/>
              </a:defRPr>
            </a:pPr>
            <a:r>
              <a:t>Kullanıcı onayıyla seçilen beş kritik bulgu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115568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27432" anchor="ctr">
            <a:spAutoFit/>
          </a:bodyPr>
          <a:lstStyle/>
          <a:p>
            <a:pPr>
              <a:defRPr sz="1100" b="0">
                <a:solidFill>
                  <a:srgbClr val="637389"/>
                </a:solidFill>
                <a:latin typeface="Aptos"/>
              </a:defRPr>
            </a:pPr>
            <a:r>
              <a:t>Fark raporu: 5 depo · 9 dosya · +89 / -10 satır · test/PR sonucu bu rapordan doğrulanmıyor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21792" y="1691640"/>
          <a:ext cx="10972800" cy="4160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2926080"/>
                <a:gridCol w="6949440"/>
              </a:tblGrid>
              <a:tr h="69342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Bulgu</a:t>
                      </a:r>
                    </a:p>
                  </a:txBody>
                  <a:tcPr marL="91440" marR="73152" marT="36576" marB="27432"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Alan</a:t>
                      </a:r>
                    </a:p>
                  </a:txBody>
                  <a:tcPr marL="91440" marR="73152" marT="36576" marB="27432"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Fark raporundaki düzeltme özeti</a:t>
                      </a:r>
                    </a:p>
                  </a:txBody>
                  <a:tcPr marL="91440" marR="73152" marT="36576" marB="27432">
                    <a:solidFill>
                      <a:srgbClr val="112240"/>
                    </a:solidFill>
                  </a:tcPr>
                </a:tc>
              </a:tr>
              <a:tr h="69342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3045"/>
                          </a:solidFill>
                          <a:latin typeface="Aptos"/>
                        </a:defRPr>
                      </a:pPr>
                      <a:r>
                        <a:t>RISK-C05</a:t>
                      </a:r>
                    </a:p>
                  </a:txBody>
                  <a:tcPr marL="91440" marR="73152" marT="36576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3045"/>
                          </a:solidFill>
                          <a:latin typeface="Aptos"/>
                        </a:defRPr>
                      </a:pPr>
                      <a:r>
                        <a:t>Safir.Abex · Kimlik bilgisi</a:t>
                      </a:r>
                    </a:p>
                  </a:txBody>
                  <a:tcPr marL="91440" marR="73152" marT="36576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3045"/>
                          </a:solidFill>
                          <a:latin typeface="Aptos"/>
                        </a:defRPr>
                      </a:pPr>
                      <a:r>
                        <a:t>Kod içindeki Basic-auth sabitini kaldırıp yapılandırma/secret store üzerinden okumak; mevcut credential rotasyonu ayrıca izlenmeli.</a:t>
                      </a:r>
                    </a:p>
                  </a:txBody>
                  <a:tcPr marL="91440" marR="73152" marT="36576" marB="27432">
                    <a:solidFill>
                      <a:srgbClr val="FFFFFF"/>
                    </a:solidFill>
                  </a:tcPr>
                </a:tc>
              </a:tr>
              <a:tr h="69342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3045"/>
                          </a:solidFill>
                          <a:latin typeface="Aptos"/>
                        </a:defRPr>
                      </a:pPr>
                      <a:r>
                        <a:t>RISK-C08</a:t>
                      </a:r>
                    </a:p>
                  </a:txBody>
                  <a:tcPr marL="91440" marR="73152" marT="36576" marB="27432">
                    <a:solidFill>
                      <a:srgbClr val="E7F0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3045"/>
                          </a:solidFill>
                          <a:latin typeface="Aptos"/>
                        </a:defRPr>
                      </a:pPr>
                      <a:r>
                        <a:t>safir-online-sobe · Eşleşme ve log</a:t>
                      </a:r>
                    </a:p>
                  </a:txBody>
                  <a:tcPr marL="91440" marR="73152" marT="36576" marB="27432">
                    <a:solidFill>
                      <a:srgbClr val="E7F0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3045"/>
                          </a:solidFill>
                          <a:latin typeface="Aptos"/>
                        </a:defRPr>
                      </a:pPr>
                      <a:r>
                        <a:t>ZERO_CVV merchant eşleşmesini tam eşleşmeye çevirmek; PIN/F55 benzeri hassas trace alanlarını maskelemek.</a:t>
                      </a:r>
                    </a:p>
                  </a:txBody>
                  <a:tcPr marL="91440" marR="73152" marT="36576" marB="27432">
                    <a:solidFill>
                      <a:srgbClr val="E7F0FA"/>
                    </a:solidFill>
                  </a:tcPr>
                </a:tc>
              </a:tr>
              <a:tr h="69342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3045"/>
                          </a:solidFill>
                          <a:latin typeface="Aptos"/>
                        </a:defRPr>
                      </a:pPr>
                      <a:r>
                        <a:t>RISK-C09</a:t>
                      </a:r>
                    </a:p>
                  </a:txBody>
                  <a:tcPr marL="91440" marR="73152" marT="36576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3045"/>
                          </a:solidFill>
                          <a:latin typeface="Aptos"/>
                        </a:defRPr>
                      </a:pPr>
                      <a:r>
                        <a:t>acqua-dcc-monex · DCC teklif akışı</a:t>
                      </a:r>
                    </a:p>
                  </a:txBody>
                  <a:tcPr marL="91440" marR="73152" marT="36576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3045"/>
                          </a:solidFill>
                          <a:latin typeface="Aptos"/>
                        </a:defRPr>
                      </a:pPr>
                      <a:r>
                        <a:t>İstek kimliğiyle idempotency sağlamak ve geçersiz kur değerlerini POS'a dönmeden önce reddetmek.</a:t>
                      </a:r>
                    </a:p>
                  </a:txBody>
                  <a:tcPr marL="91440" marR="73152" marT="36576" marB="27432">
                    <a:solidFill>
                      <a:srgbClr val="FFFFFF"/>
                    </a:solidFill>
                  </a:tcPr>
                </a:tc>
              </a:tr>
              <a:tr h="69342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3045"/>
                          </a:solidFill>
                          <a:latin typeface="Aptos"/>
                        </a:defRPr>
                      </a:pPr>
                      <a:r>
                        <a:t>RISK-C10</a:t>
                      </a:r>
                    </a:p>
                  </a:txBody>
                  <a:tcPr marL="91440" marR="73152" marT="36576" marB="27432">
                    <a:solidFill>
                      <a:srgbClr val="E7F0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3045"/>
                          </a:solidFill>
                          <a:latin typeface="Aptos"/>
                        </a:defRPr>
                      </a:pPr>
                      <a:r>
                        <a:t>acqua-cassandra-data-archiver · Arşiv</a:t>
                      </a:r>
                    </a:p>
                  </a:txBody>
                  <a:tcPr marL="91440" marR="73152" marT="36576" marB="27432">
                    <a:solidFill>
                      <a:srgbClr val="E7F0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3045"/>
                          </a:solidFill>
                          <a:latin typeface="Aptos"/>
                        </a:defRPr>
                      </a:pPr>
                      <a:r>
                        <a:t>S3 yüklemesini nesne metadata/boyut doğrulamasıyla teyit etmeden kaynak kayıtlarını silmemek.</a:t>
                      </a:r>
                    </a:p>
                  </a:txBody>
                  <a:tcPr marL="91440" marR="73152" marT="36576" marB="27432">
                    <a:solidFill>
                      <a:srgbClr val="E7F0FA"/>
                    </a:solidFill>
                  </a:tcPr>
                </a:tc>
              </a:tr>
              <a:tr h="69342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3045"/>
                          </a:solidFill>
                          <a:latin typeface="Aptos"/>
                        </a:defRPr>
                      </a:pPr>
                      <a:r>
                        <a:t>RISK-C11</a:t>
                      </a:r>
                    </a:p>
                  </a:txBody>
                  <a:tcPr marL="91440" marR="73152" marT="36576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3045"/>
                          </a:solidFill>
                          <a:latin typeface="Aptos"/>
                        </a:defRPr>
                      </a:pPr>
                      <a:r>
                        <a:t>acqua-rrn-generator · Sayaç</a:t>
                      </a:r>
                    </a:p>
                  </a:txBody>
                  <a:tcPr marL="91440" marR="73152" marT="36576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3045"/>
                          </a:solidFill>
                          <a:latin typeface="Aptos"/>
                        </a:defRPr>
                      </a:pPr>
                      <a:r>
                        <a:t>Cassandra LWT [applied] sonucunu denetlemek; başarısızlıkta sınırlı yeniden deneme ve açık hata üretmek.</a:t>
                      </a:r>
                    </a:p>
                  </a:txBody>
                  <a:tcPr marL="91440" marR="73152" marT="36576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85800" y="6016752"/>
            <a:ext cx="10972800" cy="274320"/>
          </a:xfrm>
          <a:prstGeom prst="rect">
            <a:avLst/>
          </a:prstGeom>
          <a:noFill/>
        </p:spPr>
        <p:txBody>
          <a:bodyPr wrap="square" lIns="73152" rIns="73152" tIns="36576" bIns="27432" anchor="ctr">
            <a:spAutoFit/>
          </a:bodyPr>
          <a:lstStyle/>
          <a:p>
            <a:pPr>
              <a:defRPr sz="900" b="0">
                <a:solidFill>
                  <a:srgbClr val="637389"/>
                </a:solidFill>
                <a:latin typeface="Aptos"/>
              </a:defRPr>
            </a:pPr>
            <a:r>
              <a:t>Credential/token örnekleri sunuma aktarılmadı; rotasyon ve Git geçmişi temizliği ayrı operasyonel işlerdir.</a:t>
            </a:r>
          </a:p>
        </p:txBody>
      </p:sp>
      <p:pic>
        <p:nvPicPr>
          <p:cNvPr id="7" name="Picture 6" descr="softtech-logo-light-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85248" y="6382512"/>
            <a:ext cx="960120" cy="416755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74320"/>
            <a:ext cx="10972800" cy="228600"/>
          </a:xfrm>
          <a:prstGeom prst="rect">
            <a:avLst/>
          </a:prstGeom>
          <a:noFill/>
        </p:spPr>
        <p:txBody>
          <a:bodyPr wrap="square" lIns="73152" rIns="73152" tIns="36576" bIns="27432" anchor="ctr">
            <a:spAutoFit/>
          </a:bodyPr>
          <a:lstStyle/>
          <a:p>
            <a:pPr>
              <a:defRPr sz="1000" b="1">
                <a:solidFill>
                  <a:srgbClr val="00AFA0"/>
                </a:solidFill>
                <a:latin typeface="Aptos"/>
              </a:defRPr>
            </a:pPr>
            <a:r>
              <a:t>KAPANIŞ · DOĞRULAMA DURUMU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94360"/>
            <a:ext cx="10972800" cy="502920"/>
          </a:xfrm>
          <a:prstGeom prst="rect">
            <a:avLst/>
          </a:prstGeom>
          <a:noFill/>
        </p:spPr>
        <p:txBody>
          <a:bodyPr wrap="square" lIns="73152" rIns="73152" tIns="36576" bIns="27432" anchor="ctr">
            <a:spAutoFit/>
          </a:bodyPr>
          <a:lstStyle/>
          <a:p>
            <a:pPr>
              <a:defRPr sz="2400" b="1">
                <a:solidFill>
                  <a:srgbClr val="112240"/>
                </a:solidFill>
                <a:latin typeface="Aptos"/>
              </a:defRPr>
            </a:pPr>
            <a:r>
              <a:t>Fark raporu sonuç kanıtı değildir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115568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27432" anchor="ctr">
            <a:spAutoFit/>
          </a:bodyPr>
          <a:lstStyle/>
          <a:p>
            <a:pPr>
              <a:defRPr sz="1100" b="0">
                <a:solidFill>
                  <a:srgbClr val="637389"/>
                </a:solidFill>
                <a:latin typeface="Aptos"/>
              </a:defRPr>
            </a:pPr>
            <a:r>
              <a:t>Kod farkı, test sonucu, canlı PR ve operasyonel riskler ayrı ayrı doğrulanmalıdır.</a:t>
            </a:r>
          </a:p>
        </p:txBody>
      </p:sp>
      <p:sp>
        <p:nvSpPr>
          <p:cNvPr id="5" name="Rectangle 4"/>
          <p:cNvSpPr/>
          <p:nvPr/>
        </p:nvSpPr>
        <p:spPr>
          <a:xfrm>
            <a:off x="621792" y="1828800"/>
            <a:ext cx="3456432" cy="2103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21792" y="1828800"/>
            <a:ext cx="3456432" cy="91440"/>
          </a:xfrm>
          <a:prstGeom prst="rect">
            <a:avLst/>
          </a:prstGeom>
          <a:solidFill>
            <a:srgbClr val="35BE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" y="2057400"/>
            <a:ext cx="3108960" cy="384048"/>
          </a:xfrm>
          <a:prstGeom prst="rect">
            <a:avLst/>
          </a:prstGeom>
          <a:noFill/>
        </p:spPr>
        <p:txBody>
          <a:bodyPr wrap="square" lIns="73152" rIns="73152" tIns="36576" bIns="27432" anchor="ctr">
            <a:spAutoFit/>
          </a:bodyPr>
          <a:lstStyle/>
          <a:p>
            <a:pPr>
              <a:defRPr sz="1500" b="1">
                <a:solidFill>
                  <a:srgbClr val="112240"/>
                </a:solidFill>
                <a:latin typeface="Aptos"/>
              </a:defRPr>
            </a:pPr>
            <a:r>
              <a:t>Açık doğrulama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2578608"/>
            <a:ext cx="3108960" cy="1097280"/>
          </a:xfrm>
          <a:prstGeom prst="rect">
            <a:avLst/>
          </a:prstGeom>
          <a:noFill/>
        </p:spPr>
        <p:txBody>
          <a:bodyPr wrap="square" lIns="73152" rIns="73152" tIns="36576" bIns="27432" anchor="ctr">
            <a:spAutoFit/>
          </a:bodyPr>
          <a:lstStyle/>
          <a:p>
            <a:pPr>
              <a:defRPr sz="1100" b="0">
                <a:solidFill>
                  <a:srgbClr val="223045"/>
                </a:solidFill>
                <a:latin typeface="Aptos"/>
              </a:defRPr>
            </a:pPr>
            <a:r>
              <a:t>3 madde kaynak raporda “Doğrulanmalı”.</a:t>
            </a:r>
          </a:p>
          <a:p>
            <a:pPr>
              <a:defRPr sz="1100" b="0">
                <a:solidFill>
                  <a:srgbClr val="223045"/>
                </a:solidFill>
                <a:latin typeface="Aptos"/>
              </a:defRPr>
            </a:pPr>
            <a:r>
              <a:t>İş kararı, ortam ayarı veya istemci davranışı netleştirilmeli.</a:t>
            </a:r>
          </a:p>
        </p:txBody>
      </p:sp>
      <p:sp>
        <p:nvSpPr>
          <p:cNvPr id="9" name="Rectangle 8"/>
          <p:cNvSpPr/>
          <p:nvPr/>
        </p:nvSpPr>
        <p:spPr>
          <a:xfrm>
            <a:off x="4325112" y="1828800"/>
            <a:ext cx="3456432" cy="2103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25112" y="1828800"/>
            <a:ext cx="3456432" cy="91440"/>
          </a:xfrm>
          <a:prstGeom prst="rect">
            <a:avLst/>
          </a:prstGeom>
          <a:solidFill>
            <a:srgbClr val="F8B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89703" y="2057400"/>
            <a:ext cx="3108960" cy="384048"/>
          </a:xfrm>
          <a:prstGeom prst="rect">
            <a:avLst/>
          </a:prstGeom>
          <a:noFill/>
        </p:spPr>
        <p:txBody>
          <a:bodyPr wrap="square" lIns="73152" rIns="73152" tIns="36576" bIns="27432" anchor="ctr">
            <a:spAutoFit/>
          </a:bodyPr>
          <a:lstStyle/>
          <a:p>
            <a:pPr>
              <a:defRPr sz="1500" b="1">
                <a:solidFill>
                  <a:srgbClr val="112240"/>
                </a:solidFill>
                <a:latin typeface="Aptos"/>
              </a:defRPr>
            </a:pPr>
            <a:r>
              <a:t>Ayrı operasyon işleri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9703" y="2578608"/>
            <a:ext cx="3108960" cy="1097280"/>
          </a:xfrm>
          <a:prstGeom prst="rect">
            <a:avLst/>
          </a:prstGeom>
          <a:noFill/>
        </p:spPr>
        <p:txBody>
          <a:bodyPr wrap="square" lIns="73152" rIns="73152" tIns="36576" bIns="27432" anchor="ctr">
            <a:spAutoFit/>
          </a:bodyPr>
          <a:lstStyle/>
          <a:p>
            <a:pPr>
              <a:defRPr sz="1100" b="0">
                <a:solidFill>
                  <a:srgbClr val="223045"/>
                </a:solidFill>
                <a:latin typeface="Aptos"/>
              </a:defRPr>
            </a:pPr>
            <a:r>
              <a:t>Credential rotasyonu / vault ve altyapı-konfigürasyon işleri.</a:t>
            </a:r>
          </a:p>
          <a:p>
            <a:pPr>
              <a:defRPr sz="1100" b="0">
                <a:solidFill>
                  <a:srgbClr val="223045"/>
                </a:solidFill>
                <a:latin typeface="Aptos"/>
              </a:defRPr>
            </a:pPr>
            <a:r>
              <a:t>Kod farkı bu işleri tek başına kapatmaz.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28431" y="1828800"/>
            <a:ext cx="3456432" cy="2103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28431" y="1828800"/>
            <a:ext cx="3456432" cy="91440"/>
          </a:xfrm>
          <a:prstGeom prst="rect">
            <a:avLst/>
          </a:prstGeom>
          <a:solidFill>
            <a:srgbClr val="00AF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93023" y="2057400"/>
            <a:ext cx="3108960" cy="384048"/>
          </a:xfrm>
          <a:prstGeom prst="rect">
            <a:avLst/>
          </a:prstGeom>
          <a:noFill/>
        </p:spPr>
        <p:txBody>
          <a:bodyPr wrap="square" lIns="73152" rIns="73152" tIns="36576" bIns="27432" anchor="ctr">
            <a:spAutoFit/>
          </a:bodyPr>
          <a:lstStyle/>
          <a:p>
            <a:pPr>
              <a:defRPr sz="1500" b="1">
                <a:solidFill>
                  <a:srgbClr val="112240"/>
                </a:solidFill>
                <a:latin typeface="Aptos"/>
              </a:defRPr>
            </a:pPr>
            <a:r>
              <a:t>Sonraki kapılar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93023" y="2578608"/>
            <a:ext cx="3108960" cy="1097280"/>
          </a:xfrm>
          <a:prstGeom prst="rect">
            <a:avLst/>
          </a:prstGeom>
          <a:noFill/>
        </p:spPr>
        <p:txBody>
          <a:bodyPr wrap="square" lIns="73152" rIns="73152" tIns="36576" bIns="27432" anchor="ctr">
            <a:spAutoFit/>
          </a:bodyPr>
          <a:lstStyle/>
          <a:p>
            <a:pPr>
              <a:defRPr sz="1100" b="0">
                <a:solidFill>
                  <a:srgbClr val="223045"/>
                </a:solidFill>
                <a:latin typeface="Aptos"/>
              </a:defRPr>
            </a:pPr>
            <a:r>
              <a:t>Testleri çalıştır ve sonuçları kaydet.</a:t>
            </a:r>
          </a:p>
          <a:p>
            <a:pPr>
              <a:defRPr sz="1100" b="0">
                <a:solidFill>
                  <a:srgbClr val="223045"/>
                </a:solidFill>
                <a:latin typeface="Aptos"/>
              </a:defRPr>
            </a:pPr>
            <a:r>
              <a:t>Diff'i gözden geçir; gerçek PR durumunu GitHub'da doğrula.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1792" y="4370832"/>
            <a:ext cx="10972800" cy="914400"/>
          </a:xfrm>
          <a:prstGeom prst="rect">
            <a:avLst/>
          </a:prstGeom>
          <a:solidFill>
            <a:srgbClr val="FFF6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4553712"/>
            <a:ext cx="10469880" cy="548640"/>
          </a:xfrm>
          <a:prstGeom prst="rect">
            <a:avLst/>
          </a:prstGeom>
          <a:noFill/>
        </p:spPr>
        <p:txBody>
          <a:bodyPr wrap="square" lIns="73152" rIns="73152" tIns="36576" bIns="27432" anchor="ctr">
            <a:spAutoFit/>
          </a:bodyPr>
          <a:lstStyle/>
          <a:p>
            <a:pPr>
              <a:defRPr sz="1200" b="1">
                <a:solidFill>
                  <a:srgbClr val="112240"/>
                </a:solidFill>
                <a:latin typeface="Aptos"/>
              </a:defRPr>
            </a:pPr>
            <a:r>
              <a:t>Sınır: Bu ek, verilen raporları özetler. Kaynak depolar yeniden taranmadı; testlerin geçtiği veya PR'ın açıldığı iddia edilmez.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806440"/>
            <a:ext cx="10881360" cy="274320"/>
          </a:xfrm>
          <a:prstGeom prst="rect">
            <a:avLst/>
          </a:prstGeom>
          <a:noFill/>
        </p:spPr>
        <p:txBody>
          <a:bodyPr wrap="square" lIns="73152" rIns="73152" tIns="36576" bIns="27432" anchor="ctr">
            <a:spAutoFit/>
          </a:bodyPr>
          <a:lstStyle/>
          <a:p>
            <a:pPr>
              <a:defRPr sz="1000" b="0">
                <a:solidFill>
                  <a:srgbClr val="637389"/>
                </a:solidFill>
                <a:latin typeface="Aptos"/>
              </a:defRPr>
            </a:pPr>
            <a:r>
              <a:t>Güvenli paylaşım için credential/token değerleri eklerden çıkarılmıştır.</a:t>
            </a:r>
          </a:p>
        </p:txBody>
      </p:sp>
      <p:pic>
        <p:nvPicPr>
          <p:cNvPr id="20" name="Picture 19" descr="softtech-logo-light-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85248" y="6382512"/>
            <a:ext cx="960120" cy="416755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74320"/>
            <a:ext cx="10972800" cy="228600"/>
          </a:xfrm>
          <a:prstGeom prst="rect">
            <a:avLst/>
          </a:prstGeom>
          <a:noFill/>
        </p:spPr>
        <p:txBody>
          <a:bodyPr wrap="square" lIns="73152" rIns="73152" tIns="36576" bIns="27432" anchor="ctr">
            <a:spAutoFit/>
          </a:bodyPr>
          <a:lstStyle/>
          <a:p>
            <a:pPr>
              <a:defRPr sz="1000" b="1">
                <a:solidFill>
                  <a:srgbClr val="00AFA0"/>
                </a:solidFill>
                <a:latin typeface="Aptos"/>
              </a:defRPr>
            </a:pPr>
            <a:r>
              <a:t>KURULUM · AŞAMA GÖRSELİ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94360"/>
            <a:ext cx="10972800" cy="502920"/>
          </a:xfrm>
          <a:prstGeom prst="rect">
            <a:avLst/>
          </a:prstGeom>
          <a:noFill/>
        </p:spPr>
        <p:txBody>
          <a:bodyPr wrap="square" lIns="73152" rIns="73152" tIns="36576" bIns="27432" anchor="ctr">
            <a:spAutoFit/>
          </a:bodyPr>
          <a:lstStyle/>
          <a:p>
            <a:pPr>
              <a:defRPr sz="2400" b="1">
                <a:solidFill>
                  <a:srgbClr val="112240"/>
                </a:solidFill>
                <a:latin typeface="Aptos"/>
              </a:defRPr>
            </a:pPr>
            <a:r>
              <a:t>Kurulum aşamaları ve açık onay kapıları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115568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27432" anchor="ctr">
            <a:spAutoFit/>
          </a:bodyPr>
          <a:lstStyle/>
          <a:p>
            <a:pPr>
              <a:defRPr sz="1100" b="0">
                <a:solidFill>
                  <a:srgbClr val="637389"/>
                </a:solidFill>
                <a:latin typeface="Aptos"/>
              </a:defRPr>
            </a:pPr>
            <a:r>
              <a:t>install.sh kaynak kodundan sıralandı; bu makinede yapılmış bir kurulum kaydı olarak sunulmaz.</a:t>
            </a:r>
          </a:p>
        </p:txBody>
      </p:sp>
      <p:pic>
        <p:nvPicPr>
          <p:cNvPr id="5" name="Picture 4" descr="kurulum_asamalar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" y="1664208"/>
            <a:ext cx="10972800" cy="43159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6071616"/>
            <a:ext cx="9235440" cy="402336"/>
          </a:xfrm>
          <a:prstGeom prst="rect">
            <a:avLst/>
          </a:prstGeom>
          <a:noFill/>
        </p:spPr>
        <p:txBody>
          <a:bodyPr wrap="square" lIns="73152" rIns="73152" tIns="36576" bIns="27432" anchor="ctr">
            <a:spAutoFit/>
          </a:bodyPr>
          <a:lstStyle/>
          <a:p>
            <a:pPr>
              <a:defRPr sz="900" b="0">
                <a:solidFill>
                  <a:srgbClr val="637389"/>
                </a:solidFill>
                <a:latin typeface="Aptos"/>
              </a:defRPr>
            </a:pPr>
            <a:r>
              <a:t>Görsel belge akışını anlatır; Ollama, model, mevzuat indirme ve klonlama adımları ayrıca onay ister.</a:t>
            </a:r>
          </a:p>
        </p:txBody>
      </p:sp>
      <p:pic>
        <p:nvPicPr>
          <p:cNvPr id="7" name="Picture 6" descr="softtech-logo-light-backgrou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85248" y="6382512"/>
            <a:ext cx="960120" cy="416755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74320"/>
            <a:ext cx="10972800" cy="228600"/>
          </a:xfrm>
          <a:prstGeom prst="rect">
            <a:avLst/>
          </a:prstGeom>
          <a:noFill/>
        </p:spPr>
        <p:txBody>
          <a:bodyPr wrap="square" lIns="73152" rIns="73152" tIns="36576" bIns="27432" anchor="ctr">
            <a:spAutoFit/>
          </a:bodyPr>
          <a:lstStyle/>
          <a:p>
            <a:pPr>
              <a:defRPr sz="1000" b="1">
                <a:solidFill>
                  <a:srgbClr val="00AFA0"/>
                </a:solidFill>
                <a:latin typeface="Aptos"/>
              </a:defRPr>
            </a:pPr>
            <a:r>
              <a:t>TEST REPOSU · GERÇEK DOSYA YAPISI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94360"/>
            <a:ext cx="10972800" cy="502920"/>
          </a:xfrm>
          <a:prstGeom prst="rect">
            <a:avLst/>
          </a:prstGeom>
          <a:noFill/>
        </p:spPr>
        <p:txBody>
          <a:bodyPr wrap="square" lIns="73152" rIns="73152" tIns="36576" bIns="27432" anchor="ctr">
            <a:spAutoFit/>
          </a:bodyPr>
          <a:lstStyle/>
          <a:p>
            <a:pPr>
              <a:defRPr sz="2400" b="1">
                <a:solidFill>
                  <a:srgbClr val="112240"/>
                </a:solidFill>
                <a:latin typeface="Aptos"/>
              </a:defRPr>
            </a:pPr>
            <a:r>
              <a:t>İki sentetik demo, on test bulgusu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115568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27432" anchor="ctr">
            <a:spAutoFit/>
          </a:bodyPr>
          <a:lstStyle/>
          <a:p>
            <a:pPr>
              <a:defRPr sz="1100" b="0">
                <a:solidFill>
                  <a:srgbClr val="637389"/>
                </a:solidFill>
                <a:latin typeface="Aptos"/>
              </a:defRPr>
            </a:pPr>
            <a:r>
              <a:t>Depo ağacı mevcut test fixture Git deposundan; içerik yalnızca test için hazırlanmıştır.</a:t>
            </a:r>
          </a:p>
        </p:txBody>
      </p:sp>
      <p:pic>
        <p:nvPicPr>
          <p:cNvPr id="5" name="Picture 4" descr="sentetik_test_depos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" y="1664208"/>
            <a:ext cx="10972800" cy="43159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6071616"/>
            <a:ext cx="9235440" cy="402336"/>
          </a:xfrm>
          <a:prstGeom prst="rect">
            <a:avLst/>
          </a:prstGeom>
          <a:noFill/>
        </p:spPr>
        <p:txBody>
          <a:bodyPr wrap="square" lIns="73152" rIns="73152" tIns="36576" bIns="27432" anchor="ctr">
            <a:spAutoFit/>
          </a:bodyPr>
          <a:lstStyle/>
          <a:p>
            <a:pPr>
              <a:defRPr sz="900" b="0">
                <a:solidFill>
                  <a:srgbClr val="637389"/>
                </a:solidFill>
                <a:latin typeface="Aptos"/>
              </a:defRPr>
            </a:pPr>
            <a:r>
              <a:t>Sentetik fixture; gerçek sistem veya gerçek mevzuat bulgusu değildir.</a:t>
            </a:r>
          </a:p>
        </p:txBody>
      </p:sp>
      <p:pic>
        <p:nvPicPr>
          <p:cNvPr id="7" name="Picture 6" descr="softtech-logo-light-backgrou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85248" y="6382512"/>
            <a:ext cx="960120" cy="416755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74320"/>
            <a:ext cx="10972800" cy="228600"/>
          </a:xfrm>
          <a:prstGeom prst="rect">
            <a:avLst/>
          </a:prstGeom>
          <a:noFill/>
        </p:spPr>
        <p:txBody>
          <a:bodyPr wrap="square" lIns="73152" rIns="73152" tIns="36576" bIns="27432" anchor="ctr">
            <a:spAutoFit/>
          </a:bodyPr>
          <a:lstStyle/>
          <a:p>
            <a:pPr>
              <a:defRPr sz="1000" b="1">
                <a:solidFill>
                  <a:srgbClr val="00AFA0"/>
                </a:solidFill>
                <a:latin typeface="Aptos"/>
              </a:defRPr>
            </a:pPr>
            <a:r>
              <a:t>REMEDIATION · DIFF + TEST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94360"/>
            <a:ext cx="10972800" cy="502920"/>
          </a:xfrm>
          <a:prstGeom prst="rect">
            <a:avLst/>
          </a:prstGeom>
          <a:noFill/>
        </p:spPr>
        <p:txBody>
          <a:bodyPr wrap="square" lIns="73152" rIns="73152" tIns="36576" bIns="27432" anchor="ctr">
            <a:spAutoFit/>
          </a:bodyPr>
          <a:lstStyle/>
          <a:p>
            <a:pPr>
              <a:defRPr sz="2400" b="1">
                <a:solidFill>
                  <a:srgbClr val="112240"/>
                </a:solidFill>
                <a:latin typeface="Aptos"/>
              </a:defRPr>
            </a:pPr>
            <a:r>
              <a:t>Önce / sonra farkı ve kabul testi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115568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27432" anchor="ctr">
            <a:spAutoFit/>
          </a:bodyPr>
          <a:lstStyle/>
          <a:p>
            <a:pPr>
              <a:defRPr sz="1100" b="0">
                <a:solidFill>
                  <a:srgbClr val="637389"/>
                </a:solidFill>
                <a:latin typeface="Aptos"/>
              </a:defRPr>
            </a:pPr>
            <a:r>
              <a:t>Görsel, izole remediation worktree raporundaki iki örnek değişikliği ve test raporunu gösterir.</a:t>
            </a:r>
          </a:p>
        </p:txBody>
      </p:sp>
      <p:pic>
        <p:nvPicPr>
          <p:cNvPr id="5" name="Picture 4" descr="remediation_diff_ve_t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" y="1664208"/>
            <a:ext cx="10972800" cy="43159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6071616"/>
            <a:ext cx="9235440" cy="402336"/>
          </a:xfrm>
          <a:prstGeom prst="rect">
            <a:avLst/>
          </a:prstGeom>
          <a:noFill/>
        </p:spPr>
        <p:txBody>
          <a:bodyPr wrap="square" lIns="73152" rIns="73152" tIns="36576" bIns="27432" anchor="ctr">
            <a:spAutoFit/>
          </a:bodyPr>
          <a:lstStyle/>
          <a:p>
            <a:pPr>
              <a:defRPr sz="900" b="0">
                <a:solidFill>
                  <a:srgbClr val="637389"/>
                </a:solidFill>
                <a:latin typeface="Aptos"/>
              </a:defRPr>
            </a:pPr>
            <a:r>
              <a:t>Test raporunda 2 sentetik kabul testi geçti; hukuki uyumluluk doğrulaması değildir.</a:t>
            </a:r>
          </a:p>
        </p:txBody>
      </p:sp>
      <p:pic>
        <p:nvPicPr>
          <p:cNvPr id="7" name="Picture 6" descr="softtech-logo-light-backgrou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85248" y="6382512"/>
            <a:ext cx="960120" cy="416755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74320"/>
            <a:ext cx="10972800" cy="228600"/>
          </a:xfrm>
          <a:prstGeom prst="rect">
            <a:avLst/>
          </a:prstGeom>
          <a:noFill/>
        </p:spPr>
        <p:txBody>
          <a:bodyPr wrap="square" lIns="73152" rIns="73152" tIns="36576" bIns="27432" anchor="ctr">
            <a:spAutoFit/>
          </a:bodyPr>
          <a:lstStyle/>
          <a:p>
            <a:pPr>
              <a:defRPr sz="1000" b="1">
                <a:solidFill>
                  <a:srgbClr val="00AFA0"/>
                </a:solidFill>
                <a:latin typeface="Aptos"/>
              </a:defRPr>
            </a:pPr>
            <a:r>
              <a:t>PR · YEREL ENTEGRASYON PROVASI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94360"/>
            <a:ext cx="10972800" cy="502920"/>
          </a:xfrm>
          <a:prstGeom prst="rect">
            <a:avLst/>
          </a:prstGeom>
          <a:noFill/>
        </p:spPr>
        <p:txBody>
          <a:bodyPr wrap="square" lIns="73152" rIns="73152" tIns="36576" bIns="27432" anchor="ctr">
            <a:spAutoFit/>
          </a:bodyPr>
          <a:lstStyle/>
          <a:p>
            <a:pPr>
              <a:defRPr sz="2400" b="1">
                <a:solidFill>
                  <a:srgbClr val="112240"/>
                </a:solidFill>
                <a:latin typeface="Aptos"/>
              </a:defRPr>
            </a:pPr>
            <a:r>
              <a:t>Push/PR hattı güvenli test ortamında denendi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115568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27432" anchor="ctr">
            <a:spAutoFit/>
          </a:bodyPr>
          <a:lstStyle/>
          <a:p>
            <a:pPr>
              <a:defRPr sz="1100" b="0">
                <a:solidFill>
                  <a:srgbClr val="637389"/>
                </a:solidFill>
                <a:latin typeface="Aptos"/>
              </a:defRPr>
            </a:pPr>
            <a:r>
              <a:t>Yerel bare Git remote ve fake gh kullanıldı; gerçek GitHub PR açılmadı.</a:t>
            </a:r>
          </a:p>
        </p:txBody>
      </p:sp>
      <p:pic>
        <p:nvPicPr>
          <p:cNvPr id="5" name="Picture 4" descr="pr_akisi_yerel_prov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" y="1664208"/>
            <a:ext cx="10972800" cy="43159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6071616"/>
            <a:ext cx="9235440" cy="402336"/>
          </a:xfrm>
          <a:prstGeom prst="rect">
            <a:avLst/>
          </a:prstGeom>
          <a:noFill/>
        </p:spPr>
        <p:txBody>
          <a:bodyPr wrap="square" lIns="73152" rIns="73152" tIns="36576" bIns="27432" anchor="ctr">
            <a:spAutoFit/>
          </a:bodyPr>
          <a:lstStyle/>
          <a:p>
            <a:pPr>
              <a:defRPr sz="900" b="0">
                <a:solidFill>
                  <a:srgbClr val="637389"/>
                </a:solidFill>
                <a:latin typeface="Aptos"/>
              </a:defRPr>
            </a:pPr>
            <a:r>
              <a:t>Gerçek PR ekran görüntüsü mevcut değildir; bu görsel yerel mock provayı açıkça etiketler.</a:t>
            </a:r>
          </a:p>
        </p:txBody>
      </p:sp>
      <p:pic>
        <p:nvPicPr>
          <p:cNvPr id="7" name="Picture 6" descr="softtech-logo-light-backgrou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85248" y="6382512"/>
            <a:ext cx="960120" cy="41675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85800" y="5742432"/>
            <a:ext cx="9052560" cy="274320"/>
          </a:xfrm>
          <a:prstGeom prst="rect">
            <a:avLst/>
          </a:prstGeom>
          <a:noFill/>
        </p:spPr>
        <p:txBody>
          <a:bodyPr wrap="square" lIns="73152" rIns="73152" tIns="36576" bIns="27432" anchor="ctr">
            <a:spAutoFit/>
          </a:bodyPr>
          <a:lstStyle/>
          <a:p>
            <a:pPr>
              <a:defRPr sz="900" b="0">
                <a:solidFill>
                  <a:srgbClr val="637389"/>
                </a:solidFill>
                <a:latin typeface="Aptos"/>
              </a:defRPr>
            </a:pPr>
            <a:r>
              <a:t>Softtech logosu görsel amaçlıdır; kurumsal onay veya iş birliği beyanı değildir.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