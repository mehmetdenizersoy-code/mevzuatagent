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examples/ornek_tarama_raporu.html" TargetMode="External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examples/ornek_remediation_raporu.html" TargetMode="External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examples/e2e_dogrulama_ozeti.html" TargetMode="External"/><Relationship Id="rId3" Type="http://schemas.openxmlformats.org/officeDocument/2006/relationships/hyperlink" Target="examples/e2e_tarama_raporu.html" TargetMode="External"/><Relationship Id="rId4" Type="http://schemas.openxmlformats.org/officeDocument/2006/relationships/hyperlink" Target="examples/e2e_remediation_raporu.html" TargetMode="External"/><Relationship Id="rId5" Type="http://schemas.openxmlformats.org/officeDocument/2006/relationships/hyperlink" Target="examples/e2e_test_raporu.html" TargetMode="External"/><Relationship Id="rId6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32119" y="-720000"/>
            <a:ext cx="4680000" cy="468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44119" y="-936000"/>
            <a:ext cx="3456000" cy="3456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56120" y="-1152000"/>
            <a:ext cx="2232000" cy="2232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40408000000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324000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512000"/>
            <a:ext cx="100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MevzuAI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48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0" i="0">
                <a:solidFill>
                  <a:srgbClr val="CFDDEA"/>
                </a:solidFill>
                <a:latin typeface="Segoe UI"/>
              </a:rPr>
              <a:t>Kartlı ödeme sistemleri için mevzuat uyumu ve kod tarama ajanı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Mevzuat 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1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Ödeme Kodu Tarama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Kanıtlı Rapor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74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Onaylı Düzeltme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4464000"/>
            <a:ext cx="10260000" cy="612000"/>
          </a:xfrm>
          <a:prstGeom prst="roundRect">
            <a:avLst/>
          </a:prstGeom>
          <a:solidFill>
            <a:srgbClr val="2A3F30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000" y="4518000"/>
            <a:ext cx="99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FECD9"/>
                </a:solidFill>
                <a:latin typeface="Segoe UI"/>
              </a:rPr>
              <a:t>+ Remediation: en fazla iki öncelikli bulgu; izole worktree, ayrı test ve PR onayları.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6000" y="5436000"/>
            <a:ext cx="1008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Her bulgu kod içinde dosya ve satır numarasıyla gösterilir — dayanaksız cümle rapora girmez.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Gerçek kart verisi kullanmayın; otomatik maskeleme garantisi yoktur.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Kararlar sizin: ajan her adımda sorar, onaysız işlem yapmaz  ·  v29.10.2026</a:t>
            </a:r>
          </a:p>
        </p:txBody>
      </p:sp>
      <p:pic>
        <p:nvPicPr>
          <p:cNvPr id="16" name="Picture 1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5330952"/>
            <a:ext cx="2148840" cy="932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Neden ödeme sistemlerinde MevzuAI?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2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22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Bugün karşılaştığımız güçlükler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Ödeme mevzuatı ve teknik gereksinimler değişir: kod üzerindeki etkiyi izlemek gerekir.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Yetkilendirme, iade ve mutabakat akışları farklı servislerde olduğundan manuel arama eksik kalabilir.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dosya/satır kanıtı ve mevzuat kaynak/sayfa atfıyla doğrulanabilir olmalıdır.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Kart verisinin analiz girdisine veya rapora sızması ciddi bir risktir.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Bulgu, düzeltme, test ve PR adımları kontrollü ve ayrı onaylı ilerlemelidir.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999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999" y="122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2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MevzuAI neyi değiştiriyor?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Mevzuat PDF'lerini yerel RAG indeksine hazırlar; seçilen depoyu onaydan sonra inceler.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tahmini dosya kapsamı, bağlam tokenları ve ölçülen model hızından yaklaşık süre çıkarır.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Bulguda dosya/satır kanıtı ve modele sunulmuş mevzuat kaynak/sayfa atfı gösterilir.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Gerçek kart verisi içeren depolarda kullanmayın; otomatik veri maskeleme garantisi yoktur.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En fazla iki öncelikli bulgu izole dalda düzeltilir; test ve PR için ayrıca onay gerekir.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5472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MevzuatAgent ödeme işleyen ürün değil; yerel kod incelemesi ve kullanıcı kontrollü remediation aracıdır.</a:t>
            </a:r>
          </a:p>
        </p:txBody>
      </p:sp>
      <p:pic>
        <p:nvPicPr>
          <p:cNvPr id="16" name="Picture 1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Ortak Akış — Her Analizde Aynı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Seçim, kapsam ve yazma adımları daima onayınıza bağlıdır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Repo ve/veya dokümanı belirlersiniz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655999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1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TAHMİN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Ne kadar kod taranacak; süre ve maliyet önceden sunulur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11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7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1584000"/>
            <a:ext cx="1278000" cy="216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B7791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ONAY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Kapsamı onaylarsınız; isterseniz daraltırsınız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72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33999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33999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8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8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HAZIRLIK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8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Doküman bölümlere ayrılır; kod envanteri çıkarılır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30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2000" y="1584000"/>
            <a:ext cx="1278000" cy="216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TARAMA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Otomatik tarama çalışır; ajan eşleşmeleri doğrular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488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5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5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SUNUM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Bulgular/maddeler size sunulur; siz onaylarsınız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946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0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0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6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RAPOR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Rapor kaydedilir; hassas veriler otomatik gizlenir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040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6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66000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2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2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SEÇENEKLER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2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Düzeltme / devam / bitir — karar sizin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4680000"/>
            <a:ext cx="11448000" cy="1224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3999" y="4770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Sekiz adımın yedisi sizin kararınıza bağlı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Ajan yalnız ölçüm ve analiz yapar; kapsam onayı, bulgu onayı ve rapor sonrası yol onayı daima sizden alınır. Bir adım atlanacak olursa ajan durur ve o adımı size sorar.</a:t>
            </a:r>
          </a:p>
        </p:txBody>
      </p:sp>
      <p:pic>
        <p:nvPicPr>
          <p:cNvPr id="57" name="Picture 5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Tarama Öncesi: Ne Zaman ve Ne Kadar?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Kapsam ve yaklaşık token/süre tahmini tarama öncesi gösterilir; yerel kullanım için parasal maliyet hesaplanmaz.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4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Tahminin girdileri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Git'te izlenen kaynak dosyaları ve kullanıcı dosya sınırı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 sorgusuyla BM25 RAG'den bulunan mevzuat parçaları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Yaklaşık giriş tokenı + dosya başına çıktı varsayımı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Tahmini toplam token ÷ yerel model hız ölçümü = yaklaşık süre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Yerel Ollama için parasal maliyet üretilmez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Model ölçümü ve tahmin sınırları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Kurulu modeller kısa bir Ollama throughput benchmark'ından geçer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Benchmark hızı ölçer; yanıt kalitesini veya mevzuat doğruluğunu ölçmez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Token hesabı yaklaşık karakter/token varsayımına dayanır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Kısmi dosya kapsamı ve RAG eşleşmeleri süreyi etkiler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Repo, branch/commit, model ve kapsam onayı olmadan tarama başlamaz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284000"/>
            <a:ext cx="11448000" cy="1655999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374000"/>
            <a:ext cx="1116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Tahmin nasıl sunulur?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1) İzlenen repo ve seçilen dosya sınırı belirlenir   →   2) ilgili mevzuat parçaları getirilir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3) Token varsayımı ve model hızıyla yaklaşık süre hesaplanır   →   4) kullanıcı model/kapsamı onaylar</a:t>
            </a:r>
          </a:p>
          <a:p>
            <a:pPr algn="l">
              <a:spcAft>
                <a:spcPts val="500"/>
              </a:spcAft>
            </a:pPr>
            <a:r>
              <a:rPr sz="1050" b="0" i="1">
                <a:solidFill>
                  <a:srgbClr val="5D6D7E"/>
                </a:solidFill>
                <a:latin typeface="Segoe UI"/>
              </a:rPr>
              <a:t>Tahmin yaklaşık süre ve token miktarıdır; parasal ücret ya da model kalitesi garantisi değildir.</a:t>
            </a:r>
          </a:p>
        </p:txBody>
      </p:sp>
      <p:pic>
        <p:nvPicPr>
          <p:cNvPr id="18" name="Picture 1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Girdi Nasıl Seçilir? — Repo ve Döküman Kaynakları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Ajan kaynağı siz söylemeden seçmez: önce arar, sonra kayda bakar, gerekirse sizden 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seçimi — sırayla üç durak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1) Verdiğiniz yol: mesajınızda repo yolu yazılıysa soru sorulmaz — repo doğrulanır (geçerli git deposu mu, üzerinde kaydedilmemiş değişiklik var mı) ve akış başlar.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2) Kayıt defteri: yol verilmediyse ajan önce bulunduğunuz dizini ve üst dizinleri tarar; sonra daha önce onayladığınız depolar listesine bakar. Tanıdık repo görünce 'güncelleyeyim mi?' diye sorar.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3) Soru: hiçbiri bulunamazsa ajan durur ve şunu sorar — 'İncelenecek repo dizinini (yerel yol) veya git adresini verir misiniz?' Cevap gelmeden tarama başlamaz.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Uzak repo ve döküman girdileri (hepsi onayla)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Git URL: adresi verirsiniz, ajan 'yerel geçici dizininize indireyim mi?' diye sorar; onayla sığ kopya alır — tam geçmiş indirilmez, yalnız güncel hali incelenir.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dosya/klasör yolu: dosyanın tam yolunu verirsiniz (ajan ilgili klasöre kopyalar) veya kendiniz ilgili klasöre koyarsınız.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URL'i: şifresiz tek belge bağlantısı indirilebilir (bülten girdisinde URL indirme yoktur; mevzuatta kapalı tek-belge indirilir).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Mevzuat sayfa tarama: bir sayfa adresi verirsiniz; ajan sayfadaki belge bağlantılarını bulur ve aynı belge için bilgisayar dosyası öncelik alır (doc/docx &gt; pdf).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82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914000"/>
            <a:ext cx="1116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Seçimlikler ve güvenceler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Çoklu seçim: birden fazla repo/dökümanı numaralı listeyle verebilirsiniz — ajan sırayla TEK TEK işler; bir rapor bitmeden diğerine başlamaz.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Her indirme ONAYLIDIR: URL'den ne ineceği açıkça bildirilir; şifreli sayfa (401/403/407) görülürse ajan durur, kimlik istemez — indirme atlanır.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Kimlik güvenliği: kullanıcı adı/şifre hiçbir adımda sorulmaz, dosyaya yazılmaz; raporlarda oturum izleri maskeli taşınır.</a:t>
            </a:r>
          </a:p>
        </p:txBody>
      </p:sp>
      <p:pic>
        <p:nvPicPr>
          <p:cNvPr id="18" name="Picture 1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1 — Repo Risk Raporu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Kartlı ödeme kodunda güvenlik, işlem bütünlüğü ve veri riski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6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Belgeyi RAG için hazırlama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repo yolu veya adresi — başka girdi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kodu üç eksende tarar: bilinen zafiyetler, dolandırıcılık senaryoları (çift ödeme, yetki aşımı, gizli anahtar kalıntısı), yapılandırma hataları (şifresiz bağlantı, açık ayarlar).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 yürür; ajan her eşleşmeyi koda giderek doğrular ve yanıltıcıları eler.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önem sırasına dizilir; hassas veri içeren depolarda taramayı başlatmayın.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alırsınız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Yönetici özeti: genel risk düzeyi ve öne çıkan sayılar.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tablosu: kritikler başta; her satırda konum ve etiket.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bulguda: nerede (dosya + satır), neden risk, nasıl kullanılabilir (senaryo), nasıl düzeltilir (kod önerisi).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Pozitif kontroller: doğru yapılmış noktalar da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Öncelikli yol haritası: hemen / kısa vade / uzun vade.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Sağlanan 35-depo raporundaki ölçüm: 24 kritik · 23 yüksek · 21 orta; bu projede yeniden taranmadı.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-467999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22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4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13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4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04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Tarama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4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6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Doğrulama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76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8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7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Seçenekler</a:t>
            </a:r>
          </a:p>
        </p:txBody>
      </p:sp>
      <p:pic>
        <p:nvPicPr>
          <p:cNvPr id="30" name="Picture 29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2 — Mevzuat RAG ve belge hazırlığı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PDF mevzuatından kaynak ve sayfa bilgili yerel arama indeksi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Belgeyi RAG için hazırlama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Kaynak: kullanıcı tarafından sağlanan `mevzuat_link.json` PDF bağlantıları.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PDF sayfalarındaki metin çıkarılır; kaynak ve sayfa bilgisi saklanır.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Metin yaklaşık 1.200 karakterlik, örtüşmeli parçalara bölünür.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`chunks.jsonl` ve `manifest.json` yerel RAG çıktılarıdır.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Tarama sırasında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Dosya adı ve kod metni, ilgili mevzuat parçalarını aramak için kullanılır.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BM25 anahtar kelime araması eşleşen chunk'ları kaynak/sayfa ile döndürür.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İlgili bağlam ve sınırlı kod içeriği yerel Ollama modeline verilir.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Eşleşen mevzuat bulunmazsa dosya modele gönderilmez.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Arama leksikaldir; embedding, OCR ve mevzuat güncellik garantisi yoktur.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Atıf ve hüküm yorumu uzman tarafından doğrulanmalıdır.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Kaynak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RAG indeks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Mevzuat ara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3 — Mevzuat Uyum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Seçilen mevzuat metni ile ödeme kodu arasında kanıt odaklı inceleme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8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Denetim kurgusu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Girdi: mevzuat PDF'i ve kullanıcı onaylı Git repo; branch, commit ve kapsam belirlenir.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PDF sayfaları metne çıkarılır; örtüşen parçalar kaynak ve sayfa bilgisiyle yerel RAG indeksine alınır.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Kodla ilgili parçalar BM25 ile bulunur ve seçilen kaynak dosyalarıyla yerel modele verilir.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Model bulgusu, gerçek kod satırı ve modele sunulmuş mevzuat atfı eşleşmiyorsa reddedilir.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Karar ve rapor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Rapor; depo/commit, model, kapsam, tarih, dosya sonuçları ve doğrulanmış bulguları gösterir.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Bulgu; önem, dosya/satır, kod kanıtı, kaynak/sayfa, açıklama ve öneri içerir.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Kısmi tarama, okunamayan dosya ve kanıt doğrulama hataları sınırlama olarak raporlanır.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 bulunmaması mevzuata tam uyum kararı değildir; incelenen kapsam sınırlı olabilir.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Hukuki yorum ve iş kararı, mevzuat uzmanı ve ödeme ürünü sorumlularınca doğrulanmalıdır.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Mevzuat gir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Hüküm çıkar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RAG indeks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denetimi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Negatif test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4 — Kartlı ödeme akışındaki risk alanları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Teknik kontrol noktalarını seçilen mevzuat ve kod kanıtıyla birlikte incele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9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Ödeme yaşam döngüsünde örnek kontroller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Ödeme başlatma ve yetkilendirme: merchant, tutar, para birimi ve kanal doğrulaması.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Timeout/tekrar deneme: idempotency, duplicate charge ve reversal davranışı.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Capture, iade ve mutabakat: işlem referanslarının doğru ilişkilendirilmesi.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Kart verisi/token/kimlik bilgisi: depolama ve log kullanımının incelenmesi.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3DS, gateway, acquirer ve issuer entegrasyonlarında hata/timeout akışları.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Bulguyu raporlama ve doğrulama sınırı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 başlıklar teknik inceleme sorularıdır; kaynak olmadan mevzuat ihlali sayılmaz.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Raporlanan bulgu dosya/satır kod kanıtı ve sunulmuş mevzuat kaynağı taşımalıdır.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Kanıt/atıf doğrulamasından geçmeyen model çıktısı bulgu olarak kabul edilmez.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İş kuralı, runtime konfigürasyonu ve kurum uygulaması ayrıca teyit edilir.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Gerçek kart sahibi verisiyle tarama yapmayın; otomatik maskeleme garantisi yoktur.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Düzeltme, test ve PR için birbirinden bağımsız kullanıcı onayı gerekir.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alanı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Mevzuat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Akış analizi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incelemesi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Kanıt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Süreç Diyagramı — Onay Duraklı Ana 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elma bir onay durağıdır; cevap gelmeden akış ilerlemez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10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40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Talep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doğal dil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68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28000" y="1440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4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Seçim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repo / doküman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36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4896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32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92000" y="1440000"/>
            <a:ext cx="1872000" cy="792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8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Çalışma Kopyası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TEMP klasörüne</a:t>
            </a:r>
          </a:p>
        </p:txBody>
      </p:sp>
      <p:sp>
        <p:nvSpPr>
          <p:cNvPr id="18" name="Diamond 17"/>
          <p:cNvSpPr/>
          <p:nvPr/>
        </p:nvSpPr>
        <p:spPr>
          <a:xfrm>
            <a:off x="9324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Temiz mi?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4000" y="2736000"/>
            <a:ext cx="1800000" cy="576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0" y="2771999"/>
            <a:ext cx="1728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Temiz değilse → DUR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34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6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Tahmin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dosya / satır / süre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68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628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Kapsam OK?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464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24000" y="34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0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Tarama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otomatik + doğrulama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32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92000" y="3456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28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Sunum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bulgular / maddeler</a:t>
            </a:r>
          </a:p>
        </p:txBody>
      </p:sp>
      <p:sp>
        <p:nvSpPr>
          <p:cNvPr id="31" name="Diamond 30"/>
          <p:cNvSpPr/>
          <p:nvPr/>
        </p:nvSpPr>
        <p:spPr>
          <a:xfrm>
            <a:off x="9324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28000" y="52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64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Rapor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bilgi + HTML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536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24000" y="52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60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Maske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hassas veri gizlenir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32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92000" y="5256000"/>
            <a:ext cx="1872000" cy="792000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28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Seçenekler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düzelt / devam / bitir</a:t>
            </a:r>
          </a:p>
        </p:txBody>
      </p:sp>
      <p:sp>
        <p:nvSpPr>
          <p:cNvPr id="40" name="Diamond 39"/>
          <p:cNvSpPr/>
          <p:nvPr/>
        </p:nvSpPr>
        <p:spPr>
          <a:xfrm>
            <a:off x="9324000" y="50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Kararınız?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796000" y="24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296000" y="27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96000" y="27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24000" y="2448000"/>
            <a:ext cx="0" cy="28800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224000" y="3240000"/>
            <a:ext cx="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796000" y="42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96000" y="45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6000" y="45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224000" y="4464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564000" y="4752000"/>
            <a:ext cx="666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64000" y="4752000"/>
            <a:ext cx="0" cy="504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0000" y="6192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9FB6C9"/>
                </a:solidFill>
                <a:latin typeface="Segoe UI"/>
              </a:rPr>
              <a:t>Her hat cevap beklemez: onay 'hayır' ise akış o durakta sonlanır veya kapsam daraltma döngüsüne döner.</a:t>
            </a:r>
          </a:p>
        </p:txBody>
      </p:sp>
      <p:pic>
        <p:nvPicPr>
          <p:cNvPr id="53" name="Picture 52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Bulgu Düzeltme — Sizin Seçiminiz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bulgularından yola çıkar; tamamen onayınızla yürür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11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Nasıl işler?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Tarama raporundaki kanıtlı bulgular listelenir; en yüksek öncelikli en fazla iki bulgu seçilir.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Kanıt ve öneri gösterilir; kullanıcı kod değişikliğinin uygulanmasını ayrıca onaylar.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Onaylı değişiklikler kaynak daldan ayrı bir Git worktree/branch içinde uygulanır.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Test çalıştırmak için yeniden onay alınır; test çıktısı ayrı Markdown ve HTML raporlanır.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Onay sonrası ve güvenceler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başarılıysa diff ve test sonucu sunulur; kullanıcı son onayı verirse GitHub PR oluşturulur.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Kaynak dal değiştirilmez; otomatik commit, merge veya zorla-gönderim yapılmaz.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Değişiklik dosyaları seçilen öncelikli bulgularla eşleşmelidir; kaynak repo temiz olmalıdır.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başarısız veya zaman aşımına uğrarsa PR akışı başarılı sayılmaz.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PR için GitHub CLI (`gh`), yetki ve açık son kullanıcı onayı gerekir.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 değişikliği, test ve PR ayrı onay kapılarıdır; biri diğerine izin vermez.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256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Bulgu seç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Uygula onayı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Test onayı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PR onayı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Her Analizin Sonunda: Seçenekleriniz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teslim edilip kopyalama sorusu bittikten sonra sunulur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12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5999" cy="2592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E8449"/>
                </a:solidFill>
                <a:latin typeface="Segoe UI"/>
              </a:rPr>
              <a:t>1) Düzeltme öner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Bu raporu temel alan kritik bulgulara kod farkı ve PR — önerilen: 5 bulgu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4000" y="1584000"/>
            <a:ext cx="125999" cy="2592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2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D4E6E"/>
                </a:solidFill>
                <a:latin typeface="Segoe UI"/>
              </a:rPr>
              <a:t>2) Mevcut rapordan devam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2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Rapor arşivinden (önceki oturumlar dahil) başka bir rapor seçip düzeltme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8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8000" y="1584000"/>
            <a:ext cx="125999" cy="2592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6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3) Aynı akışla devam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Yeni repo / yeni doküman — analiz her seferinde güncel koddan, sıfırdan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2000" y="1584000"/>
            <a:ext cx="125999" cy="2592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0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5D6D7E"/>
                </a:solidFill>
                <a:latin typeface="Segoe UI"/>
              </a:rPr>
              <a:t>4) Bitir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0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Özetle kapanır: rapor yolu(ları) + sayısal özet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46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4554000"/>
            <a:ext cx="111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Kurallar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listesi kopyalama sorusuyla birleştirilmez; önce kopyalama yanıtınız alınır.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1'i yürütmek için PR onayı ayrıca sorulur — kod yazma adımı bu listeden kendiliğinden yürütülmez.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Düzeltme isteğe bağlıdır: '4' derseniz ajan yalnız özet verir ve durur.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Ayrı Onay Kapıları — Tarama, Remediation, Test,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adım ayrı onay ister; bir aşamadaki onay sonraki işlemlere aktarılmaz.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Tarama ve düzeltme için onay akışı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Tarama: depo, branch/commit, dosya sınırı, tahmin ve model kullanıcıya gösterilir.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Remediation: en fazla iki bulgu ve değişiklik diff'i kullanıcıya sunulur.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Kullanıcı kod yazma izni verirse değişiklik ayrı Git worktree/branch içinde uygulanır.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Test ve ardından GitHub PR için ayrı onay kapıları bulunur.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 reddedilirse adım durur; hata, başarısız test veya zaman aşımı gizlenmez.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Üretim sınırları ve kullanıcı sorumluluğu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kaynak kodunu ve eşleşen mevzuat parçalarını yerel Ollama servisine gönderir.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Kodda gerçek kart verisi, CVV/PIN, kimlik bilgisi veya sır bulunmamalıdır.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Uygulama canlı ödeme sistemini çağırmaz; runtime davranışı ve konfigürasyon eksik kalabilir.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Kısmi tarama veya bulgu çıkmaması tam uyumluluk kararı değildir.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Uzman incelemesi, test ve PR onayları insan sorumluluğundadır.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32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Kapsam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Remediate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PR onayı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Dört Güvence — Her Akışta Değişmez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14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512000"/>
            <a:ext cx="271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Kanıt zorunludur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 kod içinde dosya ve satır numarasıyla gösterilir; doküman kaynaklı çıkarımlar bölüm kimliği taşır. Dayanaksız cümle rapora girmez.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4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4000" y="1512000"/>
            <a:ext cx="271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2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Hassas veri gizlenir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2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yazılmadan önce tüm metin otomatik taranır; kart numarası, şifre, token benzeri görünümler maskelenir. Rastgele sayılarla karışmaz — doğrulamalı.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8000" y="1512000"/>
            <a:ext cx="2718000" cy="28512000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Analiz hep tazedir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Yeni tarama öncekilerin bulgularını girdi almaz; her seferinde o anki kod durumu incelenir. Kıyas yalnız siz isterse yapılır.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62000" y="1512000"/>
            <a:ext cx="271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Seçim ve onay sizde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0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 onayı, bulgu onayı ve kod yazma onayı ayrı ayrı alınır; ajan hiçbir adımı kendiliğinden atlamaz, atlananı size sorar.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5472000"/>
            <a:ext cx="11448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5544000"/>
            <a:ext cx="11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1">
                <a:solidFill>
                  <a:srgbClr val="22303C"/>
                </a:solidFill>
                <a:latin typeface="Segoe UI"/>
              </a:rPr>
              <a:t>Dürüstlük kuralı: ajan doğrulanamayan bilgiyi 'Doğrulanmalı' olarak yazar, tahmine dönmez. Boş cevap, uydurma cümleden iyidir.</a:t>
            </a:r>
          </a:p>
        </p:txBody>
      </p:sp>
      <p:pic>
        <p:nvPicPr>
          <p:cNvPr id="25" name="Picture 24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Çıktılar — Tarama ve remediation için ayrı raporlar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Tarama ve remediation sonuçları Markdown + HTML biçiminde üretilir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por_html_oz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1368000"/>
            <a:ext cx="5436000" cy="31471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0000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Tarama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Depo/commit, model, kapsam, dosya-satır kanıtı, mevzuat atfı ve sınırlamalar.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999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por_html_f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368000"/>
            <a:ext cx="5436000" cy="314715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999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Remediation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En fazla iki bulgunun izole worktree diff'i; test ve PR sonucu ayrı raporlanır.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5616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Tarama, diff ve test raporları ayrı HTML/Markdown dosyalarıdır; yalnızca gerçekten çalıştırılan adımlar raporlanır.</a:t>
            </a:r>
          </a:p>
        </p:txBody>
      </p:sp>
      <p:pic>
        <p:nvPicPr>
          <p:cNvPr id="15" name="Picture 14" descr="softtech-logo-light-backgrou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Nasıl Kullanılır? — Menüyle Uçtan Uca Akış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16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3320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332000"/>
            <a:ext cx="125999" cy="864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8000" y="14040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1 · Mevzuat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4000" y="14040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`mevzuat_link.json` içindeki PDF'leri indirip RAG indeksini kurun.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`manifest.json` içinde kaynak, sayfa ve indeksleme uyarılarını inceleyin.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22752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2275200"/>
            <a:ext cx="125999" cy="864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23472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2 · Depo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4000" y="23472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`repo_link.json` depolarını gözden geçirin; klonlama için kullanıcı onayı verin.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Yerel depoda branch/commit ve Git çalışma ağacını kontrol edin.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2184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0000" y="3218400"/>
            <a:ext cx="125999" cy="864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000" y="32904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3 · Tahmin ve tarama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4000" y="32904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menüsünde depo ve dosya sınırını seçin; model başına tahmini görün.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Kapsamı ve modeli onayladıktan sonra taramayı başlatın.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1616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" y="4161600"/>
            <a:ext cx="125999" cy="864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42336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4 · HTML/Markdown rapor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4000" y="42336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Bulguları dosya/satır, kod kanıtı ve mevzuat kaynak/sayfa ile inceleyin.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Sınırlamaları okuyun; bulgu yokluğu tam uyumluluk değildir.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00" y="51048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5104800"/>
            <a:ext cx="125999" cy="864000"/>
          </a:xfrm>
          <a:prstGeom prst="rect">
            <a:avLst/>
          </a:prstGeom>
          <a:solidFill>
            <a:srgbClr val="1A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8000" y="51768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5 · Remediation ve PR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000" y="51768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En fazla iki öncelikli bulguyu seçip kod değişikliğini ayrıca onaylayın.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Test ve GitHub PR için ayrı onay verin; sonucu HTML raporlardan doğrulayın.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6156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Uygulama Türkçe terminal menüsüdür; serbest biçimli sohbet arayüzü sunmaz.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Uygulama Bileşenleri — LangChain, Yerel Ollama, HTML/Markdown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İndirme, tarama, dosya değişikliği, test ve PR ayrı kullanıcı onaylarına bağlıdır.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1340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1340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00" y="11340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Yapılandırma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0" y="11340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`mevzuat_link.json` ve `repo_link.json` içeriğini doğrular.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23800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0000" y="14238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00" y="14238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PDF İndirme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14238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Kullanıcının seçtiği mevzuat bağlantılarındaki PDF'leri indirir.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7136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0000" y="17136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200" y="17136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RAG Parçalama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0" y="17136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 sayfalarını örtüşen chunk'lara böler; kaynak/sayfa metadata'sını korur.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2003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0000" y="20033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200" y="2003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BM25 Arama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000" y="2003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Mevzuat parçalarını leksikal olarak arar; embedding veya OCR kullanmaz.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293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0000" y="22931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200" y="2293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Klonlama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2293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Depoları yalnız açık kullanıcı onayından sonra yerel çalışma alanına alır.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582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0000" y="25829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200" y="2582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Model Havuzu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000" y="2582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Yerel Ollama'da kurulu modelleri listeler ve kısa throughput ölçümü yapar.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2872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0000" y="28727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200" y="2872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Tarama Tahmini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000" y="2872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Dosya ve bağlam için yaklaşık token miktarı ile model hızından süre tahmini çıkarır.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31625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0000" y="31625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200" y="3162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Kod Tarama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0" y="3162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Seçilen kod ve mevzuat parçalarını yerel Ollama modeline gönderir.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4523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0000" y="34523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9200" y="3452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Kanıt Doğrulama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000" y="3452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Kod alıntısı ve mevzuat sayfa atfı doğrulanmayan bulguları reddeder.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7421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0000" y="37421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200" y="3742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Tarama Raporu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0" y="3742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Tarama JSON'u, Markdown ve HTML; kapsam, dosya sonuçları ve bulguları içerir.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40319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0000" y="40319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9200" y="4031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Remediation Planı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000" y="4031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En fazla iki yüksek öncelikli bulgu için değişiklik planı hazırlar.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43217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0000" y="43217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200" y="4321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Remediation Önerisi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000" y="4321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Yerel modelden sınırlı dosya değişikliği önerisi alır; otomatik uygulamaz.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0000" y="46115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0000" y="46115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9200" y="4611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İzole Uygulama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000" y="4611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Açık onayla yalnız seçilen bulguların dosyalarını ayrı branch/worktree'de değiştirir.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4901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0000" y="49013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200" y="4901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Test Doğrulama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000" y="4901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Kullanıcı onayıyla desteklenen test komutlarını çalıştırır; sonucu HTML/Markdown raporlar.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5191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0000" y="51911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9200" y="5191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GitHub PR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000" y="5191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Başarılı test ve son kullanıcı onayından sonra `gh` ile PR açar.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0000" y="5480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0000" y="54809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9200" y="5480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LangChain İş Akışı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0000" y="5480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Tahmin → onay → tarama → rapor adımlarını Python `Runnable` zincirinde bağlar.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0000" y="5770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0000" y="57707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9200" y="5770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Türkçe CLI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0000" y="5770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Kullanıcıya belge, depo, tarama ve remediation menülerini sunar.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0000" y="6173999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Kod yerel Ollama servisine gönderilir; PDF indirme ve GitHub PR aşamaları ağ kullanır. Gerçek kart verisi kullanmayın.</a:t>
            </a:r>
          </a:p>
        </p:txBody>
      </p:sp>
      <p:pic>
        <p:nvPicPr>
          <p:cNvPr id="77" name="Picture 7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Önerilen Yol — Üç Adımda Başlayın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18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655999"/>
            <a:ext cx="3671999" cy="251999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1. Pilot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Sentetik ödeme deposuyla pilot yapın; dosya kapsamı ve tahmini süreyi onaylayıp HTML raporunu inceleyin.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8000" y="1655999"/>
            <a:ext cx="3671999" cy="251999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2. Mevzuat kaynakları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6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`mevzuat_link.json` kaynaklarını seçin; indirilen PDF'leri, manifest uyarılarını ve RAG atıflarını kontrol edin.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000" y="1655999"/>
            <a:ext cx="3671999" cy="251999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3. Düzeltmeyle kapatın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En fazla iki bulgu için diff'i gözden geçirin; test ve PR onaylarını ayrı verin.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5040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Yalnız sentetik/hassas veriden arındırılmış kod kullanın; hukuki kararı uzman verir.</a:t>
            </a:r>
          </a:p>
        </p:txBody>
      </p:sp>
      <p:pic>
        <p:nvPicPr>
          <p:cNvPr id="20" name="Picture 19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2119" y="3078000"/>
            <a:ext cx="5400000" cy="540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56119" y="3762000"/>
            <a:ext cx="4031999" cy="4031999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0119" y="4446000"/>
            <a:ext cx="2664000" cy="2664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503999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368000"/>
            <a:ext cx="100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 i="0">
                <a:solidFill>
                  <a:srgbClr val="FFFFFF"/>
                </a:solidFill>
                <a:latin typeface="Segoe UI"/>
              </a:rPr>
              <a:t>Özet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376000"/>
            <a:ext cx="10260000" cy="30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Mevzuat PDF'leri yerel BM25 RAG indeksine alınır; kaynak ve sayfa bilgisi korunur.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Tarama tahmini yaklaşık token ve süre sunar; yerel model için parasal maliyet çıkarılmaz.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Kod taraması kullanıcı onaylı depo/kapsam/model ile çalışır; sınırlı veya eksik sonuçlar raporlanır.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Gerçek kart sahibi verisi kullanmayın; otomatik veri maskeleme garantisi yoktur.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En fazla iki bulgu izole worktree'de düzeltilir; test ve GitHub PR ayrı onay ve HTML/Markdown raporları gerektirir.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6000" y="5688000"/>
            <a:ext cx="102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Segoe UI"/>
              </a:rPr>
              <a:t>Başlamak için `mevzuat-agent` terminal menüsünü açın; RAG, depo, tahminli tarama ve remediation adımlarını seçin.</a:t>
            </a:r>
          </a:p>
        </p:txBody>
      </p:sp>
      <p:pic>
        <p:nvPicPr>
          <p:cNvPr id="10" name="Picture 9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KAYNAK RAPORU · 24.10.2026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Birleşik risk görünümü: 35 depo, 82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Kanun 5464 + Yönetmelik 11180 · Sağlanan birleşik HTML raporundaki ölçümler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37360"/>
            <a:ext cx="73152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taranan depo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051560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toplam bulgu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%67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uyum · 61 değerlendirme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737360"/>
            <a:ext cx="73152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5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5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Doğrulanmalı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10896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Bulgu dağılımı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456432"/>
            <a:ext cx="1078992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223045"/>
                </a:solidFill>
                <a:latin typeface="Aptos"/>
              </a:defRPr>
            </a:pPr>
            <a:r>
              <a:t>24 KRİTİK   ·   23 YÜKSEK   ·   21 ORTA   ·   9 DÜŞÜK   ·   5 BİLGİ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160520"/>
            <a:ext cx="10972800" cy="1234440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325112"/>
            <a:ext cx="10469880" cy="8686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61 hüküm-depo değerlendirmesi: 41 uyumlu · 10 kısmi · 10 ihlal riski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Depo bazında en yüksek risk: 17 kritik · 8 yüksek · 10 orta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Kaynak dayanağı: 13 RAG chunk + 9 DB-RAG atfı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Kaynak rapor ölçümleri; bağımsız yeniden tarama veya hukuki görüş değildir.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TUR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Kullanıcı onayıyla seçilen beş kritik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Fark raporu: 5 depo · 9 dosya · +89 / -10 satır · test/PR sonucu bu rapordan doğrulanmıyor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69164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6949440"/>
              </a:tblGrid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Bulgu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Alan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Fark raporundaki düzeltme özeti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RISK-C05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Safir.Abex · Kimlik bilgisi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Kod içindeki Basic-auth sabitini kaldırıp yapılandırma/secret store üzerinden okumak; mevcut credential rotasyonu ayrıca izlenmeli.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RISK-C08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safir-online-sobe · Eşleşme ve log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ZERO_CVV merchant eşleşmesini tam eşleşmeye çevirmek; PIN/F55 benzeri hassas trace alanlarını maskelemek.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RISK-C09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acqua-dcc-monex · DCC teklif akışı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İstek kimliğiyle idempotency sağlamak ve geçersiz kur değerlerini POS'a dönmeden önce reddetmek.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RISK-C10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acqua-cassandra-data-archiver · Arşiv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S3 yüklemesini nesne metadata/boyut doğrulamasıyla teyit etmeden kaynak kayıtlarını silmemek.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RISK-C11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acqua-rrn-generator · Sayaç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Cassandra LWT [applied] sonucunu denetlemek; başarısızlıkta sınırlı yeniden deneme ve açık hata üretmek.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16752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Credential/token örnekleri sunuma aktarılmadı; rotasyon ve Git geçmişi temizliği ayrı operasyonel işlerdir.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KAPANIŞ · DOĞRULAMA DURUMU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Fark raporu sonuç kanıtı değildir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Kod farkı, test sonucu, canlı PR ve operasyonel riskler ayrı ayrı doğrulanmalıdır.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828800"/>
            <a:ext cx="3456432" cy="914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Açık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3 madde kaynak raporda “Doğrulanmalı”.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İş kararı, ortam ayarı veya istemci davranışı netleştirilmeli.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511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5112" y="1828800"/>
            <a:ext cx="3456432" cy="914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Ayrı operasyon işleri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Credential rotasyonu / vault ve altyapı-konfigürasyon işleri.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Kod farkı bu işleri tek başına kapatmaz.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431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456432" cy="914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Sonraki kapılar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Testleri çalıştır ve sonuçları kaydet.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Diff'i gözden geçir; gerçek PR durumunu GitHub'da doğrula.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370832"/>
            <a:ext cx="10972800" cy="914400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10469880" cy="5486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200" b="1">
                <a:solidFill>
                  <a:srgbClr val="112240"/>
                </a:solidFill>
                <a:latin typeface="Aptos"/>
              </a:defRPr>
            </a:pPr>
            <a:r>
              <a:t>Sınır: Bu ek, verilen raporları özetler. Kaynak depolar yeniden taranmadı; testlerin geçtiği veya PR'ın açıldığı iddia edilmez.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Güvenli paylaşım için credential/token değerleri eklerden çıkarılmıştır.</a:t>
            </a:r>
          </a:p>
        </p:txBody>
      </p:sp>
      <p:pic>
        <p:nvPicPr>
          <p:cNvPr id="20" name="Picture 19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PROJE ODAĞI · KARTLI ÖDEME SİSTEMLERİ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Ödeme yazılımını mevzuat bağlamında, kod kanıtıyla incelemek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MevzuatAgent ödeme almaz veya canlı işlem sistemine bağlanmaz; seçilen depo ve mevzuat belgelerini analiz eder.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55648"/>
            <a:ext cx="203911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55648"/>
            <a:ext cx="64008" cy="9875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01952"/>
            <a:ext cx="1810512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112240"/>
                </a:solidFill>
                <a:latin typeface="Aptos"/>
              </a:defRPr>
            </a:pPr>
            <a:r>
              <a:t>Kart sahibi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267712"/>
            <a:ext cx="1810512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Kartı / dijital cüzdanı kullanır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2843784" y="1755648"/>
            <a:ext cx="203911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4" y="1755648"/>
            <a:ext cx="64008" cy="987552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0944" y="1901952"/>
            <a:ext cx="1810512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112240"/>
                </a:solidFill>
                <a:latin typeface="Aptos"/>
              </a:defRPr>
            </a:pPr>
            <a:r>
              <a:t>İş yeri · 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0944" y="2267712"/>
            <a:ext cx="1810512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Ödemeyi başlatır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755648"/>
            <a:ext cx="203911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755648"/>
            <a:ext cx="64008" cy="987552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2936" y="1901952"/>
            <a:ext cx="1810512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112240"/>
                </a:solidFill>
                <a:latin typeface="Aptos"/>
              </a:defRPr>
            </a:pPr>
            <a:r>
              <a:t>Gateway · Acquirer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2267712"/>
            <a:ext cx="1810512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İsteği yönlendirir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7768" y="1755648"/>
            <a:ext cx="203911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87768" y="1755648"/>
            <a:ext cx="64008" cy="9875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8" y="1901952"/>
            <a:ext cx="1810512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112240"/>
                </a:solidFill>
                <a:latin typeface="Aptos"/>
              </a:defRPr>
            </a:pPr>
            <a:r>
              <a:t>Kart ağı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2267712"/>
            <a:ext cx="1810512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İşlemi ilgili tarafa taşır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755648"/>
            <a:ext cx="203911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09760" y="1755648"/>
            <a:ext cx="64008" cy="987552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6920" y="1901952"/>
            <a:ext cx="1810512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112240"/>
                </a:solidFill>
                <a:latin typeface="Aptos"/>
              </a:defRPr>
            </a:pPr>
            <a:r>
              <a:t>Issuer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2267712"/>
            <a:ext cx="1810512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Yetkilendirir veya reddeder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035808"/>
            <a:ext cx="292608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İşlem yaşam döngüsü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3401568"/>
            <a:ext cx="1069848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223045"/>
                </a:solidFill>
                <a:latin typeface="Aptos"/>
              </a:defRPr>
            </a:pPr>
            <a:r>
              <a:t>Ödeme başlatma  →  doğrulama / 3-D Secure  →  yetkilendirme  →  capture ve mutabakat  →  iade / ters ibraz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4160520"/>
            <a:ext cx="10972800" cy="1170432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25112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İncelenebilecek kod alanları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279392"/>
            <a:ext cx="8321040" cy="62179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Ödeme API'leri · tutar/para birimi doğrulama · tekrar denemeler ve idempotency · token/PAN maskeleme ve loglar · 3DS/issuer entegrasyonları · RRN/STAN ve mutabakat · iade, iptal ve ters ibraz akışları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605272"/>
            <a:ext cx="10698480" cy="329184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Bunlar ödeme alanına özgü inceleme başlıklarıdır; tek başına mevzuat hükmü veya doğrulanmış bulgu değildir.</a:t>
            </a:r>
          </a:p>
        </p:txBody>
      </p:sp>
      <p:pic>
        <p:nvPicPr>
          <p:cNvPr id="31" name="Picture 30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İNCELEME YÖNTEMİ · MEVZUATTAN KOD KANITINA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Her ödeme riski için izlenebilir bir kanıt zinciri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Kural, yalnızca seçilen mevzuat kaynağı ve depodaki somut kanıtla eşleştirildiğinde değerlendirilir.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82880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828800"/>
            <a:ext cx="2542032" cy="82296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39112"/>
            <a:ext cx="2249424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1 · Kaynak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2249424" cy="53035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Kullanıcı mevzuat belgesini ve kapsamı seçer.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10712" y="182880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10712" y="1828800"/>
            <a:ext cx="2542032" cy="82296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6" y="2039112"/>
            <a:ext cx="2249424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2 ·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2487168"/>
            <a:ext cx="2249424" cy="53035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Metin parçaları kaynak, sayfa ve konum bilgisiyle aranır.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82880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828800"/>
            <a:ext cx="2542032" cy="82296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039112"/>
            <a:ext cx="2249424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3 · Kod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487168"/>
            <a:ext cx="2249424" cy="53035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Ödeme akışındaki dosya/satır, ilgili parçayla karşılaştırılır.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88551" y="1828800"/>
            <a:ext cx="2542032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88551" y="1828800"/>
            <a:ext cx="2542032" cy="82296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5" y="2039112"/>
            <a:ext cx="2249424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4 · Rapor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5" y="2487168"/>
            <a:ext cx="2249424" cy="53035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Kanıt, atıf, önem ve sınırlama kullanıcıya sunulur.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3685032"/>
            <a:ext cx="10972800" cy="1234440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858768"/>
            <a:ext cx="3291840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Ödeme alanındaki örnek kontrol soruları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822191"/>
            <a:ext cx="7452360" cy="6583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Zaman aşımı aynı ödemenin iki kez alınmasına yol açabilir mi? Hassas kart verisi loglanıyor mu? İade/iptal doğru işlemle ilişkilendiriliyor mu? Tutar ve para birimi tutarlı mı?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285232"/>
            <a:ext cx="10698480" cy="4114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Sorular inceleme rehberidir; PCI/şema uyumu veya hukuki uygunluk iddiası değildir. Uzman doğrulaması ve kullanıcı onayı gerekir.</a:t>
            </a:r>
          </a:p>
        </p:txBody>
      </p:sp>
      <p:pic>
        <p:nvPicPr>
          <p:cNvPr id="25" name="Picture 24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KURULUM · AŞAMA GÖRSELİ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Kurulum aşamaları ve açık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install.sh kaynak kodundan sıralandı; bu makinede yapılmış bir kurulum kaydı olarak sunulmaz.</a:t>
            </a:r>
          </a:p>
        </p:txBody>
      </p:sp>
      <p:pic>
        <p:nvPicPr>
          <p:cNvPr id="5" name="Picture 4" descr="kurulum_asamal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Görsel belge akışını anlatır; Ollama, model, mevzuat indirme ve klonlama adımları ayrıca onay ister.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TEST REPOSU · GERÇEK DOSYA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İki sentetik demo, on test bulgusu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Depo ağacı mevcut test fixture Git deposundan; içerik yalnızca test için hazırlanmıştır.</a:t>
            </a:r>
          </a:p>
        </p:txBody>
      </p:sp>
      <p:pic>
        <p:nvPicPr>
          <p:cNvPr id="5" name="Picture 4" descr="sentetik_test_depo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Sentetik fixture; gerçek sistem veya gerçek mevzuat bulgusu değildir.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DIFF +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Önce / sonra farkı ve kabul testi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Görsel, izole remediation worktree raporundaki iki örnek değişikliği ve test raporunu gösterir.</a:t>
            </a:r>
          </a:p>
        </p:txBody>
      </p:sp>
      <p:pic>
        <p:nvPicPr>
          <p:cNvPr id="5" name="Picture 4" descr="remediation_diff_v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Test raporunda 2 sentetik kabul testi geçti; hukuki uyumluluk doğrulaması değildir.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PR · YEREL ENTEGRASYON PROVASI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Push/PR hattı güvenli test ortamında denendi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Yerel bare Git remote ve fake gh kullanıldı; gerçek GitHub PR açılmadı.</a:t>
            </a:r>
          </a:p>
        </p:txBody>
      </p:sp>
      <p:pic>
        <p:nvPicPr>
          <p:cNvPr id="5" name="Picture 4" descr="pr_akisi_yerel_pro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Gerçek PR ekran görüntüsü mevcut değildir; bu görsel yerel mock provayı açıkça etiketler.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ÖRNEK ÇIKTI · HTML TARAMA RAPORU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Bulgu; dosya, satır, kod kanıtı ve öneriyle sunulur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Aşağıdaki kartlar docs/examples/ornek_tarama_raporu.html içindeki sentetik örnek raporun özetidir.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37360"/>
            <a:ext cx="73152" cy="841248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örnek bulgu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841248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1 /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incelenen dosya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841248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fixture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model / kaynak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737360"/>
            <a:ext cx="73152" cy="841248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5167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TEST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hukuki tespit değil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2880360"/>
            <a:ext cx="10972800" cy="941832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2990088"/>
            <a:ext cx="1033272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HIGH · Ödeme referansı maskelenmiyor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282696"/>
            <a:ext cx="5120640" cy="237744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223045"/>
                </a:solidFill>
                <a:latin typeface="Aptos"/>
              </a:defRPr>
            </a:pPr>
            <a:r>
              <a:t>payment_flow.py:6  ·  Kanıt: return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282696"/>
            <a:ext cx="5212080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223045"/>
                </a:solidFill>
                <a:latin typeface="Aptos"/>
              </a:defRPr>
            </a:pPr>
            <a:r>
              <a:t>Öneri: yalnız gerekli kısmı göster; hassas değeri loglama.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4023360"/>
            <a:ext cx="10972800" cy="941832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133088"/>
            <a:ext cx="1033272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MEDIUM · Sıfır tutar geçerli sayılıyor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425696"/>
            <a:ext cx="5120640" cy="237744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223045"/>
                </a:solidFill>
                <a:latin typeface="Aptos"/>
              </a:defRPr>
            </a:pPr>
            <a:r>
              <a:t>payment_flow.py:11  ·  Kanıt: return amount &gt;=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4425696"/>
            <a:ext cx="5212080" cy="3200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223045"/>
                </a:solidFill>
                <a:latin typeface="Aptos"/>
              </a:defRPr>
            </a:pPr>
            <a:r>
              <a:t>Öneri: tutar sınırını iş kuralı ve kaynakla doğrula.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358384"/>
            <a:ext cx="877824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Mevzuat alanı: TEST_FIXTURE_NOT_LAW · değerler sentetiktir, gerçek bulgu değildir.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5330952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rPr>
                <a:hlinkClick r:id="rId2"/>
              </a:rPr>
              <a:t>HTML raporunu aç</a:t>
            </a:r>
          </a:p>
        </p:txBody>
      </p:sp>
      <p:pic>
        <p:nvPicPr>
          <p:cNvPr id="31" name="Picture 30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ÖRNEK ÇIKTI · HTML REMEDIATION RAPORU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Onaylı düzeltme ayrı dalda; değişiklikler görünür diff olarak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docs/examples/ornek_remediation_raporu.html uygulamanın gerçek remediation rapor şablonunu kullanır.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19072"/>
            <a:ext cx="10972800" cy="822960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38528"/>
            <a:ext cx="10469880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200" b="1">
                <a:solidFill>
                  <a:srgbClr val="112240"/>
                </a:solidFill>
                <a:latin typeface="Aptos"/>
              </a:defRPr>
            </a:pPr>
            <a:r>
              <a:t>YALNIZCA SENTETİK TEST ÖRNEĞİ · Hukuki uygunluk, canlı sistem davranışı veya PR sonucu göstermez.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834640"/>
            <a:ext cx="493776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payment_flow.py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3227832"/>
            <a:ext cx="5257800" cy="1536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401568"/>
            <a:ext cx="4800600" cy="11430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- return value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+ return "*" * max(0, len(value) - visible) + value[-visible:]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- return amount &gt;= 0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+ return amount &gt;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8192" y="2834640"/>
            <a:ext cx="5486400" cy="1929384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3026664"/>
            <a:ext cx="4983480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Raporda görülenler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936" y="3465576"/>
            <a:ext cx="4937760" cy="11155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Kaynak depo ve izole worktree\nRemediation dalı\nÖnce/sonra kod farkı\nSentetik fixture uyarısı\n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Test ve PR ayrı onaylı adımlardır.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230368"/>
            <a:ext cx="3749039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rPr>
                <a:hlinkClick r:id="rId2"/>
              </a:rPr>
              <a:t>HTML remediation raporunu aç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532120"/>
            <a:ext cx="868680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Uygulama diff'i tek başına test başarısı veya mevzuata uygunluk kanıtı saymaz.</a:t>
            </a:r>
          </a:p>
        </p:txBody>
      </p:sp>
      <p:pic>
        <p:nvPicPr>
          <p:cNvPr id="15" name="Picture 14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UÇTAN UCA · YEREL E2E TESTİ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RAG'den yerel PR provasına kadar her aşama çalıştırıldı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Deterministik test: tarama için mock Ollama ve sentetik fixture; gerçek GitHub PR oluşturulmadı.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37360"/>
            <a:ext cx="73152" cy="841248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2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146 mevzuat chunk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841248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1 dosya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tahmin ve tarama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841248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2 bulgu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sentetik / doğrulanmış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737360"/>
            <a:ext cx="2615184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737360"/>
            <a:ext cx="73152" cy="841248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5167" y="1847088"/>
            <a:ext cx="2304288" cy="33832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900" b="1">
                <a:solidFill>
                  <a:srgbClr val="112240"/>
                </a:solidFill>
                <a:latin typeface="Aptos"/>
              </a:defRPr>
            </a:pPr>
            <a:r>
              <a:t>2 /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21992"/>
            <a:ext cx="2304288" cy="20116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remediation testi geçti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2852928"/>
            <a:ext cx="10972800" cy="2103120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035808"/>
            <a:ext cx="4754880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Akış sonucu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3493008"/>
            <a:ext cx="10378440" cy="12344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PDF → 146 chunk · Tahmin/onay → 2 mock model · Tarama → 1 dosya / 2 sentetik bulgu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Remediation → 2 bulgu ayrı worktree'de düzeltildi · pytest → 2 passed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PR provası → dal yerel bare remote'a gönderildi; GitHub CLI yanıtı mock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Canlı llama3.2:1b denemesi → 0 dosya; model yanıtı geçersiz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3892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rPr>
                <a:hlinkClick r:id="rId2"/>
              </a:rPr>
              <a:t>E2E özeti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79" y="513892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rPr>
                <a:hlinkClick r:id="rId3"/>
              </a:rPr>
              <a:t>Tarama raporu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3892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rPr>
                <a:hlinkClick r:id="rId4"/>
              </a:rPr>
              <a:t>Remediation diff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5138928"/>
            <a:ext cx="2560320" cy="29260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rPr>
                <a:hlinkClick r:id="rId5"/>
              </a:rPr>
              <a:t>Test raporu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59552"/>
            <a:ext cx="10241280" cy="31089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Tam E2E downstream akışı mock modelle doğrulandı; canlı model hatası güvenli biçimde remediation'ı durdurdu.</a:t>
            </a:r>
          </a:p>
        </p:txBody>
      </p:sp>
      <p:pic>
        <p:nvPicPr>
          <p:cNvPr id="29" name="Picture 28" descr="softtech-logo-light-backgro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5800" y="5742432"/>
            <a:ext cx="90525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Softtech logosu görsel amaçlıdır; kurumsal onay veya iş birliği beyanı değildir.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