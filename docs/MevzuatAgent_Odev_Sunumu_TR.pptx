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732520" y="-457200"/>
            <a:ext cx="4114800" cy="2834640"/>
          </a:xfrm>
          <a:prstGeom prst="roundRect">
            <a:avLst/>
          </a:prstGeom>
          <a:solidFill>
            <a:srgbClr val="1D3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38360" y="1143000"/>
            <a:ext cx="1920240" cy="1920240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287000" y="1691640"/>
            <a:ext cx="822960" cy="822960"/>
          </a:xfrm>
          <a:prstGeom prst="roundRect">
            <a:avLst/>
          </a:prstGeom>
          <a:solidFill>
            <a:srgbClr val="11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503920" y="3977639"/>
            <a:ext cx="3474720" cy="2286000"/>
          </a:xfrm>
          <a:prstGeom prst="roundRect">
            <a:avLst/>
          </a:prstGeom>
          <a:solidFill>
            <a:srgbClr val="1D3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749808"/>
            <a:ext cx="512064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35BED7"/>
                </a:solidFill>
                <a:latin typeface="Aptos"/>
              </a:defRPr>
            </a:pPr>
            <a:r>
              <a:t>PROJE / DÖNEM ÖDEVİ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63040"/>
            <a:ext cx="786384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MevzuatAgent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23160"/>
            <a:ext cx="7406640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100" b="0">
                <a:solidFill>
                  <a:srgbClr val="D7E3F0"/>
                </a:solidFill>
                <a:latin typeface="Aptos"/>
              </a:defRPr>
            </a:pPr>
            <a:r>
              <a:t>Mevzuat bilgisini yerel kod incelemesine bağlayan,</a:t>
            </a:r>
            <a:br/>
            <a:r>
              <a:t>onay kapılarıyla çalışan yapay zekâ destekli araç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4005072"/>
            <a:ext cx="1325880" cy="73152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4270248"/>
            <a:ext cx="713232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Python  •  Ollama  •  LangChain  •  BM25 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791456"/>
            <a:ext cx="75895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B9CADC"/>
                </a:solidFill>
                <a:latin typeface="Aptos"/>
              </a:defRPr>
            </a:pPr>
            <a:r>
              <a:t>Türkçe sunum  |  Gereksinimler, mimari, güvenlik ve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B9CADC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B9CADC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01  •  NEDEN BU PROJE?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Mevzuat bilgisini kod kararlarına yaklaştırmak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Dağınık kaynaklar, manuel inceleme ve izlenmesi zor düzeltme adımlarını tek bir kontrollü akışta birleştirir.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3493008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4519"/>
            <a:ext cx="64008" cy="192024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Girdi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423160"/>
            <a:ext cx="3072384" cy="12618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Mevzuat PDF bağlantıları</a:t>
            </a:r>
            <a:br/>
            <a:r>
              <a:t>•  Kullanıcının seçtiği Git deposu</a:t>
            </a:r>
            <a:br/>
            <a:r>
              <a:t>•  Yerel Ollama model havuzu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874519"/>
            <a:ext cx="3493008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2544" y="1874519"/>
            <a:ext cx="64008" cy="192024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İşleme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23160"/>
            <a:ext cx="3072384" cy="12618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Metni parçala ve yerel ara</a:t>
            </a:r>
            <a:br/>
            <a:r>
              <a:t>•  Kapsam/süre tahmini yap</a:t>
            </a:r>
            <a:br/>
            <a:r>
              <a:t>•  İlgili kod ve kaynakları incele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74519"/>
            <a:ext cx="3493008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874519"/>
            <a:ext cx="64008" cy="192024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Çıktı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423160"/>
            <a:ext cx="3072384" cy="12618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Kanıt bağlantılı bulgular</a:t>
            </a:r>
            <a:br/>
            <a:r>
              <a:t>•  Markdown ve HTML raporları</a:t>
            </a:r>
            <a:br/>
            <a:r>
              <a:t>•  Onaylı düzeltme ve PR akışı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160520"/>
            <a:ext cx="10881360" cy="960120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325112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Temel yaklaşım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4279392"/>
            <a:ext cx="845820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223045"/>
                </a:solidFill>
                <a:latin typeface="Aptos"/>
              </a:defRPr>
            </a:pPr>
            <a:r>
              <a:t>Araç karar vermez: mevzuat uzmanının değerlendirmesine kanıt ve izlenebilir iş akışı sağlar.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422392"/>
            <a:ext cx="9875520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637389"/>
                </a:solidFill>
                <a:latin typeface="Aptos"/>
              </a:defRPr>
            </a:pPr>
            <a:r>
              <a:t>Hukuk danışmanı değildir; otomatik tarama sonucu hukuki uygunluğu kanıtlamaz.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02  •  GEREKSINIMLER 1–3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Yerel model, orkestrasyon ve mevzuat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İlk üç madde veri akışını ve çalışma teknolojilerini belirler.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3493008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4519"/>
            <a:ext cx="64008" cy="256032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1. Uygulama altyapısı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423160"/>
            <a:ext cx="3072384" cy="1901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Python ile geliştirme; PyCharm uyumlu proje</a:t>
            </a:r>
            <a:br/>
            <a:r>
              <a:t>•  Ollama üzerinden yerel LLM</a:t>
            </a:r>
            <a:br/>
            <a:r>
              <a:t>•  LangChain Runnable ile tarama akışı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874519"/>
            <a:ext cx="3493008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2544" y="1874519"/>
            <a:ext cx="64008" cy="256032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2. Mevzuat belgeleri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23160"/>
            <a:ext cx="3072384" cy="1901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mevzuat_link.json bağlantıları okunur</a:t>
            </a:r>
            <a:br/>
            <a:r>
              <a:t>•  PDF'ler yerel diske indirilir</a:t>
            </a:r>
            <a:br/>
            <a:r>
              <a:t>•  Sayfa ve kaynak bilgisi korunur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74519"/>
            <a:ext cx="3493008" cy="2560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874519"/>
            <a:ext cx="64008" cy="256032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002536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3. Orta boy parçalar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423160"/>
            <a:ext cx="3072384" cy="19019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Sayfa metni yaklaşık 1.200 karakter</a:t>
            </a:r>
            <a:br/>
            <a:r>
              <a:t>•  Yaklaşık 200 karakter örtüşme</a:t>
            </a:r>
            <a:br/>
            <a:r>
              <a:t>•  Yerel BM25 anahtar kelime araması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54880"/>
            <a:ext cx="10881360" cy="758952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892040"/>
            <a:ext cx="1417320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1">
                <a:solidFill>
                  <a:srgbClr val="112240"/>
                </a:solidFill>
                <a:latin typeface="Aptos"/>
              </a:defRPr>
            </a:pPr>
            <a:r>
              <a:t>Doğru kapsam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855464"/>
            <a:ext cx="877824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0">
                <a:solidFill>
                  <a:srgbClr val="223045"/>
                </a:solidFill>
                <a:latin typeface="Aptos"/>
              </a:defRPr>
            </a:pPr>
            <a:r>
              <a:t>Mevcut RAG embedding/vektör veritabanı değil; BM25 indeksidir.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03  •  BELGE HAZIRLAMA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PDF'den yerel arama indeksine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Kaynağın konumu parçayla birlikte saklanır; tarama sırasında ilgili bağlam geri çağrılır.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173736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2487168"/>
            <a:ext cx="3657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00AFA0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816352"/>
            <a:ext cx="14447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12240"/>
                </a:solidFill>
                <a:latin typeface="Aptos"/>
              </a:defRPr>
            </a:pPr>
            <a:r>
              <a:t>Bağlantı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200400"/>
            <a:ext cx="14447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mevzuat_link.json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788920"/>
            <a:ext cx="4114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000" b="1">
                <a:solidFill>
                  <a:srgbClr val="00AF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4368" y="2331720"/>
            <a:ext cx="173736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90672" y="2487168"/>
            <a:ext cx="3657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00AFA0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2816352"/>
            <a:ext cx="14447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12240"/>
                </a:solidFill>
                <a:latin typeface="Aptos"/>
              </a:defRPr>
            </a:pPr>
            <a:r>
              <a:t>İndirme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3200400"/>
            <a:ext cx="14447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PDF • yerel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788920"/>
            <a:ext cx="4114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000" b="1">
                <a:solidFill>
                  <a:srgbClr val="00AF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30368" y="2331720"/>
            <a:ext cx="173736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76672" y="2487168"/>
            <a:ext cx="3657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00AFA0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6672" y="2816352"/>
            <a:ext cx="14447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12240"/>
                </a:solidFill>
                <a:latin typeface="Aptos"/>
              </a:defRPr>
            </a:pPr>
            <a:r>
              <a:t>Metin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6672" y="3200400"/>
            <a:ext cx="14447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sayfa sayfa çıkarım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79" y="2788920"/>
            <a:ext cx="4114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000" b="1">
                <a:solidFill>
                  <a:srgbClr val="00AF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16368" y="2331720"/>
            <a:ext cx="173736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2" y="2487168"/>
            <a:ext cx="3657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00AFA0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2" y="2816352"/>
            <a:ext cx="14447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12240"/>
                </a:solidFill>
                <a:latin typeface="Aptos"/>
              </a:defRPr>
            </a:pPr>
            <a:r>
              <a:t>Parçalama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62672" y="3200400"/>
            <a:ext cx="14447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1.200 / 200 karakter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788920"/>
            <a:ext cx="41148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000" b="1">
                <a:solidFill>
                  <a:srgbClr val="00AF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02368" y="2331720"/>
            <a:ext cx="173736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48672" y="2487168"/>
            <a:ext cx="3657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00AFA0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2816352"/>
            <a:ext cx="1444752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500" b="1">
                <a:solidFill>
                  <a:srgbClr val="112240"/>
                </a:solidFill>
                <a:latin typeface="Aptos"/>
              </a:defRPr>
            </a:pPr>
            <a:r>
              <a:t>İndeks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48672" y="3200400"/>
            <a:ext cx="14447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BM25 • chunks.jsonl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160520"/>
            <a:ext cx="52852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4160520"/>
            <a:ext cx="64008" cy="10515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4288536"/>
            <a:ext cx="4901184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Parça üstverisi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" y="4709159"/>
            <a:ext cx="4864608" cy="39319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Kaynak PDF adı, sayfa numarası ve parça metni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4160520"/>
            <a:ext cx="539496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4160520"/>
            <a:ext cx="64008" cy="10515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4288536"/>
            <a:ext cx="501091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Sınırlar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4709159"/>
            <a:ext cx="4974336" cy="39319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OCR, belge sürüm takibi ve vektör arama yoktur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04  •  GEREKSINIMLER 4–6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Depo seçimi, tahmin ve tarama onayı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Kod taraması kullanıcı tahminini görüp açıkça onay vermeden başlamaz.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74519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536" y="203911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02082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Depo seç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repo_link.json kaynağı; klonlama öncesi kullanıcı onayı.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874519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2039112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0056" y="202082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Model havuzunu ölç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856" y="248716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Kurulu Ollama modelleri kıyaslanır; tahmini süreler sunulur.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74519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93024" y="2039112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02082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Modeli seç ve onayla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48716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En hızlı model önerilir; kullanıcı isterse başka modeli seçer.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657600"/>
            <a:ext cx="10762488" cy="1042415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822191"/>
            <a:ext cx="18288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Tahminin kapsamı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3767328"/>
            <a:ext cx="827532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0">
                <a:solidFill>
                  <a:srgbClr val="223045"/>
                </a:solidFill>
                <a:latin typeface="Aptos"/>
              </a:defRPr>
            </a:pPr>
            <a:r>
              <a:t>Kaynak dosya sayısı + ilgili mevzuat parçaları + model hız ölçümü → yaklaşık token/süre tahmini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5074920"/>
            <a:ext cx="102412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637389"/>
                </a:solidFill>
                <a:latin typeface="Aptos"/>
              </a:defRPr>
            </a:pPr>
            <a:r>
              <a:t>Yerel çalışmada parasal API maliyeti hesaplanmaz. Tahmin, kullanıcı onayının yerini tutmaz.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05  •  UÇTAN UCA AKIŞ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Dokuz gereksinim, kontrollü tek bir yaşam döngüsü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Her adımın çıktısı bir sonraki aşamanın girdisi olur; etkili işlemlerde onay kapısı vardır.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783080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536" y="194767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4767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92938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Kaynağı doğrula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JSON bağlantıları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83080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35424" y="1947672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94767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92938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Belgeyi hazırla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9572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indir • parçala • indeksle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7" y="1783080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11311" y="1947672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1" y="194767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929384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Depoyu 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7" y="2395728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açık klonlama onayı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264408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9536" y="3429000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429000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3410712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Tahmin sun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3877056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tüm kurulu modeller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264408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35424" y="3429000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35424" y="3429000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3410712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Taramayı çalıştır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877056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model ve kapsam onayı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7" y="3264408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11311" y="3429000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1" y="3429000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05087" y="3410712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Rapor üret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7" y="3877056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JSON • MD • HTML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4745736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9536" y="4910328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4910328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3312" y="4892040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İlk ikiyi seç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" y="5358384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önem ve güven sırası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9120" y="4745736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35424" y="4910328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35424" y="4910328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892040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Düzelt / test 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5358384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ayrı onay kapıları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65007" y="4745736"/>
            <a:ext cx="3429000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211311" y="4910328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11311" y="4910328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05087" y="4892040"/>
            <a:ext cx="264261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PR oluştur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47887" y="5358384"/>
            <a:ext cx="306324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son onay • GitHub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06  •  MIMARI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Sorumlulukları ayrılmış, yerel çalışan bileşenler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Terminal arayüzü kullanıcıyı yönlendirir; araçlar belirli girdilerle sınırlı işler yapar.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38328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4008" cy="15087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56816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Kullanıcı arayüzü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377440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Türkçe terminal menüsü</a:t>
            </a:r>
            <a:br/>
            <a:r>
              <a:t>•  Yapılandırma ve onay istemleri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828800"/>
            <a:ext cx="338328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7408" y="1828800"/>
            <a:ext cx="64008" cy="150876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1956816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LangChain akışı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2377440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Tahmin → onay → tarama</a:t>
            </a:r>
            <a:br/>
            <a:r>
              <a:t>•  Rapor → düzeltme planı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9016" y="1828800"/>
            <a:ext cx="338328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9016" y="1828800"/>
            <a:ext cx="64008" cy="15087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0184" y="1956816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Yerel servisler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2377440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Ollama • BM25</a:t>
            </a:r>
            <a:br/>
            <a:r>
              <a:t>•  Git • test araçları • gh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03320"/>
            <a:ext cx="3383280" cy="1508760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703320"/>
            <a:ext cx="64008" cy="150876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831335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Girdi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" y="4251959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PDF'ler ve JSON bağlantıları</a:t>
            </a:r>
            <a:br/>
            <a:r>
              <a:t>•  Kullanıcının seçtiği depo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7408" y="3703320"/>
            <a:ext cx="3383280" cy="1508760"/>
          </a:xfrm>
          <a:prstGeom prst="roundRect">
            <a:avLst/>
          </a:prstGeom>
          <a:solidFill>
            <a:srgbClr val="E2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7408" y="3703320"/>
            <a:ext cx="64008" cy="15087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8576" y="3831335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Kayıtlar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4251959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Yerel indeks ve tarama JSON'u</a:t>
            </a:r>
            <a:br/>
            <a:r>
              <a:t>•  Markdown/HTML raporları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9016" y="3703320"/>
            <a:ext cx="3383280" cy="1508760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9016" y="3703320"/>
            <a:ext cx="64008" cy="15087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4" y="3831335"/>
            <a:ext cx="29992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Düzeltme alanı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8472" y="4251959"/>
            <a:ext cx="296265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İzole Git worktree</a:t>
            </a:r>
            <a:br/>
            <a:r>
              <a:t>•  Commit / push yalnız PR onayıyla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07  •  TARAMA DOĞRULUĞU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Model çıktısı doğrudan bulgu sayılmaz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Tarama kapsamı Git tarafından izlenen kaynak dosyalarıyla sınırlıdır.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47088"/>
            <a:ext cx="34290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64008" cy="228600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75104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Bağlam seçimi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395728"/>
            <a:ext cx="3008376" cy="1627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Kod dosyası için ilgili BM25 parçaları aranır</a:t>
            </a:r>
            <a:br/>
            <a:r>
              <a:t>•  İlgili mevzuat bulunmazsa dosya modele gönderilmez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47088"/>
            <a:ext cx="34290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847088"/>
            <a:ext cx="64008" cy="228600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975104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Kanıt kontrolü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395728"/>
            <a:ext cx="3008376" cy="1627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Kod satırı dosyadaki içerikle karşılaştırılır</a:t>
            </a:r>
            <a:br/>
            <a:r>
              <a:t>•  Mevzuat sayfa atfı sunulan kaynakla eşleştirilir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847088"/>
            <a:ext cx="34290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1847088"/>
            <a:ext cx="64008" cy="228600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1975104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Raporlama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395728"/>
            <a:ext cx="3008376" cy="1627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Geçersiz kanıtlı bulgular elenir</a:t>
            </a:r>
            <a:br/>
            <a:r>
              <a:t>•  Kısmi tarama ve sınırlamalar rapora yazılır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526280"/>
            <a:ext cx="10835640" cy="822960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718304"/>
            <a:ext cx="996696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700" b="1">
                <a:solidFill>
                  <a:srgbClr val="112240"/>
                </a:solidFill>
                <a:latin typeface="Aptos"/>
              </a:defRPr>
            </a:pPr>
            <a:r>
              <a:t>Doğrulama, hukuki doğruluk garantisi değildir.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08  •  RAPORLAR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İncelenebilir bulgular ve açık sınırlamalar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Her tarama için makinece okunabilir JSON ile paylaşılabilir Markdown ve HTML çıktısı üretilir.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783080"/>
            <a:ext cx="6995160" cy="374903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93392"/>
            <a:ext cx="635508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MEVZUAT UYUMLULUK TARAMA RAPORU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23160"/>
            <a:ext cx="63093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Depo  •  dal/commit  •  model  •  tarama kapsamı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880360"/>
            <a:ext cx="6309360" cy="694944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3054096"/>
            <a:ext cx="58521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HIGH   |   Kaynak atıflı örnek bulgu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767328"/>
            <a:ext cx="61264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0">
                <a:solidFill>
                  <a:srgbClr val="223045"/>
                </a:solidFill>
                <a:latin typeface="Aptos"/>
              </a:defRPr>
            </a:pPr>
            <a:r>
              <a:t>Dosya/satır • güven puanı • mevzuat sayfası • kod kanıtı • öneri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434840"/>
            <a:ext cx="201168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1">
                <a:solidFill>
                  <a:srgbClr val="00AFA0"/>
                </a:solidFill>
                <a:latin typeface="Aptos"/>
              </a:defRPr>
            </a:pPr>
            <a:r>
              <a:t>Kapsam ve sınırlar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773168"/>
            <a:ext cx="612648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0">
                <a:solidFill>
                  <a:srgbClr val="637389"/>
                </a:solidFill>
                <a:latin typeface="Aptos"/>
              </a:defRPr>
            </a:pPr>
            <a:r>
              <a:t>Kısmi tarama, atlanan dosyalar ve model hataları ayrıca gösterilir.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74519"/>
            <a:ext cx="34747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874519"/>
            <a:ext cx="64008" cy="10515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002536"/>
            <a:ext cx="30906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Markdown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423160"/>
            <a:ext cx="3054096" cy="39319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Kod inceleme ve sürüm kontrolü için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154680"/>
            <a:ext cx="34747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3154680"/>
            <a:ext cx="64008" cy="105156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7888" y="3282696"/>
            <a:ext cx="30906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HTML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6" y="3703320"/>
            <a:ext cx="3054096" cy="39319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Stilli, tarayıcıda açılabilir rapor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4434840"/>
            <a:ext cx="64008" cy="10515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7888" y="4562855"/>
            <a:ext cx="30906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Güven ilkesi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4983479"/>
            <a:ext cx="3054096" cy="39319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Bulgu yoksa bu, uygunluk kanıtı değildir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09  •  GEREKSINIM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İlk iki bulgu için kontrollü remediation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Uygulama, model önerisini otomatik olarak kod tabanına yazmaz.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2194560"/>
            <a:ext cx="1993392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536" y="235915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35915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340864"/>
            <a:ext cx="120700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Sırala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807208"/>
            <a:ext cx="1627632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Önem seviyesi ve güven puanıyla ilk iki bulguyu seç.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2194560"/>
            <a:ext cx="1993392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72384" y="2359152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72384" y="235915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340864"/>
            <a:ext cx="120700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Öner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807208"/>
            <a:ext cx="1627632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Yerel Ollama modelinden değişiklik önerisi 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38928" y="2194560"/>
            <a:ext cx="1993392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85232" y="2359152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85232" y="235915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8" y="2340864"/>
            <a:ext cx="120700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Doğrula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2807208"/>
            <a:ext cx="1627632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Dosya yolu ve kanıt satırını bulguyla eşleştir.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51775" y="2194560"/>
            <a:ext cx="1993392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79" y="235915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79" y="235915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1855" y="2340864"/>
            <a:ext cx="120700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İncele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4655" y="2807208"/>
            <a:ext cx="1627632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Markdown/HTML diff raporunu kullanıcıya göster.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64624" y="2194560"/>
            <a:ext cx="1993392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10928" y="2359152"/>
            <a:ext cx="384048" cy="384048"/>
          </a:xfrm>
          <a:prstGeom prst="roundRect">
            <a:avLst/>
          </a:prstGeom>
          <a:solidFill>
            <a:srgbClr val="D65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10928" y="235915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04703" y="2340864"/>
            <a:ext cx="1207008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Onayla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7503" y="2807208"/>
            <a:ext cx="1627632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Açık onaydan sonra izole worktree'de uygula.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133087"/>
            <a:ext cx="10744200" cy="941832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52" y="4297680"/>
            <a:ext cx="21031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Kaynak depo korunur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4261104"/>
            <a:ext cx="7955279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223045"/>
                </a:solidFill>
                <a:latin typeface="Aptos"/>
              </a:defRPr>
            </a:pPr>
            <a:r>
              <a:t>Değişiklikler ayrı Git worktree/dalında tutulur; kaynak kopyaya otomatik yazılmaz.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" y="5349240"/>
            <a:ext cx="1005840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637389"/>
                </a:solidFill>
                <a:latin typeface="Aptos"/>
              </a:defRPr>
            </a:pPr>
            <a:r>
              <a:t>Önerinin doğruluğu garanti edilmez; insan diff'i inceleyip ayrıca onaylar.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10  •  GEREKSINIM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Test ve GitHub PR için ayrı onay kapıları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Tarama izni; kod çalıştırma, commit veya GitHub'a gönderme izni değildir.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74519"/>
            <a:ext cx="342900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874519"/>
            <a:ext cx="64008" cy="214884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02536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1. Test onayı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23160"/>
            <a:ext cx="3008376" cy="1490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Sabit ve desteklenen araç seçilir</a:t>
            </a:r>
            <a:br/>
            <a:r>
              <a:t>•  Zaman aşımı uygulanır</a:t>
            </a:r>
            <a:br/>
            <a:r>
              <a:t>•  Çıktı MD/HTML raporlanır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874519"/>
            <a:ext cx="342900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9976" y="1874519"/>
            <a:ext cx="64008" cy="214884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1144" y="2002536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2. Son kontrol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2423160"/>
            <a:ext cx="3008376" cy="1490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Test başarılı olmalı</a:t>
            </a:r>
            <a:br/>
            <a:r>
              <a:t>•  Yalnız beklenen dosyalar değişmeli</a:t>
            </a:r>
            <a:br/>
            <a:r>
              <a:t>•  Diff ve dal kullanıcıca incelenmeli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74519"/>
            <a:ext cx="342900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874519"/>
            <a:ext cx="64008" cy="214884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002536"/>
            <a:ext cx="304495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3. PR onayı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423160"/>
            <a:ext cx="3008376" cy="1490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gh kimlik doğrulaması gerekir</a:t>
            </a:r>
            <a:br/>
            <a:r>
              <a:t>•  Commit ve push gerçekleşir</a:t>
            </a:r>
            <a:br/>
            <a:r>
              <a:t>•  GitHub PR bağlantısı raporlanır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389120"/>
            <a:ext cx="10762488" cy="804672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590288"/>
            <a:ext cx="1028700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112240"/>
                </a:solidFill>
                <a:latin typeface="Aptos"/>
              </a:defRPr>
            </a:pPr>
            <a:r>
              <a:t>Gerçek GitHub PR bu proje doğrulamasında açılmadı; PR akışı yerel sahte remote ile test edildi.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11  •  KURULUM VE KULLANIM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macOS'ta anlaşılır, tekrar çalıştırılabilir kurulum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Kurulum; çevreyi hazırlar, isteğe bağlı ağ/model işlemlerini kullanıcıya bırakır.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874519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03911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0208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Başlat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871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Kurulum.command veya ./install.sh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874519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2039112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7488" y="20208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Kontrol 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4871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macOS • Git • Python 3.10+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74519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11312" y="2039112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20391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8" y="20208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Hazırla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24871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.venv ve proje paketleri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474720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96112" y="3639312"/>
            <a:ext cx="384048" cy="384048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6393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36210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Doğrula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40873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JSON ve çalışma klasörleri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07408" y="3474720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53712" y="3639312"/>
            <a:ext cx="384048" cy="384048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3712" y="36393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7488" y="36210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Seçim sun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288" y="40873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Ollama • belge • depo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3474720"/>
            <a:ext cx="3401568" cy="12984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11312" y="3639312"/>
            <a:ext cx="384048" cy="384048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3639312"/>
            <a:ext cx="384048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05088" y="3621024"/>
            <a:ext cx="2615184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112240"/>
                </a:solidFill>
                <a:latin typeface="Aptos"/>
              </a:defRPr>
            </a:pPr>
            <a:r>
              <a:t>Çalıştır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4087368"/>
            <a:ext cx="3035808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mevzuat-agent Türkçe menüsü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9808" y="5257800"/>
            <a:ext cx="10716768" cy="530352"/>
          </a:xfrm>
          <a:prstGeom prst="roundRect">
            <a:avLst/>
          </a:prstGeom>
          <a:solidFill>
            <a:srgbClr val="E2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340096"/>
            <a:ext cx="10378440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100" b="1">
                <a:solidFill>
                  <a:srgbClr val="112240"/>
                </a:solidFill>
                <a:latin typeface="Aptos"/>
              </a:defRPr>
            </a:pPr>
            <a:r>
              <a:t>Varsayılan davranış: depoları klonlama, model indirme veya mevzuat indirme otomatik onaysız yapılmaz.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12  •  ONAY MODELI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Bir onay, sonraki işlemlere taşınmaz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Etkisi dış sisteme veya kod çalıştırmaya uzanan işlemler kendi onaylarını ister.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94560"/>
            <a:ext cx="1975104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16736" y="2487168"/>
            <a:ext cx="640080" cy="640080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6736" y="2514600"/>
            <a:ext cx="640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273552"/>
            <a:ext cx="160934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Klonla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657600"/>
            <a:ext cx="1700784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000" b="0">
                <a:solidFill>
                  <a:srgbClr val="637389"/>
                </a:solidFill>
                <a:latin typeface="Aptos"/>
              </a:defRPr>
            </a:pPr>
            <a:r>
              <a:t>repo_link.json</a:t>
            </a:r>
            <a:br/>
            <a:r>
              <a:t>depoları indir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2999232"/>
            <a:ext cx="25603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400" b="1">
                <a:solidFill>
                  <a:srgbClr val="00AFA0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2194560"/>
            <a:ext cx="1975104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84448" y="2487168"/>
            <a:ext cx="640080" cy="640080"/>
          </a:xfrm>
          <a:prstGeom prst="round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2514600"/>
            <a:ext cx="640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273552"/>
            <a:ext cx="160934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Tara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3657600"/>
            <a:ext cx="1700784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000" b="0">
                <a:solidFill>
                  <a:srgbClr val="637389"/>
                </a:solidFill>
                <a:latin typeface="Aptos"/>
              </a:defRPr>
            </a:pPr>
            <a:r>
              <a:t>Tahmini gör</a:t>
            </a:r>
            <a:br/>
            <a:r>
              <a:t>modeli ve kapsamı seç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999232"/>
            <a:ext cx="25603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400" b="1">
                <a:solidFill>
                  <a:srgbClr val="00AFA0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93792" y="2194560"/>
            <a:ext cx="1975104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59" y="2487168"/>
            <a:ext cx="640080" cy="640080"/>
          </a:xfrm>
          <a:prstGeom prst="round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59" y="2514600"/>
            <a:ext cx="640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76672" y="3273552"/>
            <a:ext cx="160934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Değiştir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952" y="3657600"/>
            <a:ext cx="1700784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000" b="0">
                <a:solidFill>
                  <a:srgbClr val="637389"/>
                </a:solidFill>
                <a:latin typeface="Aptos"/>
              </a:defRPr>
            </a:pPr>
            <a:r>
              <a:t>Diff'i incele</a:t>
            </a:r>
            <a:br/>
            <a:r>
              <a:t>izole dala uygula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999232"/>
            <a:ext cx="25603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400" b="1">
                <a:solidFill>
                  <a:srgbClr val="00AFA0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61504" y="2194560"/>
            <a:ext cx="1975104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19872" y="2487168"/>
            <a:ext cx="640080" cy="640080"/>
          </a:xfrm>
          <a:prstGeom prst="round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9872" y="2514600"/>
            <a:ext cx="640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44383" y="3273552"/>
            <a:ext cx="160934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Test 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98664" y="3657600"/>
            <a:ext cx="1700784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000" b="0">
                <a:solidFill>
                  <a:srgbClr val="637389"/>
                </a:solidFill>
                <a:latin typeface="Aptos"/>
              </a:defRPr>
            </a:pPr>
            <a:r>
              <a:t>Seçilen testleri</a:t>
            </a:r>
            <a:br/>
            <a:r>
              <a:t>çalıştır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27464" y="2999232"/>
            <a:ext cx="256032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2400" b="1">
                <a:solidFill>
                  <a:srgbClr val="00AFA0"/>
                </a:solidFill>
                <a:latin typeface="Aptos"/>
              </a:defRPr>
            </a:pPr>
            <a: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9216" y="2194560"/>
            <a:ext cx="1975104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387584" y="2487168"/>
            <a:ext cx="640080" cy="640080"/>
          </a:xfrm>
          <a:prstGeom prst="roundRect">
            <a:avLst/>
          </a:prstGeom>
          <a:solidFill>
            <a:srgbClr val="D65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87584" y="2514600"/>
            <a:ext cx="64008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12096" y="3273552"/>
            <a:ext cx="1609344" cy="3200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PR aç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66376" y="3657600"/>
            <a:ext cx="1700784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000" b="0">
                <a:solidFill>
                  <a:srgbClr val="637389"/>
                </a:solidFill>
                <a:latin typeface="Aptos"/>
              </a:defRPr>
            </a:pPr>
            <a:r>
              <a:t>Commit • push</a:t>
            </a:r>
            <a:br/>
            <a:r>
              <a:t>GitHub PR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4782312"/>
            <a:ext cx="10332720" cy="749808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4956048"/>
            <a:ext cx="982980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112240"/>
                </a:solidFill>
                <a:latin typeface="Aptos"/>
              </a:defRPr>
            </a:pPr>
            <a:r>
              <a:t>Kullanıcı her kritik adımda kapsamı ve olası yan etkiyi yeniden görür.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13  •  DOĞRULAMA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Otomatik testler akış sınırlarını doğrular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Testler kodun mevzuata uygunluğunu değil, yazılım davranışını ve onay kapılarını denetler.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063240" cy="2331720"/>
          </a:xfrm>
          <a:prstGeom prst="roundRect">
            <a:avLst/>
          </a:prstGeom>
          <a:solidFill>
            <a:srgbClr val="11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057400"/>
            <a:ext cx="2651760" cy="8229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ptos"/>
              </a:defRPr>
            </a:pPr>
            <a:r>
              <a:t>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971800"/>
            <a:ext cx="260604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500" b="1">
                <a:solidFill>
                  <a:srgbClr val="35BED7"/>
                </a:solidFill>
                <a:latin typeface="Aptos"/>
              </a:defRPr>
            </a:pPr>
            <a:r>
              <a:t>geçen otomatik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502152"/>
            <a:ext cx="265176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900" b="0">
                <a:solidFill>
                  <a:srgbClr val="D5E1EE"/>
                </a:solidFill>
                <a:latin typeface="Aptos"/>
              </a:defRPr>
            </a:pPr>
            <a:r>
              <a:t>13 uyarı: bağımlılık deprecation uyarıları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1828800"/>
            <a:ext cx="345643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0" y="1828800"/>
            <a:ext cx="64008" cy="233172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1956816"/>
            <a:ext cx="3072384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Kapsanan alanlar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4256" y="2377440"/>
            <a:ext cx="3035808" cy="167335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JSON ve RAG hazırlama</a:t>
            </a:r>
            <a:br/>
            <a:r>
              <a:t>•  Model tahmini/onay akışı</a:t>
            </a:r>
            <a:br/>
            <a:r>
              <a:t>•  Kanıt ve rapor üretimi</a:t>
            </a:r>
            <a:br/>
            <a:r>
              <a:t>•  Remediation, test ve PR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82127" y="1828800"/>
            <a:ext cx="345643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82127" y="1828800"/>
            <a:ext cx="64008" cy="233172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6" y="1956816"/>
            <a:ext cx="3072384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Test yaklaşımı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1583" y="2377440"/>
            <a:ext cx="3035808" cy="167335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Onaysız adımların reddi</a:t>
            </a:r>
            <a:br/>
            <a:r>
              <a:t>•  İzole geçici Git depoları</a:t>
            </a:r>
            <a:br/>
            <a:r>
              <a:t>•  Sahte GitHub yanıtları</a:t>
            </a:r>
            <a:br/>
            <a:r>
              <a:t>•  Sabit test araçları ve timeout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572000"/>
            <a:ext cx="1024128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100" b="0">
                <a:solidFill>
                  <a:srgbClr val="637389"/>
                </a:solidFill>
                <a:latin typeface="Aptos"/>
              </a:defRPr>
            </a:pPr>
            <a:r>
              <a:t>Bu sonuç sunum üretiminden önceki test çalıştırmasına aittir; son düzenleme sonrası tekrar doğrulanacaktır.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14  •  TEST VERISI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İki demo, toplam on sentetik bulgu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Demo depoları uygulama akışını güvenli biçimde denemek için hazırlanmıştır.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874519"/>
            <a:ext cx="3401568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8" y="1874519"/>
            <a:ext cx="64008" cy="205740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2002536"/>
            <a:ext cx="30175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demo1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423160"/>
            <a:ext cx="2980944" cy="1399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5 sentetik bulgu</a:t>
            </a:r>
            <a:br/>
            <a:r>
              <a:t>•  Örnek iş kuralı kodu</a:t>
            </a:r>
            <a:br/>
            <a:r>
              <a:t>•  Tarama ve düzeltme raporları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401568" cy="2057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874519"/>
            <a:ext cx="64008" cy="205740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2002536"/>
            <a:ext cx="30175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demo2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423160"/>
            <a:ext cx="2980944" cy="1399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5 sentetik bulgu</a:t>
            </a:r>
            <a:br/>
            <a:r>
              <a:t>•  İkinci örnek senaryo</a:t>
            </a:r>
            <a:br/>
            <a:r>
              <a:t>•  Tarama ve düzeltme raporları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874519"/>
            <a:ext cx="3401568" cy="2057400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2148840"/>
            <a:ext cx="2944368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900" b="1">
                <a:solidFill>
                  <a:srgbClr val="112240"/>
                </a:solidFill>
                <a:latin typeface="Aptos"/>
              </a:defRPr>
            </a:pPr>
            <a:r>
              <a:t>YALNIZCA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788920"/>
            <a:ext cx="2944368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300" b="0">
                <a:solidFill>
                  <a:srgbClr val="223045"/>
                </a:solidFill>
                <a:latin typeface="Aptos"/>
              </a:defRPr>
            </a:pPr>
            <a:r>
              <a:t>Gerçek mevzuat ihlali değildir.</a:t>
            </a:r>
            <a:br/>
            <a:r>
              <a:t>TEST_FIXTURE_NOT_LAW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4315968"/>
            <a:ext cx="10680192" cy="841248"/>
          </a:xfrm>
          <a:prstGeom prst="round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4517136"/>
            <a:ext cx="1014984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400" b="1">
                <a:solidFill>
                  <a:srgbClr val="112240"/>
                </a:solidFill>
                <a:latin typeface="Aptos"/>
              </a:defRPr>
            </a:pPr>
            <a:r>
              <a:t>Test fixture deposu GitHub'da özeldir. Sentetik kodu üretim sistemlerinde kullanmayın.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15  •  GÜVENLIK VE MAHREMIYET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Güvenli varsayılanlar ve açık sınırlar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Kod ve mevzuat bağlamı yerel Ollama'ya gider; tarama akışı bulguları uzman incelemesine sunar.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28800"/>
            <a:ext cx="52120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828800"/>
            <a:ext cx="64008" cy="201168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56816"/>
            <a:ext cx="48280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Kontroller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77440"/>
            <a:ext cx="4791456" cy="1353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Klonlama ve tarama kullanıcı onaylıdır</a:t>
            </a:r>
            <a:br/>
            <a:r>
              <a:t>•  Düzeltme ayrı worktree'de uygulanır</a:t>
            </a:r>
            <a:br/>
            <a:r>
              <a:t>•  Test ve PR ayrı onay ister</a:t>
            </a:r>
            <a:br/>
            <a:r>
              <a:t>•  PR için yalnız beklenen dosyalar seçilir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2120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828800"/>
            <a:ext cx="64008" cy="201168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956816"/>
            <a:ext cx="482803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Kullanım sorumluluğu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656" y="2377440"/>
            <a:ext cx="4791456" cy="1353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İndirilen kaynağın güncelliğini denetleyin</a:t>
            </a:r>
            <a:br/>
            <a:r>
              <a:t>•  Yalnız güvendiğiniz projelerde test çalıştırın</a:t>
            </a:r>
            <a:br/>
            <a:r>
              <a:t>•  Model bulgusunu hukuk uzmanına doğrulatın</a:t>
            </a:r>
            <a:br/>
            <a:r>
              <a:t>•  Gerçek depoda yedek ve temiz çalışma alanı kullanın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279392"/>
            <a:ext cx="10671048" cy="896112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498848"/>
            <a:ext cx="10195560" cy="4023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400" b="1">
                <a:solidFill>
                  <a:srgbClr val="112240"/>
                </a:solidFill>
                <a:latin typeface="Aptos"/>
              </a:defRPr>
            </a:pPr>
            <a:r>
              <a:t>Otomasyon kanıtı düzenler; hukuki görüş, kesin uygunluk kararı veya güvenlik sertifikası vermez.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16  •  GEREKSINIM IZLEME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Ödev maddeleri ve uygulamadaki karşılıkları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Maddeler, konuşmada verilen dokuz gereksinim üzerinden eşleştirilmiştir.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1755648"/>
          <a:ext cx="10753344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4069080"/>
                <a:gridCol w="6089904"/>
              </a:tblGrid>
              <a:tr h="4343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No</a:t>
                      </a:r>
                    </a:p>
                  </a:txBody>
                  <a:tcPr marL="91440" marR="73152" marT="32004" marB="18288"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Gereksinim</a:t>
                      </a:r>
                    </a:p>
                  </a:txBody>
                  <a:tcPr marL="91440" marR="73152" marT="32004" marB="18288"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Uygulamadaki karşılık</a:t>
                      </a:r>
                    </a:p>
                  </a:txBody>
                  <a:tcPr marL="91440" marR="73152" marT="32004" marB="18288">
                    <a:solidFill>
                      <a:srgbClr val="11224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Python/PyCharm • Ollama • LangChain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Proje paketi, yerel model ve Runnable zinciri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mevzuat_link.json'dan indirme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download_mevzuat aracı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Orta boy RAG parçaları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1.200 karakter • 200 örtüşme • BM25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Onaylı depo klonlama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clone_repositories + menü onayı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Model havuzu tahmini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Kurulu modelleri ölç • hızlıyı öner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Tahmin sonrası onaylı tarama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Seçilen model/kapsam onayı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MD ve HTML tarama raporu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Bulgular, kanıt, dosya sonucu, sınır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8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İlk iki bulguyu iyileştir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Öneri • diff raporu • izole worktree</a:t>
                      </a:r>
                    </a:p>
                  </a:txBody>
                  <a:tcPr marL="91440" marR="73152" marT="32004" marB="18288">
                    <a:solidFill>
                      <a:srgbClr val="E7F0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9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Top iki bulgu için GitHub PR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Test onayı • son PR onayı • gh</a:t>
                      </a:r>
                    </a:p>
                  </a:txBody>
                  <a:tcPr marL="91440" marR="73152" marT="32004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17  •  BILINEN SINIRLAMALAR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Tamamlanan iş ve sonraki geliştirme alanları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Kapsamı dürüstçe ayırmak, model çıktısına gereğinden fazla güvenilmesini önler.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47088"/>
            <a:ext cx="5230368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847088"/>
            <a:ext cx="64008" cy="24231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75104"/>
            <a:ext cx="48463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Uygulanan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95728"/>
            <a:ext cx="4809744" cy="17647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PDF indirme ve sayfa metnini parçalama</a:t>
            </a:r>
            <a:br/>
            <a:r>
              <a:t>•  BM25 ile yerel mevzuat araması</a:t>
            </a:r>
            <a:br/>
            <a:r>
              <a:t>•  Onaylı tarama ve MD/HTML rapor</a:t>
            </a:r>
            <a:br/>
            <a:r>
              <a:t>•  İzole düzeltme, test ve PR akışları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1847088"/>
            <a:ext cx="5230368" cy="2423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44768" y="1847088"/>
            <a:ext cx="64008" cy="24231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1975104"/>
            <a:ext cx="484632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600" b="1">
                <a:solidFill>
                  <a:srgbClr val="112240"/>
                </a:solidFill>
                <a:latin typeface="Aptos"/>
              </a:defRPr>
            </a:pPr>
            <a:r>
              <a:t>Henüz yok / garanti edilmez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2395728"/>
            <a:ext cx="4809744" cy="17647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200" b="0">
                <a:solidFill>
                  <a:srgbClr val="223045"/>
                </a:solidFill>
                <a:latin typeface="Aptos"/>
              </a:defRPr>
            </a:pPr>
            <a:r>
              <a:t>•  OCR, vektör arama ve belge sürüm takibi</a:t>
            </a:r>
            <a:br/>
            <a:r>
              <a:t>•  Hukuki doğruluğun otomatik kanıtlanması</a:t>
            </a:r>
            <a:br/>
            <a:r>
              <a:t>•  Web arayüzü ve devam ettirilebilir işler</a:t>
            </a:r>
            <a:br/>
            <a:r>
              <a:t>•  Gerçek GitHub PR ile uçtan uca canlı doğrulama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681728"/>
            <a:ext cx="10661904" cy="749808"/>
          </a:xfrm>
          <a:prstGeom prst="round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37176"/>
            <a:ext cx="1024128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defRPr sz="1100" b="1">
                <a:solidFill>
                  <a:srgbClr val="112240"/>
                </a:solidFill>
                <a:latin typeface="Aptos"/>
              </a:defRPr>
            </a:pPr>
            <a:r>
              <a:t>Sonraki adımlar: PDF rubriğini doğrula • gerçek mevzuat örnekleriyle uzman değerlendirmesi yap • gerçek PR akışını yetkili test deposunda dene.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9184"/>
            <a:ext cx="1088136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900" b="1">
                <a:solidFill>
                  <a:srgbClr val="00AFA0"/>
                </a:solidFill>
                <a:latin typeface="Aptos"/>
              </a:defRPr>
            </a:pPr>
            <a:r>
              <a:t>18  •  KISA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2700" b="1">
                <a:solidFill>
                  <a:srgbClr val="112240"/>
                </a:solidFill>
                <a:latin typeface="Aptos"/>
              </a:defRPr>
            </a:pPr>
            <a:r>
              <a:t>Uygulamayı sunumda nasıl gösteririm?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881360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0">
                <a:solidFill>
                  <a:srgbClr val="637389"/>
                </a:solidFill>
                <a:latin typeface="Aptos"/>
              </a:defRPr>
            </a:pPr>
            <a:r>
              <a:t>Sentetik test deposunda, dış sisteme yan etki oluşturmadan ana akışı sergileyin.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5074920" cy="9875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984248"/>
            <a:ext cx="493776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00AFA0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4023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Kurulumu başlat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295144"/>
            <a:ext cx="40233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Kurulum.command → Python ve paket kontrolü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83080"/>
            <a:ext cx="5074920" cy="9875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984248"/>
            <a:ext cx="493776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00AFA0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920240"/>
            <a:ext cx="4023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Menüyü aç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295144"/>
            <a:ext cx="40233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mevzuat-agent → yapılandırma kontrolü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081528"/>
            <a:ext cx="5074920" cy="9875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282696"/>
            <a:ext cx="493776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00AFA0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218688"/>
            <a:ext cx="4023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Demo depoyu seç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593592"/>
            <a:ext cx="40233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Yalnızca test için hazırlanmış sentetik depo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081528"/>
            <a:ext cx="5074920" cy="9875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8" y="3282696"/>
            <a:ext cx="493776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00AFA0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218688"/>
            <a:ext cx="4023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Tahmini gör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593592"/>
            <a:ext cx="40233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Kurulu Ollama modelleri ve süreler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379976"/>
            <a:ext cx="5074920" cy="9875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4581144"/>
            <a:ext cx="493776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00AFA0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517136"/>
            <a:ext cx="4023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Raporu incele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892040"/>
            <a:ext cx="40233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Kaynak/kanıt ve tarama kapsamı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379976"/>
            <a:ext cx="5074920" cy="9875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4581144"/>
            <a:ext cx="493776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300" b="1">
                <a:solidFill>
                  <a:srgbClr val="00AFA0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517136"/>
            <a:ext cx="402336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400" b="1">
                <a:solidFill>
                  <a:srgbClr val="112240"/>
                </a:solidFill>
                <a:latin typeface="Aptos"/>
              </a:defRPr>
            </a:pPr>
            <a:r>
              <a:t>Düzeltmeyi göster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892040"/>
            <a:ext cx="402336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000" b="0">
                <a:solidFill>
                  <a:srgbClr val="637389"/>
                </a:solidFill>
                <a:latin typeface="Aptos"/>
              </a:defRPr>
            </a:pPr>
            <a:r>
              <a:t>İzole dal ve diff; PR onayı verme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637389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637389"/>
                </a:solidFill>
                <a:latin typeface="Aptos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6384" y="749808"/>
            <a:ext cx="27432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1">
                <a:solidFill>
                  <a:srgbClr val="35BED7"/>
                </a:solidFill>
                <a:latin typeface="Aptos"/>
              </a:defRPr>
            </a:pPr>
            <a:r>
              <a:t>ÖZET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1353312"/>
            <a:ext cx="9875520" cy="1572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tos"/>
              </a:defRPr>
            </a:pPr>
            <a:r>
              <a:t>İzlenebilir analiz.</a:t>
            </a:r>
            <a:br/>
            <a:r>
              <a:t>Açık onay. İnsan kararı.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10128"/>
            <a:ext cx="9784080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700" b="0">
                <a:solidFill>
                  <a:srgbClr val="D7E3F0"/>
                </a:solidFill>
                <a:latin typeface="Aptos"/>
              </a:defRPr>
            </a:pPr>
            <a:r>
              <a:t>MevzuatAgent; yerel LLM ve RAG'i kontrollü kod inceleme, raporlama ve düzeltme akışına bağlar.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352544"/>
            <a:ext cx="10287000" cy="1005840"/>
          </a:xfrm>
          <a:prstGeom prst="roundRect">
            <a:avLst/>
          </a:prstGeom>
          <a:solidFill>
            <a:srgbClr val="1D3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517136"/>
            <a:ext cx="9829800" cy="6217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ptos"/>
              </a:defRPr>
            </a:pPr>
            <a:r>
              <a:t>Kaynak notu: Bu sunum konuşmada verilen dokuz gereksinime göre hazırlanmıştır. Ekli dosya yalnızca PDF simgesi olarak erişilebildi; PDF içeriği ve rubriği doğrulanamadı.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692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defRPr sz="800" b="1">
                <a:solidFill>
                  <a:srgbClr val="B9CADC"/>
                </a:solidFill>
                <a:latin typeface="Aptos"/>
              </a:defRPr>
            </a:pPr>
            <a:r>
              <a:t>MEVZUATAGENT  •  YEREL  •  ONAYLI  •  DENETLENEBİLİR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19088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defRPr sz="1000" b="1">
                <a:solidFill>
                  <a:srgbClr val="B9CADC"/>
                </a:solidFill>
                <a:latin typeface="Aptos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MevzuatAgent - Ödev Sunumu</dc:title>
  <dc:subject>Proje gereksinimleri, mimari, testler ve sınırlamalar</dc:subject>
  <dc:creator>MevzuatAgent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