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732520" y="-457200"/>
            <a:ext cx="4114800" cy="2834640"/>
          </a:xfrm>
          <a:prstGeom prst="roundRect">
            <a:avLst/>
          </a:prstGeom>
          <a:solidFill>
            <a:srgbClr val="1D3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38360" y="1143000"/>
            <a:ext cx="1920240" cy="1920240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87000" y="1691640"/>
            <a:ext cx="822960" cy="822960"/>
          </a:xfrm>
          <a:prstGeom prst="roundRect">
            <a:avLst/>
          </a:prstGeom>
          <a:solidFill>
            <a:srgbClr val="11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03920" y="3977639"/>
            <a:ext cx="3474720" cy="2286000"/>
          </a:xfrm>
          <a:prstGeom prst="roundRect">
            <a:avLst/>
          </a:prstGeom>
          <a:solidFill>
            <a:srgbClr val="1D3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749808"/>
            <a:ext cx="512064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35BED7"/>
                </a:solidFill>
                <a:latin typeface="Aptos"/>
              </a:defRPr>
            </a:pPr>
            <a:r>
              <a:t>PROJE / DÖNEM ÖDEVİ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63040"/>
            <a:ext cx="786384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MevzuatAgent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23160"/>
            <a:ext cx="740664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100" b="0">
                <a:solidFill>
                  <a:srgbClr val="D7E3F0"/>
                </a:solidFill>
                <a:latin typeface="Aptos"/>
              </a:defRPr>
            </a:pPr>
            <a:r>
              <a:t>Mevzuat bilgisini yerel kod incelemesine bağlayan,</a:t>
            </a:r>
            <a:br/>
            <a:r>
              <a:t>onay kapılarıyla çalışan yapay zekâ destekli araç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4005072"/>
            <a:ext cx="1325880" cy="73152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270248"/>
            <a:ext cx="71323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Python  •  Ollama  •  LangChain  •  BM25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791456"/>
            <a:ext cx="7589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B9CADC"/>
                </a:solidFill>
                <a:latin typeface="Aptos"/>
              </a:defRPr>
            </a:pPr>
            <a:r>
              <a:t>Sohbet arayüzü  |  Uçtan uca akış  |  Onaylı remediation ve PR</a:t>
            </a:r>
          </a:p>
        </p:txBody>
      </p:sp>
      <p:pic>
        <p:nvPicPr>
          <p:cNvPr id="12" name="Picture 11" descr="soft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74920"/>
            <a:ext cx="1600200" cy="6945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B9CADC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B9CADC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01  •  NEDEN BU PROJE?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Mevzuat bilgisini kod kararlarına yaklaştırmak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Dağınık kaynaklar, manuel inceleme ve izlenmesi zor düzeltme adımlarını tek bir kontrollü akışta birleştirir.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3493008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64008" cy="19202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Girdi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423160"/>
            <a:ext cx="3072384" cy="12618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Mevzuat PDF bağlantıları</a:t>
            </a:r>
            <a:br/>
            <a:r>
              <a:t>•  Kullanıcının seçtiği Git deposu</a:t>
            </a:r>
            <a:br/>
            <a:r>
              <a:t>•  Yerel Ollama model havuzu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874519"/>
            <a:ext cx="3493008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2544" y="1874519"/>
            <a:ext cx="64008" cy="19202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İşleme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072384" cy="12618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Metni parçala ve yerel ara</a:t>
            </a:r>
            <a:br/>
            <a:r>
              <a:t>•  Kapsam/süre tahmini yap</a:t>
            </a:r>
            <a:br/>
            <a:r>
              <a:t>•  İlgili kod ve kaynakları incele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93008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19202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Çıktı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72384" cy="12618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Kanıt bağlantılı bulgular</a:t>
            </a:r>
            <a:br/>
            <a:r>
              <a:t>•  Markdown ve HTML raporları</a:t>
            </a:r>
            <a:br/>
            <a:r>
              <a:t>•  Onaylı düzeltme ve PR akışı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10881360" cy="960120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32511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Temel yaklaşım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279392"/>
            <a:ext cx="84582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223045"/>
                </a:solidFill>
                <a:latin typeface="Aptos"/>
              </a:defRPr>
            </a:pPr>
            <a:r>
              <a:t>Araç karar vermez: mevzuat uzmanının değerlendirmesine kanıt ve izlenebilir iş akışı sağlar.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422392"/>
            <a:ext cx="9875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37389"/>
                </a:solidFill>
                <a:latin typeface="Aptos"/>
              </a:defRPr>
            </a:pPr>
            <a:r>
              <a:t>Hukuk danışmanı değildir; otomatik tarama sonucu hukuki uygunluğu kanıtlamaz.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02  •  GEREKSINIMLER 1–3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Yerel model, orkestrasyon ve mevzuat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İlk üç madde veri akışını ve çalışma teknolojilerini belirler.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3493008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64008" cy="256032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1. Uygulama altyapısı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423160"/>
            <a:ext cx="3072384" cy="1901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Python ile geliştirme; PyCharm uyumlu proje</a:t>
            </a:r>
            <a:br/>
            <a:r>
              <a:t>•  Ollama üzerinden yerel LLM</a:t>
            </a:r>
            <a:br/>
            <a:r>
              <a:t>•  LangChain Runnable ile tarama akışı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874519"/>
            <a:ext cx="3493008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2544" y="1874519"/>
            <a:ext cx="64008" cy="256032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2. Mevzuat belgeleri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072384" cy="1901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mevzuat_link.json bağlantıları okunur</a:t>
            </a:r>
            <a:br/>
            <a:r>
              <a:t>•  PDF'ler yerel diske indirilir</a:t>
            </a:r>
            <a:br/>
            <a:r>
              <a:t>•  Sayfa ve kaynak bilgisi korunur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93008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256032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3. Orta boy parçalar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72384" cy="1901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Sayfa metni yaklaşık 1.200 karakter</a:t>
            </a:r>
            <a:br/>
            <a:r>
              <a:t>•  Yaklaşık 200 karakter örtüşme</a:t>
            </a:r>
            <a:br/>
            <a:r>
              <a:t>•  Yerel BM25 anahtar kelime araması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54880"/>
            <a:ext cx="10881360" cy="75895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892040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1">
                <a:solidFill>
                  <a:srgbClr val="112240"/>
                </a:solidFill>
                <a:latin typeface="Aptos"/>
              </a:defRPr>
            </a:pPr>
            <a:r>
              <a:t>Doğru kapsam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855464"/>
            <a:ext cx="87782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0">
                <a:solidFill>
                  <a:srgbClr val="223045"/>
                </a:solidFill>
                <a:latin typeface="Aptos"/>
              </a:defRPr>
            </a:pPr>
            <a:r>
              <a:t>Mevcut RAG embedding/vektör veritabanı değil; BM25 indeksidir.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03  •  BELGE HAZIRLAMA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PDF'den yerel arama indeksine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Kaynağın konumu parçayla birlikte saklanır; tarama sırasında ilgili bağlam geri çağrılır.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Bağlantı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mevzuat_link.json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4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0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İndirme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PDF • yerel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30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Metin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6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sayfa sayfa çıkarım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79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16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Parçalama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2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1.200 / 200 karakter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02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48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İndeks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48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BM25 • chunks.jsonl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160520"/>
            <a:ext cx="52852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4160520"/>
            <a:ext cx="64008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4288536"/>
            <a:ext cx="4901184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Parça üstverisi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4709159"/>
            <a:ext cx="4864608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Kaynak PDF adı, sayfa numarası ve parça metni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4160520"/>
            <a:ext cx="539496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4160520"/>
            <a:ext cx="64008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4288536"/>
            <a:ext cx="501091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Sınırlar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4709159"/>
            <a:ext cx="497433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OCR, belge sürüm takibi ve vektör arama yoktur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04  •  GEREKSINIMLER 4–6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Depo seçimi, tahmin ve tarama onayı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Kod taraması kullanıcı tahminini görüp açıkça onay vermeden başlamaz.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0391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02082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Depo seç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repo_link.json kaynağı; klonlama öncesi kullanıcı onayı.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874519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20391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202082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Model havuzunu ölç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24871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 Ollama modelleri kıyaslanır; tahmini süreler sunulur.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74519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93024" y="203911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02082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Modeli seç ve onayla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871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En hızlı model önerilir; kullanıcı isterse başka modeli seçer.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657600"/>
            <a:ext cx="10762488" cy="1042415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822191"/>
            <a:ext cx="18288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Tahminin kapsamı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767328"/>
            <a:ext cx="827532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0">
                <a:solidFill>
                  <a:srgbClr val="223045"/>
                </a:solidFill>
                <a:latin typeface="Aptos"/>
              </a:defRPr>
            </a:pPr>
            <a:r>
              <a:t>Kaynak dosya sayısı + ilgili mevzuat parçaları + model hız ölçümü → yaklaşık token/süre tahmini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074920"/>
            <a:ext cx="102412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37389"/>
                </a:solidFill>
                <a:latin typeface="Aptos"/>
              </a:defRPr>
            </a:pPr>
            <a:r>
              <a:t>Yerel çalışmada parasal API maliyeti hesaplanmaz. Tahmin, kullanıcı onayının yerini tutmaz.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05  •  UÇTAN UCA AKIŞ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Dokuz gereksinim, kontrollü tek bir yaşam döngüsü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Her adımın çıktısı bir sonraki aşamanın girdisi olur; etkili işlemlerde onay kapısı vardır.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783080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194767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4767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92938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Kaynağı doğrula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JSON bağlantıları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5424" y="194767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94767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92938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Belgeyi hazırla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9572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indir • parçala • indeksle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783080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1" y="194767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1" y="194767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92938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Depoyu 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239572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açık klonlama onayı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264408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6" y="3429000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429000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410712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Tahmin sun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877056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tüm kurulu modeller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264408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35424" y="3429000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3429000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410712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Taramayı çalıştır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877056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model ve kapsam onayı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7" y="3264408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11311" y="3429000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1" y="3429000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05087" y="3410712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Rapor üret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7" y="3877056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JSON • MD • HTML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745736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9536" y="4910328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910328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892040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İlk ikiyi seç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" y="5358384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önem ve güven sırası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9120" y="4745736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35424" y="4910328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4910328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892040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Düzelt / test 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358384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ayrı onay kapıları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65007" y="4745736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211311" y="4910328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11311" y="4910328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7" y="4892040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PR oluştur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47887" y="5358384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son onay • GitHub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06  •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Sorumlulukları ayrılmış, yerel çalışan bileşenler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Terminal arayüzü kullanıcıyı yönlendirir; araçlar belirli girdilerle sınırlı işler yapar.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38328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4008" cy="15087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56816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Sohbet arayüzü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377440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Türkçe doğal dil etkileşimi</a:t>
            </a:r>
            <a:br/>
            <a:r>
              <a:t>•  Proje promptu ve onay istemleri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828800"/>
            <a:ext cx="338328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8" y="1828800"/>
            <a:ext cx="64008" cy="15087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1956816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LangChain akışı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2377440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Tahmin → onay → tarama</a:t>
            </a:r>
            <a:br/>
            <a:r>
              <a:t>•  Rapor → düzeltme planı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828800"/>
            <a:ext cx="338328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9016" y="1828800"/>
            <a:ext cx="64008" cy="15087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956816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Yerel servisler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2377440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Ollama • BM25</a:t>
            </a:r>
            <a:br/>
            <a:r>
              <a:t>•  Git • test araçları • gh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03320"/>
            <a:ext cx="3383280" cy="1508760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703320"/>
            <a:ext cx="64008" cy="15087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831335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Girdi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" y="4251959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PDF'ler ve JSON bağlantıları</a:t>
            </a:r>
            <a:br/>
            <a:r>
              <a:t>•  Kullanıcının seçtiği depo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3703320"/>
            <a:ext cx="3383280" cy="1508760"/>
          </a:xfrm>
          <a:prstGeom prst="roundRect">
            <a:avLst/>
          </a:prstGeom>
          <a:solidFill>
            <a:srgbClr val="E2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7408" y="3703320"/>
            <a:ext cx="64008" cy="15087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31335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Kayıtlar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4251959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Yerel indeks ve tarama JSON'u</a:t>
            </a:r>
            <a:br/>
            <a:r>
              <a:t>•  Markdown/HTML raporları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9016" y="3703320"/>
            <a:ext cx="3383280" cy="1508760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9016" y="3703320"/>
            <a:ext cx="64008" cy="15087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3831335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Düzeltme alanı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2" y="4251959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İzole Git worktree</a:t>
            </a:r>
            <a:br/>
            <a:r>
              <a:t>•  Commit / push yalnız PR onayıyla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07  •  TARAMA DOĞRULUĞU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Model çıktısı doğrudan bulgu sayılmaz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Tarama kapsamı Git tarafından izlenen kaynak dosyalarıyla sınırlıdır.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47088"/>
            <a:ext cx="34290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64008" cy="228600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75104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Bağlam seçimi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3008376" cy="1627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Kod dosyası için ilgili BM25 parçaları aranır</a:t>
            </a:r>
            <a:br/>
            <a:r>
              <a:t>•  İlgili mevzuat bulunmazsa dosya modele gönderilmez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47088"/>
            <a:ext cx="34290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47088"/>
            <a:ext cx="64008" cy="228600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975104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Kanıt kontrolü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395728"/>
            <a:ext cx="3008376" cy="1627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Kod satırı dosyadaki içerikle karşılaştırılır</a:t>
            </a:r>
            <a:br/>
            <a:r>
              <a:t>•  Mevzuat sayfa atfı sunulan kaynakla eşleştirilir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47088"/>
            <a:ext cx="34290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847088"/>
            <a:ext cx="64008" cy="228600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975104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Raporlama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395728"/>
            <a:ext cx="3008376" cy="1627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Geçersiz kanıtlı bulgular elenir</a:t>
            </a:r>
            <a:br/>
            <a:r>
              <a:t>•  Kısmi tarama ve sınırlamalar rapora yazılır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526280"/>
            <a:ext cx="10835640" cy="822960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718304"/>
            <a:ext cx="996696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700" b="1">
                <a:solidFill>
                  <a:srgbClr val="112240"/>
                </a:solidFill>
                <a:latin typeface="Aptos"/>
              </a:defRPr>
            </a:pPr>
            <a:r>
              <a:t>Doğrulama, hukuki doğruluk garantisi değildir.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08  •  RAPORLAR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İncelenebilir bulgular ve açık sınırlamalar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Her tarama için makinece okunabilir JSON ile paylaşılabilir Markdown ve HTML çıktısı üretilir.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783080"/>
            <a:ext cx="6995160" cy="374903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93392"/>
            <a:ext cx="635508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MEVZUAT UYUMLULUK TARAMA RAPORU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23160"/>
            <a:ext cx="6309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Depo  •  dal/commit  •  model  •  tarama kapsamı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880360"/>
            <a:ext cx="6309360" cy="694944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054096"/>
            <a:ext cx="58521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HIGH   |   Kaynak atıflı örnek bulgu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67328"/>
            <a:ext cx="61264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223045"/>
                </a:solidFill>
                <a:latin typeface="Aptos"/>
              </a:defRPr>
            </a:pPr>
            <a:r>
              <a:t>Dosya/satır • güven puanı • mevzuat sayfası • kod kanıtı • öneri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434840"/>
            <a:ext cx="20116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1">
                <a:solidFill>
                  <a:srgbClr val="00AFA0"/>
                </a:solidFill>
                <a:latin typeface="Aptos"/>
              </a:defRPr>
            </a:pPr>
            <a:r>
              <a:t>Kapsam ve sınırlar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773168"/>
            <a:ext cx="612648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637389"/>
                </a:solidFill>
                <a:latin typeface="Aptos"/>
              </a:defRPr>
            </a:pPr>
            <a:r>
              <a:t>Kısmi tarama, atlanan dosyalar ve model hataları ayrıca gösterilir.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747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0906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Markdown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5409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Kod inceleme ve sürüm kontrolü için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154680"/>
            <a:ext cx="34747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3154680"/>
            <a:ext cx="64008" cy="10515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3282696"/>
            <a:ext cx="30906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3703320"/>
            <a:ext cx="305409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Stilli, tarayıcıda açılabilir rapor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4434840"/>
            <a:ext cx="64008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4562855"/>
            <a:ext cx="30906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Güven ilkesi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4983479"/>
            <a:ext cx="305409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Bulgu yoksa bu, uygunluk kanıtı değildir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09  •  GEREKSINIM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İlk iki bulgu için kontrollü remediation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Uygulama, model önerisini otomatik olarak kod tabanına yazmaz.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35915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Sırala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Önem seviyesi ve güven puanıyla ilk iki bulguyu seç.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235915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72384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Öner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Yerel Ollama modelinden değişiklik önerisi 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38928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85232" y="235915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5232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8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Doğrula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Dosya yolu ve kanıt satırını bulguyla eşleştir.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1775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79" y="235915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855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İncele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655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Markdown/HTML diff raporunu kullanıcıya göster.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64624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10928" y="2359152"/>
            <a:ext cx="384048" cy="384048"/>
          </a:xfrm>
          <a:prstGeom prst="round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10928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04703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Onayla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3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Açık onaydan sonra izole worktree'de uygula.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133087"/>
            <a:ext cx="10744200" cy="941832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429768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Kaynak depo korunur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261104"/>
            <a:ext cx="7955279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223045"/>
                </a:solidFill>
                <a:latin typeface="Aptos"/>
              </a:defRPr>
            </a:pPr>
            <a:r>
              <a:t>Değişiklikler ayrı Git worktree/dalında tutulur; kaynak kopyaya otomatik yazılmaz.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5349240"/>
            <a:ext cx="100584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37389"/>
                </a:solidFill>
                <a:latin typeface="Aptos"/>
              </a:defRPr>
            </a:pPr>
            <a:r>
              <a:t>Önerinin doğruluğu garanti edilmez; insan diff'i inceleyip ayrıca onaylar.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10  •  GEREKSINIM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Test ve GitHub PR için ayrı onay kapıları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Tarama izni; kod çalıştırma, commit veya GitHub'a gönderme izni değildir.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342900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74519"/>
            <a:ext cx="64008" cy="21488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02536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1. Test onayı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23160"/>
            <a:ext cx="3008376" cy="1490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Sabit ve desteklenen araç seçilir</a:t>
            </a:r>
            <a:br/>
            <a:r>
              <a:t>•  Zaman aşımı uygulanır</a:t>
            </a:r>
            <a:br/>
            <a:r>
              <a:t>•  Çıktı MD/HTML raporlanır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874519"/>
            <a:ext cx="342900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9976" y="1874519"/>
            <a:ext cx="64008" cy="21488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2002536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2. Son kontrol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423160"/>
            <a:ext cx="3008376" cy="1490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Test başarılı olmalı</a:t>
            </a:r>
            <a:br/>
            <a:r>
              <a:t>•  Yalnız beklenen dosyalar değişmeli</a:t>
            </a:r>
            <a:br/>
            <a:r>
              <a:t>•  Diff ve dal kullanıcıca incelenmeli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2900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21488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3. PR onayı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08376" cy="1490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gh kimlik doğrulaması gerekir</a:t>
            </a:r>
            <a:br/>
            <a:r>
              <a:t>•  Commit ve push gerçekleşir</a:t>
            </a:r>
            <a:br/>
            <a:r>
              <a:t>•  GitHub PR bağlantısı raporlanır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389120"/>
            <a:ext cx="10762488" cy="80467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590288"/>
            <a:ext cx="102870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112240"/>
                </a:solidFill>
                <a:latin typeface="Aptos"/>
              </a:defRPr>
            </a:pPr>
            <a:r>
              <a:t>Gerçek GitHub PR bu proje doğrulamasında açılmadı; PR akışı yerel sahte remote ile test edildi.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11  •  KURULUM VE KULLANIM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macOS'ta anlaşılır, tekrar çalıştırılabilir kurulum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Kurulum; çevreyi hazırlar, isteğe bağlı ağ/model işlemlerini kullanıcıya bırakır.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391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Başlat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Kurulum.command veya ./install.sh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20391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Kontrol 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macOS • Git • Python 3.10+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2" y="203911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Hazırla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.venv ve proje paketleri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474720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6112" y="36393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6210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Doğrula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0873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JSON ve çalışma klasörleri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7408" y="3474720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53712" y="36393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36393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36210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Seçim sun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40873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Ollama • belge • depo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3474720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11312" y="363931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6393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05088" y="36210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Sohbeti başlat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0873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mevzuat-agent • yerel Ollama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9808" y="5257800"/>
            <a:ext cx="10716768" cy="530352"/>
          </a:xfrm>
          <a:prstGeom prst="roundRect">
            <a:avLst/>
          </a:prstGeom>
          <a:solidFill>
            <a:srgbClr val="E2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340096"/>
            <a:ext cx="1037844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1">
                <a:solidFill>
                  <a:srgbClr val="112240"/>
                </a:solidFill>
                <a:latin typeface="Aptos"/>
              </a:defRPr>
            </a:pPr>
            <a:r>
              <a:t>Varsayılan davranış: depoları klonlama, model indirme veya mevzuat indirme otomatik onaysız yapılmaz.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12  •  ONAY MODELI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Bir onay, sonraki işlemlere taşınmaz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Etkisi dış sisteme veya kod çalıştırmaya uzanan işlemler kendi onaylarını ister.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16736" y="2487168"/>
            <a:ext cx="640080" cy="640080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6736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Klonla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repo_link.json</a:t>
            </a:r>
            <a:br/>
            <a:r>
              <a:t>depoları indir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84448" y="2487168"/>
            <a:ext cx="640080" cy="640080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Tara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Tahmini gör</a:t>
            </a:r>
            <a:br/>
            <a:r>
              <a:t>modeli ve kapsamı seç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59" y="2487168"/>
            <a:ext cx="640080" cy="640080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59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Değiştir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952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Diff'i incele</a:t>
            </a:r>
            <a:br/>
            <a:r>
              <a:t>izole dala uygula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61504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19872" y="2487168"/>
            <a:ext cx="640080" cy="640080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9872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Test 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8664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Seçilen testleri</a:t>
            </a:r>
            <a:br/>
            <a:r>
              <a:t>çalıştır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7464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9216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387584" y="2487168"/>
            <a:ext cx="640080" cy="640080"/>
          </a:xfrm>
          <a:prstGeom prst="round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87584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2096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PR aç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66376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Commit • push</a:t>
            </a:r>
            <a:br/>
            <a:r>
              <a:t>GitHub PR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782312"/>
            <a:ext cx="10332720" cy="749808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956048"/>
            <a:ext cx="98298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Kullanıcı her kritik adımda kapsamı ve olası yan etkiyi yeniden görür.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13  •  DOĞRULAMA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Otomatik testler akış sınırlarını doğrular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Testler kodun mevzuata uygunluğunu değil, yazılım davranışını ve onay kapılarını denetler.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063240" cy="2331720"/>
          </a:xfrm>
          <a:prstGeom prst="roundRect">
            <a:avLst/>
          </a:prstGeom>
          <a:solidFill>
            <a:srgbClr val="11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057400"/>
            <a:ext cx="265176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ptos"/>
              </a:defRPr>
            </a:pPr>
            <a:r>
              <a:t>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971800"/>
            <a:ext cx="260604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35BED7"/>
                </a:solidFill>
                <a:latin typeface="Aptos"/>
              </a:defRPr>
            </a:pPr>
            <a:r>
              <a:t>geçen otomatik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502152"/>
            <a:ext cx="265176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900" b="0">
                <a:solidFill>
                  <a:srgbClr val="D5E1EE"/>
                </a:solidFill>
                <a:latin typeface="Aptos"/>
              </a:defRPr>
            </a:pPr>
            <a:r>
              <a:t>13 uyarı: bağımlılık deprecation uyarıları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828800"/>
            <a:ext cx="345643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1828800"/>
            <a:ext cx="64008" cy="233172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956816"/>
            <a:ext cx="3072384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Kapsanan alanlar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4256" y="2377440"/>
            <a:ext cx="3035808" cy="167335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JSON ve RAG hazırlama</a:t>
            </a:r>
            <a:br/>
            <a:r>
              <a:t>•  Model tahmini/onay akışı</a:t>
            </a:r>
            <a:br/>
            <a:r>
              <a:t>•  Kanıt ve rapor üretimi</a:t>
            </a:r>
            <a:br/>
            <a:r>
              <a:t>•  Remediation, test ve PR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7" y="1828800"/>
            <a:ext cx="345643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82127" y="1828800"/>
            <a:ext cx="64008" cy="233172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1956816"/>
            <a:ext cx="3072384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Test yaklaşımı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377440"/>
            <a:ext cx="3035808" cy="167335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Onaysız adımların reddi</a:t>
            </a:r>
            <a:br/>
            <a:r>
              <a:t>•  İzole geçici Git depoları</a:t>
            </a:r>
            <a:br/>
            <a:r>
              <a:t>•  Sahte GitHub yanıtları</a:t>
            </a:r>
            <a:br/>
            <a:r>
              <a:t>•  Sabit test araçları ve timeout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72000"/>
            <a:ext cx="1024128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0">
                <a:solidFill>
                  <a:srgbClr val="637389"/>
                </a:solidFill>
                <a:latin typeface="Aptos"/>
              </a:defRPr>
            </a:pPr>
            <a:r>
              <a:t>56 otomatik test yazılım davranışını doğrular; gerçek model çıktısı hukuki doğruluğu kanıtlamaz.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14  •  TEST VERISI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İki demo, toplam on sentetik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Demo depoları uygulama akışını güvenli biçimde denemek için hazırlanmıştır.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74519"/>
            <a:ext cx="3401568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874519"/>
            <a:ext cx="64008" cy="205740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002536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demo1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423160"/>
            <a:ext cx="2980944" cy="1399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5 sentetik bulgu</a:t>
            </a:r>
            <a:br/>
            <a:r>
              <a:t>•  Örnek iş kuralı kodu</a:t>
            </a:r>
            <a:br/>
            <a:r>
              <a:t>•  Tarama ve düzeltme raporları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401568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74519"/>
            <a:ext cx="64008" cy="205740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002536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demo2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423160"/>
            <a:ext cx="2980944" cy="1399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5 sentetik bulgu</a:t>
            </a:r>
            <a:br/>
            <a:r>
              <a:t>•  İkinci örnek senaryo</a:t>
            </a:r>
            <a:br/>
            <a:r>
              <a:t>•  Tarama ve düzeltme raporları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874519"/>
            <a:ext cx="3401568" cy="2057400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148840"/>
            <a:ext cx="2944368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112240"/>
                </a:solidFill>
                <a:latin typeface="Aptos"/>
              </a:defRPr>
            </a:pPr>
            <a:r>
              <a:t>YALNIZCA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788920"/>
            <a:ext cx="294436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0">
                <a:solidFill>
                  <a:srgbClr val="223045"/>
                </a:solidFill>
                <a:latin typeface="Aptos"/>
              </a:defRPr>
            </a:pPr>
            <a:r>
              <a:t>Gerçek mevzuat ihlali değildir.</a:t>
            </a:r>
            <a:br/>
            <a:r>
              <a:t>TEST_FIXTURE_NOT_LAW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4315968"/>
            <a:ext cx="10680192" cy="841248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4517136"/>
            <a:ext cx="1014984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400" b="1">
                <a:solidFill>
                  <a:srgbClr val="112240"/>
                </a:solidFill>
                <a:latin typeface="Aptos"/>
              </a:defRPr>
            </a:pPr>
            <a:r>
              <a:t>Fixture yerel ve deterministiktir; sentetik kodu üretim sistemlerinde kullanmayın.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15  •  GERÇEK UÇTAN UCA DENEME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Model hatası ve deterministik demo ayrı raporlandı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Gerçek model kalitesi ile akışın yazılım testleri birbirinden ayrılır.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47088"/>
            <a:ext cx="3401568" cy="2359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47088"/>
            <a:ext cx="64008" cy="2359152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75104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Mevzuat hazırlığı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2980944" cy="17007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2 mevzuat PDF'i indirildi</a:t>
            </a:r>
            <a:br/>
            <a:r>
              <a:t>•  146 RAG parçası üretildi</a:t>
            </a:r>
            <a:br/>
            <a:r>
              <a:t>•  Yerel BM25 indeksi</a:t>
            </a:r>
            <a:br/>
            <a:r>
              <a:t>•  Demo fixture deposu hazır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47088"/>
            <a:ext cx="3401568" cy="2359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47088"/>
            <a:ext cx="64008" cy="2359152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975104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Gerçek model denemesi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395728"/>
            <a:ext cx="2980944" cy="17007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llama3.2:1b yanıtı geçersiz JSON</a:t>
            </a:r>
            <a:br/>
            <a:r>
              <a:t>•  gemma3:4b: 1 dosya tarandı, 0 bulgu</a:t>
            </a:r>
            <a:br/>
            <a:r>
              <a:t>•  Gerçek remediation durduruldu</a:t>
            </a:r>
            <a:br/>
            <a:r>
              <a:t>•  Bulgu yok, uygunluk kanıtı değildir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47088"/>
            <a:ext cx="3401568" cy="2359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5008" y="1847088"/>
            <a:ext cx="64008" cy="2359152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1975104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Deterministik E2E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95728"/>
            <a:ext cx="2980944" cy="17007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Fixture üzerinden 2 sentetik bulgu</a:t>
            </a:r>
            <a:br/>
            <a:r>
              <a:t>•  Remediation izole worktree'de</a:t>
            </a:r>
            <a:br/>
            <a:r>
              <a:t>•  pytest: 2 geçti</a:t>
            </a:r>
            <a:br/>
            <a:r>
              <a:t>•  PR yanıtı yerel mock ile doğrulandı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498848"/>
            <a:ext cx="10753344" cy="89611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663440"/>
            <a:ext cx="10268712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200" b="1">
                <a:solidFill>
                  <a:srgbClr val="112240"/>
                </a:solidFill>
                <a:latin typeface="Aptos"/>
              </a:defRPr>
            </a:pPr>
            <a:r>
              <a:t>Canlı model taraması başarısız olduğunda sentetik rapor yalnızca demo/test amacıyla ayrı üretilir; gerçek tarama veya PR girdisi olmaz.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17  •  REMEDIATION, KOD FARKI VE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İlk iki bulgu: diff → izole dal → test → 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Aşağıdaki değişiklik sentetik E2E fixture'ından alınmıştır; mevzuat düzeltmesi veya gerçek GitHub PR'ı değildir.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783080"/>
            <a:ext cx="6656832" cy="3520440"/>
          </a:xfrm>
          <a:prstGeom prst="roundRect">
            <a:avLst/>
          </a:prstGeom>
          <a:solidFill>
            <a:srgbClr val="11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61264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D6575E"/>
                </a:solidFill>
                <a:latin typeface="Aptos Mono"/>
              </a:defRPr>
            </a:pPr>
            <a:r>
              <a:t>ÖNCE  (payment_rules.py)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6126480" cy="10058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ptos Mono"/>
              </a:defRPr>
            </a:pPr>
            <a:r>
              <a:t>def mask_reference(value, visible=4):</a:t>
            </a:r>
            <a:br/>
            <a:r>
              <a:t>    return value</a:t>
            </a:r>
            <a:br/>
            <a:br/>
            <a:r>
              <a:t>def is_positive_amount(amount):</a:t>
            </a:r>
            <a:br/>
            <a:r>
              <a:t>    return amount &gt;=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493008"/>
            <a:ext cx="61264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 Mono"/>
              </a:defRPr>
            </a:pPr>
            <a:r>
              <a:t>SONRA  (yalnızca kullanıcı onayıyla)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822191"/>
            <a:ext cx="6126480" cy="12070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Aptos Mono"/>
              </a:defRPr>
            </a:pPr>
            <a:r>
              <a:t>def mask_reference(value, visible=4):</a:t>
            </a:r>
            <a:br/>
            <a:r>
              <a:t>    return "*" * max(0, len(value)-visible) + value[-visible:]</a:t>
            </a:r>
            <a:br/>
            <a:br/>
            <a:r>
              <a:t>def is_positive_amount(amount):</a:t>
            </a:r>
            <a:br/>
            <a:r>
              <a:t>    return amount &gt;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62672" y="1810512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62672" y="1810512"/>
            <a:ext cx="64008" cy="932688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938528"/>
            <a:ext cx="341071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1 • İncele ve uygula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2359152"/>
            <a:ext cx="3374136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En yüksek iki bulgu</a:t>
            </a:r>
            <a:br/>
            <a:r>
              <a:t>•  Ayrı worktree / branch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2672" y="2907792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62672" y="2907792"/>
            <a:ext cx="64008" cy="932688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035808"/>
            <a:ext cx="341071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2 • Testi onayla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3456432"/>
            <a:ext cx="3374136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Test raporu MD/HTML</a:t>
            </a:r>
            <a:br/>
            <a:r>
              <a:t>•  Başarısızsa PR durur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2672" y="4005072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62672" y="4005072"/>
            <a:ext cx="64008" cy="932688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4133087"/>
            <a:ext cx="341071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3 • PR için son onay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4553712"/>
            <a:ext cx="3374136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Commit + push + gh PR</a:t>
            </a:r>
            <a:br/>
            <a:r>
              <a:t>•  Her adım ayrı izin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522976"/>
            <a:ext cx="10698480" cy="53035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623560"/>
            <a:ext cx="102412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1">
                <a:solidFill>
                  <a:srgbClr val="112240"/>
                </a:solidFill>
                <a:latin typeface="Aptos"/>
              </a:defRPr>
            </a:pPr>
            <a:r>
              <a:t>E2E kanıtı: test geçti; push yerel bare remote'a, PR yanıtı mock gh'ye yapıldı. Gerçek GitHub PR açılmadı.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18  •  TERMINAL ÇIKTISI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Sohbetten mevzuat seçimine ve RAG'e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Gerçek yerel uygulama çıktısı: kullanıcı kapsamı seçer, PDF metni parçalanır ve RAG indeksi hazırlanır.</a:t>
            </a:r>
          </a:p>
        </p:txBody>
      </p:sp>
      <p:pic>
        <p:nvPicPr>
          <p:cNvPr id="5" name="Picture 4" descr="01_chat_and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10771632" cy="38897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19  •  TERMINAL ÇIKTISI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Depo ve tarama tahmini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Hazırlanmış yerel test deposu; gerçek RAG eşleşmesiyle yaklaşık token ve süre tahmini.</a:t>
            </a:r>
          </a:p>
        </p:txBody>
      </p:sp>
      <p:pic>
        <p:nvPicPr>
          <p:cNvPr id="5" name="Picture 4" descr="02_repository_and_est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10771632" cy="38897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20  •  TERMINAL ÇIKTISI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Canlı tarama sonucu ve sentetik demo ayrımı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Gemma canlı denemesinde 1 dosya tarandı, doğrulanmış bulgu çıkmadı. Beş bulgulu rapor ayrı TEST_FIXTURE_NOT_LAW verisidir.</a:t>
            </a:r>
          </a:p>
        </p:txBody>
      </p:sp>
      <p:pic>
        <p:nvPicPr>
          <p:cNvPr id="5" name="Picture 4" descr="03_live_and_synthetic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10771632" cy="38897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21  •  RAPOR GÖRSELI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HTML tarama raporu: bulgu ve kod kanıtı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İki sentetik E2E bulgusu; rapor örneğidir, canlı model taramasıyla karıştırılmamalıdır.</a:t>
            </a:r>
          </a:p>
        </p:txBody>
      </p:sp>
      <p:pic>
        <p:nvPicPr>
          <p:cNvPr id="5" name="Picture 4" descr="scan_repo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10771632" cy="43086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22  •  TERMINAL ÇIKTISI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Remediation kod farkı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Aşağıdaki terminal kaydı deterministik sentetik E2E testine aittir; hukukî tespit veya gerçek mevzuat düzeltmesi değildir.</a:t>
            </a:r>
          </a:p>
        </p:txBody>
      </p:sp>
      <p:pic>
        <p:nvPicPr>
          <p:cNvPr id="5" name="Picture 4" descr="04_remediat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10771632" cy="38897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23  •  RAPOR GÖRSELI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HTML remediation raporu ve diff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Sentetik test fixture'ının HTML raporu; TEST ONLY uyarısı ve izole dal değişikliği görünür.</a:t>
            </a:r>
          </a:p>
        </p:txBody>
      </p:sp>
      <p:pic>
        <p:nvPicPr>
          <p:cNvPr id="5" name="Picture 4" descr="remediation_repo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10771632" cy="43086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24  •  TERMINAL ÇIKTISI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Test ve PR provasının terminal kanıtı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2 test geçti; push yerel bare remote'a yapıldı. Görünen PR bağlantısı mock gh yanıtıdır; gerçek GitHub PR'ı yoktur.</a:t>
            </a:r>
          </a:p>
        </p:txBody>
      </p:sp>
      <p:pic>
        <p:nvPicPr>
          <p:cNvPr id="5" name="Picture 4" descr="05_test_and_mock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10771632" cy="38897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25  •  GÜVENLIK VE MAHREMIYET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Güvenli varsayılanlar ve açık sınırlar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Kod ve mevzuat bağlamı yerel Ollama'ya gider; tarama akışı bulguları uzman incelemesine sunar.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28800"/>
            <a:ext cx="52120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28800"/>
            <a:ext cx="64008" cy="201168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56816"/>
            <a:ext cx="48280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Kontroller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77440"/>
            <a:ext cx="4791456" cy="1353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Klonlama ve tarama kullanıcı onaylıdır</a:t>
            </a:r>
            <a:br/>
            <a:r>
              <a:t>•  Düzeltme ayrı worktree'de uygulanır</a:t>
            </a:r>
            <a:br/>
            <a:r>
              <a:t>•  Test ve PR ayrı onay ister</a:t>
            </a:r>
            <a:br/>
            <a:r>
              <a:t>•  PR için yalnız beklenen dosyalar seçilir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2120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64008" cy="201168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956816"/>
            <a:ext cx="48280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Kullanım sorumluluğu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377440"/>
            <a:ext cx="4791456" cy="1353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İndirilen kaynağın güncelliğini denetleyin</a:t>
            </a:r>
            <a:br/>
            <a:r>
              <a:t>•  Yalnız güvendiğiniz projelerde test çalıştırın</a:t>
            </a:r>
            <a:br/>
            <a:r>
              <a:t>•  Model bulgusunu hukuk uzmanına doğrulatın</a:t>
            </a:r>
            <a:br/>
            <a:r>
              <a:t>•  Gerçek depoda yedek ve temiz çalışma alanı kullanın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279392"/>
            <a:ext cx="10671048" cy="89611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498848"/>
            <a:ext cx="1019556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400" b="1">
                <a:solidFill>
                  <a:srgbClr val="112240"/>
                </a:solidFill>
                <a:latin typeface="Aptos"/>
              </a:defRPr>
            </a:pPr>
            <a:r>
              <a:t>Otomasyon kanıtı düzenler; hukuki görüş, kesin uygunluk kararı veya güvenlik sertifikası vermez.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26  •  BILINEN SINIRLAMALAR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Tamamlanan iş ve sonraki geliştirme alanları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Kapsamı dürüstçe ayırmak, model çıktısına gereğinden fazla güvenilmesini önler.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47088"/>
            <a:ext cx="5230368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47088"/>
            <a:ext cx="64008" cy="24231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75104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Uygulanan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4809744" cy="1764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PDF indirme ve sayfa metnini parçalama</a:t>
            </a:r>
            <a:br/>
            <a:r>
              <a:t>•  BM25 ile yerel mevzuat araması</a:t>
            </a:r>
            <a:br/>
            <a:r>
              <a:t>•  Onaylı tarama ve MD/HTML rapor</a:t>
            </a:r>
            <a:br/>
            <a:r>
              <a:t>•  İzole düzeltme, test ve PR akışları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847088"/>
            <a:ext cx="5230368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4768" y="1847088"/>
            <a:ext cx="64008" cy="24231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1975104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Henüz yok / garanti edilmez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395728"/>
            <a:ext cx="4809744" cy="1764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OCR, vektör arama ve belge sürüm takibi</a:t>
            </a:r>
            <a:br/>
            <a:r>
              <a:t>•  Hukuki doğruluğun otomatik kanıtlanması</a:t>
            </a:r>
            <a:br/>
            <a:r>
              <a:t>•  Web arayüzü ve devam ettirilebilir işler</a:t>
            </a:r>
            <a:br/>
            <a:r>
              <a:t>•  Gerçek GitHub PR ile uçtan uca canlı doğrulama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10661904" cy="749808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37176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1">
                <a:solidFill>
                  <a:srgbClr val="112240"/>
                </a:solidFill>
                <a:latin typeface="Aptos"/>
              </a:defRPr>
            </a:pPr>
            <a:r>
              <a:t>Sonraki adımlar: gerçek mevzuat örneklerinde uzman değerlendirmesi yap • yetkili test deposunda gerçek PR akışını dene.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27  •  BOOTCAMP KAPANIŞ PROJESI RUBRIĞI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Beş değerlendirme ölçütüne göre proje özeti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Her ölçüt %20 ağırlıktadır; kanıtlar ve mevcut sınırlar birlikte değerlendirilmiştir.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783080"/>
            <a:ext cx="5230368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783080"/>
            <a:ext cx="64008" cy="141732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11095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Problem tanımı ve gerçek dünya • %20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31720"/>
            <a:ext cx="4809744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Kartlı ödeme: maskeleme, tutar, idempotency.</a:t>
            </a:r>
            <a:br/>
            <a:r>
              <a:t>•  Gerçekçi ön inceleme ihtiyacı; uzman kararı gerekir.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83080"/>
            <a:ext cx="5230368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783080"/>
            <a:ext cx="64008" cy="141732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11095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Agentic mimari ve eğitim yaklaşımları • %20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331720"/>
            <a:ext cx="4809744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RAG + Python araçları + çok adımlı LangChain akışı.</a:t>
            </a:r>
            <a:br/>
            <a:r>
              <a:t>•  Onaylı araç adımları; hafıza/otonom plan/multi-agent yok.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401568"/>
            <a:ext cx="3401568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3401568"/>
            <a:ext cx="64008" cy="15087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29584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İşlevsellik ve çıktı • %20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950208"/>
            <a:ext cx="2980944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56 otomatik test geçti.</a:t>
            </a:r>
            <a:br/>
            <a:r>
              <a:t>•  Canlı model: 1 dosya, 0 bulgu.</a:t>
            </a:r>
            <a:br/>
            <a:r>
              <a:t>•  Pozitif E2E sentetik fixture.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401568"/>
            <a:ext cx="3401568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3401568"/>
            <a:ext cx="64008" cy="15087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3529584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Kod ve teknik uygulama • %20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950208"/>
            <a:ext cx="2980944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Modüler Python araçları ve testler.</a:t>
            </a:r>
            <a:br/>
            <a:r>
              <a:t>•  Yerel Ollama; bulut API anahtarı gerekmez.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3401568"/>
            <a:ext cx="3401568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5008" y="3401568"/>
            <a:ext cx="64008" cy="15087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3529584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Dokümantasyon ve teslim • %20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950208"/>
            <a:ext cx="2980944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README: amaç, teknoloji, kurulum, kullanım.</a:t>
            </a:r>
            <a:br/>
            <a:r>
              <a:t>•  Terminal ve HTML rapor görselleri.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230368"/>
            <a:ext cx="10698480" cy="71323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94960"/>
            <a:ext cx="102870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200" b="1">
                <a:solidFill>
                  <a:srgbClr val="112240"/>
                </a:solidFill>
                <a:latin typeface="Aptos"/>
              </a:defRPr>
            </a:pPr>
            <a:r>
              <a:t>Sentetik E2E, iş akışını kanıtlar; gerçek mevzuat bulgusunu, hukuki uygunluğu veya gerçek GitHub PR'ını kanıtlamaz.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749808"/>
            <a:ext cx="2743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35BED7"/>
                </a:solidFill>
                <a:latin typeface="Aptos"/>
              </a:defRPr>
            </a:pPr>
            <a:r>
              <a:t>ÖZET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353312"/>
            <a:ext cx="9875520" cy="1572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İzlenebilir analiz.</a:t>
            </a:r>
            <a:br/>
            <a:r>
              <a:t>Açık onay. İnsan kararı.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10128"/>
            <a:ext cx="978408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700" b="0">
                <a:solidFill>
                  <a:srgbClr val="D7E3F0"/>
                </a:solidFill>
                <a:latin typeface="Aptos"/>
              </a:defRPr>
            </a:pPr>
            <a:r>
              <a:t>MevzuatAgent; yerel LLM ve RAG'i kontrollü kod inceleme, raporlama ve düzeltme akışına bağlar.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352544"/>
            <a:ext cx="10287000" cy="1005840"/>
          </a:xfrm>
          <a:prstGeom prst="roundRect">
            <a:avLst/>
          </a:prstGeom>
          <a:solidFill>
            <a:srgbClr val="1D3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517136"/>
            <a:ext cx="9829800" cy="621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ptos"/>
              </a:defRPr>
            </a:pPr>
            <a:r>
              <a:t>Kanıt kapsamı: canlı model denemesi ve ayrı sentetik E2E; gerçek GitHub PR'ı veya hukuki uyumluluk iddiası yoktur.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B9CADC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B9CADC"/>
                </a:solidFill>
                <a:latin typeface="Aptos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MevzuatAgent - Ödev Sunumu</dc:title>
  <dc:subject>Proje gereksinimleri, mimari, testler ve sınırlamalar</dc:subject>
  <dc:creator>MevzuatAgent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