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732520" y="-457200"/>
            <a:ext cx="4114800" cy="2834640"/>
          </a:xfrm>
          <a:prstGeom prst="roundRect">
            <a:avLst/>
          </a:prstGeom>
          <a:solidFill>
            <a:srgbClr val="1D3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38360" y="1143000"/>
            <a:ext cx="1920240" cy="1920240"/>
          </a:xfrm>
          <a:prstGeom prst="roundRect">
            <a:avLst/>
          </a:prstGeom>
          <a:solidFill>
            <a:srgbClr val="00A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287000" y="1691640"/>
            <a:ext cx="822960" cy="822960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03920" y="3977639"/>
            <a:ext cx="3474720" cy="2286000"/>
          </a:xfrm>
          <a:prstGeom prst="roundRect">
            <a:avLst/>
          </a:prstGeom>
          <a:solidFill>
            <a:srgbClr val="1D3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749808"/>
            <a:ext cx="51206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35BED7"/>
                </a:solidFill>
                <a:latin typeface="Aptos"/>
              </a:defRPr>
            </a:pPr>
            <a:r>
              <a:t>PROJE / DÖNEM ÖDEVİ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63040"/>
            <a:ext cx="786384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MevzuatAgent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423160"/>
            <a:ext cx="7406640" cy="10972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100" b="0">
                <a:solidFill>
                  <a:srgbClr val="D7E3F0"/>
                </a:solidFill>
                <a:latin typeface="Aptos"/>
              </a:defRPr>
            </a:pPr>
            <a:r>
              <a:t>Mevzuat bilgisini yerel kod incelemesine bağlayan,</a:t>
            </a:r>
            <a:br/>
            <a:r>
              <a:t>onay kapılarıyla çalışan yapay zekâ destekli araç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4005072"/>
            <a:ext cx="1325880" cy="73152"/>
          </a:xfrm>
          <a:prstGeom prst="rect">
            <a:avLst/>
          </a:prstGeom>
          <a:solidFill>
            <a:srgbClr val="00A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4270248"/>
            <a:ext cx="713232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Python  •  Ollama  •  LangChain  •  BM25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4791456"/>
            <a:ext cx="75895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B9CADC"/>
                </a:solidFill>
                <a:latin typeface="Aptos"/>
              </a:defRPr>
            </a:pPr>
            <a:r>
              <a:t>Sohbet arayüzü  |  Uçtan uca akış  |  Onaylı remediation ve PR</a:t>
            </a:r>
          </a:p>
        </p:txBody>
      </p:sp>
      <p:pic>
        <p:nvPicPr>
          <p:cNvPr id="12" name="Picture 11" descr="soft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5074920"/>
            <a:ext cx="1600200" cy="6945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928" y="6473952"/>
            <a:ext cx="96926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800" b="1">
                <a:solidFill>
                  <a:srgbClr val="B9CADC"/>
                </a:solidFill>
                <a:latin typeface="Aptos"/>
              </a:defRPr>
            </a:pPr>
            <a:r>
              <a:t>MEVZUATAGENT  •  YEREL  •  ONAYLI  •  DENETLENEBİLİR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1">
                <a:solidFill>
                  <a:srgbClr val="B9CADC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900" b="1">
                <a:solidFill>
                  <a:srgbClr val="00AFA0"/>
                </a:solidFill>
                <a:latin typeface="Aptos"/>
              </a:defRPr>
            </a:pPr>
            <a:r>
              <a:t>01  •  NEDEN BU PROJE?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700" b="1">
                <a:solidFill>
                  <a:srgbClr val="112240"/>
                </a:solidFill>
                <a:latin typeface="Aptos"/>
              </a:defRPr>
            </a:pPr>
            <a:r>
              <a:t>Mevzuat bilgisini kod kararlarına yaklaştırmak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97864"/>
            <a:ext cx="1088136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0">
                <a:solidFill>
                  <a:srgbClr val="637389"/>
                </a:solidFill>
                <a:latin typeface="Aptos"/>
              </a:defRPr>
            </a:pPr>
            <a:r>
              <a:t>Dağınık kaynaklar, manuel inceleme ve izlenmesi zor düzeltme adımlarını tek bir kontrollü akışta birleştirir.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3493008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74519"/>
            <a:ext cx="64008" cy="1920240"/>
          </a:xfrm>
          <a:prstGeom prst="rect">
            <a:avLst/>
          </a:prstGeom>
          <a:solidFill>
            <a:srgbClr val="00A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002536"/>
            <a:ext cx="31089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Girdi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423160"/>
            <a:ext cx="3072384" cy="12618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Mevzuat PDF bağlantıları</a:t>
            </a:r>
            <a:br/>
            <a:r>
              <a:t>•  Kullanıcının seçtiği Git deposu</a:t>
            </a:r>
            <a:br/>
            <a:r>
              <a:t>•  Yerel Ollama model havuzu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874519"/>
            <a:ext cx="3493008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52544" y="1874519"/>
            <a:ext cx="64008" cy="1920240"/>
          </a:xfrm>
          <a:prstGeom prst="rect">
            <a:avLst/>
          </a:prstGeom>
          <a:solidFill>
            <a:srgbClr val="35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2002536"/>
            <a:ext cx="31089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İşleme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23160"/>
            <a:ext cx="3072384" cy="12618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Metni parçala ve yerel ara</a:t>
            </a:r>
            <a:br/>
            <a:r>
              <a:t>•  Kapsam/süre tahmini yap</a:t>
            </a:r>
            <a:br/>
            <a:r>
              <a:t>•  İlgili kod ve kaynakları incele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74519"/>
            <a:ext cx="3493008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74519"/>
            <a:ext cx="64008" cy="1920240"/>
          </a:xfrm>
          <a:prstGeom prst="rect">
            <a:avLst/>
          </a:prstGeom>
          <a:solidFill>
            <a:srgbClr val="F8B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002536"/>
            <a:ext cx="31089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Çıktı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2423160"/>
            <a:ext cx="3072384" cy="12618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Kanıt bağlantılı bulgular</a:t>
            </a:r>
            <a:br/>
            <a:r>
              <a:t>•  Markdown ve HTML raporları</a:t>
            </a:r>
            <a:br/>
            <a:r>
              <a:t>•  Onaylı düzeltme ve PR akışı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160520"/>
            <a:ext cx="10881360" cy="960120"/>
          </a:xfrm>
          <a:prstGeom prst="roundRect">
            <a:avLst/>
          </a:prstGeom>
          <a:solidFill>
            <a:srgbClr val="E7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325112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112240"/>
                </a:solidFill>
                <a:latin typeface="Aptos"/>
              </a:defRPr>
            </a:pPr>
            <a:r>
              <a:t>Temel yaklaşım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279392"/>
            <a:ext cx="845820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500" b="1">
                <a:solidFill>
                  <a:srgbClr val="223045"/>
                </a:solidFill>
                <a:latin typeface="Aptos"/>
              </a:defRPr>
            </a:pPr>
            <a:r>
              <a:t>Araç karar vermez: mevzuat uzmanının değerlendirmesine kanıt ve izlenebilir iş akışı sağlar.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422392"/>
            <a:ext cx="98755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637389"/>
                </a:solidFill>
                <a:latin typeface="Aptos"/>
              </a:defRPr>
            </a:pPr>
            <a:r>
              <a:t>Hukuk danışmanı değildir; otomatik tarama sonucu hukuki uygunluğu kanıtlamaz.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73952"/>
            <a:ext cx="96926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800" b="1">
                <a:solidFill>
                  <a:srgbClr val="637389"/>
                </a:solidFill>
                <a:latin typeface="Aptos"/>
              </a:defRPr>
            </a:pPr>
            <a:r>
              <a:t>MEVZUATAGENT  •  YEREL  •  ONAYLI  •  DENETLENEBİLİR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1">
                <a:solidFill>
                  <a:srgbClr val="637389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900" b="1">
                <a:solidFill>
                  <a:srgbClr val="00AFA0"/>
                </a:solidFill>
                <a:latin typeface="Aptos"/>
              </a:defRPr>
            </a:pPr>
            <a:r>
              <a:t>02  •  GEREKSINIMLER 1–3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700" b="1">
                <a:solidFill>
                  <a:srgbClr val="112240"/>
                </a:solidFill>
                <a:latin typeface="Aptos"/>
              </a:defRPr>
            </a:pPr>
            <a:r>
              <a:t>Yerel model, orkestrasyon ve mevzuat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97864"/>
            <a:ext cx="1088136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0">
                <a:solidFill>
                  <a:srgbClr val="637389"/>
                </a:solidFill>
                <a:latin typeface="Aptos"/>
              </a:defRPr>
            </a:pPr>
            <a:r>
              <a:t>İlk üç madde veri akışını ve çalışma teknolojilerini belirler.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3493008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74519"/>
            <a:ext cx="64008" cy="2560320"/>
          </a:xfrm>
          <a:prstGeom prst="rect">
            <a:avLst/>
          </a:prstGeom>
          <a:solidFill>
            <a:srgbClr val="00A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002536"/>
            <a:ext cx="31089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1. Uygulama altyapısı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423160"/>
            <a:ext cx="3072384" cy="19019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Python ile geliştirme; PyCharm uyumlu proje</a:t>
            </a:r>
            <a:br/>
            <a:r>
              <a:t>•  Ollama üzerinden yerel LLM</a:t>
            </a:r>
            <a:br/>
            <a:r>
              <a:t>•  LangChain Runnable ile tarama akışı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874519"/>
            <a:ext cx="3493008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52544" y="1874519"/>
            <a:ext cx="64008" cy="2560320"/>
          </a:xfrm>
          <a:prstGeom prst="rect">
            <a:avLst/>
          </a:prstGeom>
          <a:solidFill>
            <a:srgbClr val="35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2002536"/>
            <a:ext cx="31089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2. Mevzuat belgeleri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23160"/>
            <a:ext cx="3072384" cy="19019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mevzuat_link.json bağlantıları okunur</a:t>
            </a:r>
            <a:br/>
            <a:r>
              <a:t>•  PDF'ler yerel diske indirilir</a:t>
            </a:r>
            <a:br/>
            <a:r>
              <a:t>•  Sayfa ve kaynak bilgisi korunur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74519"/>
            <a:ext cx="3493008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74519"/>
            <a:ext cx="64008" cy="2560320"/>
          </a:xfrm>
          <a:prstGeom prst="rect">
            <a:avLst/>
          </a:prstGeom>
          <a:solidFill>
            <a:srgbClr val="F8B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002536"/>
            <a:ext cx="31089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3. Orta boy parçalar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2423160"/>
            <a:ext cx="3072384" cy="19019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Sayfa metni yaklaşık 1.200 karakter</a:t>
            </a:r>
            <a:br/>
            <a:r>
              <a:t>•  Yaklaşık 200 karakter örtüşme</a:t>
            </a:r>
            <a:br/>
            <a:r>
              <a:t>•  Yerel BM25 anahtar kelime araması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754880"/>
            <a:ext cx="10881360" cy="758952"/>
          </a:xfrm>
          <a:prstGeom prst="roundRect">
            <a:avLst/>
          </a:prstGeom>
          <a:solidFill>
            <a:srgbClr val="FFF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892040"/>
            <a:ext cx="141732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1">
                <a:solidFill>
                  <a:srgbClr val="112240"/>
                </a:solidFill>
                <a:latin typeface="Aptos"/>
              </a:defRPr>
            </a:pPr>
            <a:r>
              <a:t>Doğru kapsam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855464"/>
            <a:ext cx="877824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400" b="0">
                <a:solidFill>
                  <a:srgbClr val="223045"/>
                </a:solidFill>
                <a:latin typeface="Aptos"/>
              </a:defRPr>
            </a:pPr>
            <a:r>
              <a:t>Mevcut RAG embedding/vektör veritabanı değil; BM25 indeksidir.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96926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800" b="1">
                <a:solidFill>
                  <a:srgbClr val="637389"/>
                </a:solidFill>
                <a:latin typeface="Aptos"/>
              </a:defRPr>
            </a:pPr>
            <a:r>
              <a:t>MEVZUATAGENT  •  YEREL  •  ONAYLI  •  DENETLENEBİLİR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1">
                <a:solidFill>
                  <a:srgbClr val="637389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900" b="1">
                <a:solidFill>
                  <a:srgbClr val="00AFA0"/>
                </a:solidFill>
                <a:latin typeface="Aptos"/>
              </a:defRPr>
            </a:pPr>
            <a:r>
              <a:t>03  •  BELGE HAZIRLAMA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700" b="1">
                <a:solidFill>
                  <a:srgbClr val="112240"/>
                </a:solidFill>
                <a:latin typeface="Aptos"/>
              </a:defRPr>
            </a:pPr>
            <a:r>
              <a:t>PDF'den yerel arama indeksine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97864"/>
            <a:ext cx="1088136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0">
                <a:solidFill>
                  <a:srgbClr val="637389"/>
                </a:solidFill>
                <a:latin typeface="Aptos"/>
              </a:defRPr>
            </a:pPr>
            <a:r>
              <a:t>Kaynağın konumu parçayla birlikte saklanır; tarama sırasında ilgili bağlam geri çağrılır.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331720"/>
            <a:ext cx="173736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487168"/>
            <a:ext cx="3657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00AFA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816352"/>
            <a:ext cx="1444752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500" b="1">
                <a:solidFill>
                  <a:srgbClr val="112240"/>
                </a:solidFill>
                <a:latin typeface="Aptos"/>
              </a:defRPr>
            </a:pPr>
            <a:r>
              <a:t>Bağlantı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200400"/>
            <a:ext cx="144475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mevzuat_link.json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788920"/>
            <a:ext cx="41148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2000" b="1">
                <a:solidFill>
                  <a:srgbClr val="00AF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44368" y="2331720"/>
            <a:ext cx="173736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0672" y="2487168"/>
            <a:ext cx="3657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00AFA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2816352"/>
            <a:ext cx="1444752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500" b="1">
                <a:solidFill>
                  <a:srgbClr val="112240"/>
                </a:solidFill>
                <a:latin typeface="Aptos"/>
              </a:defRPr>
            </a:pPr>
            <a:r>
              <a:t>İndirme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3200400"/>
            <a:ext cx="144475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PDF • yerel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788920"/>
            <a:ext cx="41148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2000" b="1">
                <a:solidFill>
                  <a:srgbClr val="00AF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30368" y="2331720"/>
            <a:ext cx="173736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76672" y="2487168"/>
            <a:ext cx="3657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00AFA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6672" y="2816352"/>
            <a:ext cx="1444752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500" b="1">
                <a:solidFill>
                  <a:srgbClr val="112240"/>
                </a:solidFill>
                <a:latin typeface="Aptos"/>
              </a:defRPr>
            </a:pPr>
            <a:r>
              <a:t>Metin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6672" y="3200400"/>
            <a:ext cx="144475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sayfa sayfa çıkarım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79" y="2788920"/>
            <a:ext cx="41148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2000" b="1">
                <a:solidFill>
                  <a:srgbClr val="00AF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16368" y="2331720"/>
            <a:ext cx="173736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2" y="2487168"/>
            <a:ext cx="3657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00AFA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2672" y="2816352"/>
            <a:ext cx="1444752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500" b="1">
                <a:solidFill>
                  <a:srgbClr val="112240"/>
                </a:solidFill>
                <a:latin typeface="Aptos"/>
              </a:defRPr>
            </a:pPr>
            <a:r>
              <a:t>Parçalama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2672" y="3200400"/>
            <a:ext cx="144475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1.200 / 200 karakter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788920"/>
            <a:ext cx="41148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2000" b="1">
                <a:solidFill>
                  <a:srgbClr val="00AF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02368" y="2331720"/>
            <a:ext cx="173736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8672" y="2487168"/>
            <a:ext cx="3657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00AFA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2816352"/>
            <a:ext cx="1444752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500" b="1">
                <a:solidFill>
                  <a:srgbClr val="112240"/>
                </a:solidFill>
                <a:latin typeface="Aptos"/>
              </a:defRPr>
            </a:pPr>
            <a:r>
              <a:t>İndeks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8672" y="3200400"/>
            <a:ext cx="144475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BM25 • chunks.jsonl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160520"/>
            <a:ext cx="5285232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4160520"/>
            <a:ext cx="64008" cy="1051560"/>
          </a:xfrm>
          <a:prstGeom prst="rect">
            <a:avLst/>
          </a:prstGeom>
          <a:solidFill>
            <a:srgbClr val="00A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288536"/>
            <a:ext cx="4901184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Parça üstverisi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" y="4709159"/>
            <a:ext cx="4864608" cy="393191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Kaynak PDF adı, sayfa numarası ve parça metni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44768" y="416052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44768" y="4160520"/>
            <a:ext cx="64008" cy="1051560"/>
          </a:xfrm>
          <a:prstGeom prst="rect">
            <a:avLst/>
          </a:prstGeom>
          <a:solidFill>
            <a:srgbClr val="F8B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45936" y="4288536"/>
            <a:ext cx="501091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Sınırlar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4224" y="4709159"/>
            <a:ext cx="4974336" cy="393191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OCR, belge sürüm takibi ve vektör arama yoktur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473952"/>
            <a:ext cx="96926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800" b="1">
                <a:solidFill>
                  <a:srgbClr val="637389"/>
                </a:solidFill>
                <a:latin typeface="Aptos"/>
              </a:defRPr>
            </a:pPr>
            <a:r>
              <a:t>MEVZUATAGENT  •  YEREL  •  ONAYLI  •  DENETLENEBİLİR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1">
                <a:solidFill>
                  <a:srgbClr val="637389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900" b="1">
                <a:solidFill>
                  <a:srgbClr val="00AFA0"/>
                </a:solidFill>
                <a:latin typeface="Aptos"/>
              </a:defRPr>
            </a:pPr>
            <a:r>
              <a:t>04  •  GEREKSINIMLER 4–6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700" b="1">
                <a:solidFill>
                  <a:srgbClr val="112240"/>
                </a:solidFill>
                <a:latin typeface="Aptos"/>
              </a:defRPr>
            </a:pPr>
            <a:r>
              <a:t>Depo seçimi, tahmin ve tarama onayı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97864"/>
            <a:ext cx="1088136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0">
                <a:solidFill>
                  <a:srgbClr val="637389"/>
                </a:solidFill>
                <a:latin typeface="Aptos"/>
              </a:defRPr>
            </a:pPr>
            <a:r>
              <a:t>Kod taraması kullanıcı tahminini görüp açıkça onay vermeden başlamaz.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3429000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9536" y="2039112"/>
            <a:ext cx="384048" cy="384048"/>
          </a:xfrm>
          <a:prstGeom prst="roundRect">
            <a:avLst/>
          </a:prstGeom>
          <a:solidFill>
            <a:srgbClr val="00A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039112"/>
            <a:ext cx="38404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2020824"/>
            <a:ext cx="264261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112240"/>
                </a:solidFill>
                <a:latin typeface="Aptos"/>
              </a:defRPr>
            </a:pPr>
            <a:r>
              <a:t>Depo seç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87168"/>
            <a:ext cx="30632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repo_link.json kaynağı; klonlama öncesi kullanıcı onayı.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874519"/>
            <a:ext cx="3429000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26280" y="2039112"/>
            <a:ext cx="384048" cy="384048"/>
          </a:xfrm>
          <a:prstGeom prst="roundRect">
            <a:avLst/>
          </a:prstGeom>
          <a:solidFill>
            <a:srgbClr val="35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039112"/>
            <a:ext cx="38404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0056" y="2020824"/>
            <a:ext cx="264261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112240"/>
                </a:solidFill>
                <a:latin typeface="Aptos"/>
              </a:defRPr>
            </a:pPr>
            <a:r>
              <a:t>Model havuzunu ölç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487168"/>
            <a:ext cx="30632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Kurulu Ollama modelleri kıyaslanır; tahmini süreler sunulur.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74519"/>
            <a:ext cx="3429000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93024" y="2039112"/>
            <a:ext cx="384048" cy="384048"/>
          </a:xfrm>
          <a:prstGeom prst="roundRect">
            <a:avLst/>
          </a:prstGeom>
          <a:solidFill>
            <a:srgbClr val="F8B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2039112"/>
            <a:ext cx="38404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020824"/>
            <a:ext cx="264261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112240"/>
                </a:solidFill>
                <a:latin typeface="Aptos"/>
              </a:defRPr>
            </a:pPr>
            <a:r>
              <a:t>Modeli seç ve onayla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487168"/>
            <a:ext cx="30632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En hızlı model önerilir; kullanıcı isterse başka modeli seçer.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657600"/>
            <a:ext cx="10762488" cy="1042415"/>
          </a:xfrm>
          <a:prstGeom prst="roundRect">
            <a:avLst/>
          </a:prstGeom>
          <a:solidFill>
            <a:srgbClr val="E7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822191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400" b="1">
                <a:solidFill>
                  <a:srgbClr val="112240"/>
                </a:solidFill>
                <a:latin typeface="Aptos"/>
              </a:defRPr>
            </a:pPr>
            <a:r>
              <a:t>Tahminin kapsamı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3767328"/>
            <a:ext cx="827532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400" b="0">
                <a:solidFill>
                  <a:srgbClr val="223045"/>
                </a:solidFill>
                <a:latin typeface="Aptos"/>
              </a:defRPr>
            </a:pPr>
            <a:r>
              <a:t>Kaynak dosya sayısı + ilgili mevzuat parçaları + model hız ölçümü → yaklaşık token/süre tahmini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5074920"/>
            <a:ext cx="102412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637389"/>
                </a:solidFill>
                <a:latin typeface="Aptos"/>
              </a:defRPr>
            </a:pPr>
            <a:r>
              <a:t>Yerel çalışmada parasal API maliyeti hesaplanmaz. Tahmin, kullanıcı onayının yerini tutmaz.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73952"/>
            <a:ext cx="96926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800" b="1">
                <a:solidFill>
                  <a:srgbClr val="637389"/>
                </a:solidFill>
                <a:latin typeface="Aptos"/>
              </a:defRPr>
            </a:pPr>
            <a:r>
              <a:t>MEVZUATAGENT  •  YEREL  •  ONAYLI  •  DENETLENEBİLİR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1">
                <a:solidFill>
                  <a:srgbClr val="637389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900" b="1">
                <a:solidFill>
                  <a:srgbClr val="00AFA0"/>
                </a:solidFill>
                <a:latin typeface="Aptos"/>
              </a:defRPr>
            </a:pPr>
            <a:r>
              <a:t>05  •  UÇTAN UCA AKIŞ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700" b="1">
                <a:solidFill>
                  <a:srgbClr val="112240"/>
                </a:solidFill>
                <a:latin typeface="Aptos"/>
              </a:defRPr>
            </a:pPr>
            <a:r>
              <a:t>Dokuz gereksinim, kontrollü tek bir yaşam döngüsü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97864"/>
            <a:ext cx="1088136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0">
                <a:solidFill>
                  <a:srgbClr val="637389"/>
                </a:solidFill>
                <a:latin typeface="Aptos"/>
              </a:defRPr>
            </a:pPr>
            <a:r>
              <a:t>Her adımın çıktısı bir sonraki aşamanın girdisi olur; etkili işlemlerde onay kapısı vardır.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783080"/>
            <a:ext cx="3429000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9536" y="1947672"/>
            <a:ext cx="384048" cy="384048"/>
          </a:xfrm>
          <a:prstGeom prst="roundRect">
            <a:avLst/>
          </a:prstGeom>
          <a:solidFill>
            <a:srgbClr val="00A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947672"/>
            <a:ext cx="38404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929384"/>
            <a:ext cx="264261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112240"/>
                </a:solidFill>
                <a:latin typeface="Aptos"/>
              </a:defRPr>
            </a:pPr>
            <a:r>
              <a:t>Kaynağı doğrula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95728"/>
            <a:ext cx="30632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JSON bağlantıları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83080"/>
            <a:ext cx="3429000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35424" y="1947672"/>
            <a:ext cx="384048" cy="384048"/>
          </a:xfrm>
          <a:prstGeom prst="roundRect">
            <a:avLst/>
          </a:prstGeom>
          <a:solidFill>
            <a:srgbClr val="35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947672"/>
            <a:ext cx="38404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929384"/>
            <a:ext cx="264261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112240"/>
                </a:solidFill>
                <a:latin typeface="Aptos"/>
              </a:defRPr>
            </a:pPr>
            <a:r>
              <a:t>Belgeyi hazırla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95728"/>
            <a:ext cx="30632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indir • parçala • indeksle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7" y="1783080"/>
            <a:ext cx="3429000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11311" y="1947672"/>
            <a:ext cx="384048" cy="384048"/>
          </a:xfrm>
          <a:prstGeom prst="roundRect">
            <a:avLst/>
          </a:prstGeom>
          <a:solidFill>
            <a:srgbClr val="F8B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1" y="1947672"/>
            <a:ext cx="38404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929384"/>
            <a:ext cx="264261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112240"/>
                </a:solidFill>
                <a:latin typeface="Aptos"/>
              </a:defRPr>
            </a:pPr>
            <a:r>
              <a:t>Depoyu 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7" y="2395728"/>
            <a:ext cx="30632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açık klonlama onayı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264408"/>
            <a:ext cx="3429000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9536" y="3429000"/>
            <a:ext cx="384048" cy="384048"/>
          </a:xfrm>
          <a:prstGeom prst="roundRect">
            <a:avLst/>
          </a:prstGeom>
          <a:solidFill>
            <a:srgbClr val="00A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3429000"/>
            <a:ext cx="38404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3410712"/>
            <a:ext cx="264261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112240"/>
                </a:solidFill>
                <a:latin typeface="Aptos"/>
              </a:defRPr>
            </a:pPr>
            <a:r>
              <a:t>Tahmin sun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877056"/>
            <a:ext cx="30632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tüm kurulu modeller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264408"/>
            <a:ext cx="3429000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35424" y="3429000"/>
            <a:ext cx="384048" cy="384048"/>
          </a:xfrm>
          <a:prstGeom prst="roundRect">
            <a:avLst/>
          </a:prstGeom>
          <a:solidFill>
            <a:srgbClr val="35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35424" y="3429000"/>
            <a:ext cx="38404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410712"/>
            <a:ext cx="264261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112240"/>
                </a:solidFill>
                <a:latin typeface="Aptos"/>
              </a:defRPr>
            </a:pPr>
            <a:r>
              <a:t>Taramayı çalıştır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877056"/>
            <a:ext cx="30632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model ve kapsam onayı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5007" y="3264408"/>
            <a:ext cx="3429000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11311" y="3429000"/>
            <a:ext cx="384048" cy="384048"/>
          </a:xfrm>
          <a:prstGeom prst="roundRect">
            <a:avLst/>
          </a:prstGeom>
          <a:solidFill>
            <a:srgbClr val="F8B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1" y="3429000"/>
            <a:ext cx="38404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05087" y="3410712"/>
            <a:ext cx="264261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112240"/>
                </a:solidFill>
                <a:latin typeface="Aptos"/>
              </a:defRPr>
            </a:pPr>
            <a:r>
              <a:t>Rapor üret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7" y="3877056"/>
            <a:ext cx="30632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JSON • MD • HTML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" y="4745736"/>
            <a:ext cx="3429000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59536" y="4910328"/>
            <a:ext cx="384048" cy="384048"/>
          </a:xfrm>
          <a:prstGeom prst="roundRect">
            <a:avLst/>
          </a:prstGeom>
          <a:solidFill>
            <a:srgbClr val="00A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" y="4910328"/>
            <a:ext cx="38404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53312" y="4892040"/>
            <a:ext cx="264261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112240"/>
                </a:solidFill>
                <a:latin typeface="Aptos"/>
              </a:defRPr>
            </a:pPr>
            <a:r>
              <a:t>İlk ikiyi seç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" y="5358384"/>
            <a:ext cx="30632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önem ve güven sırası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89120" y="4745736"/>
            <a:ext cx="3429000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35424" y="4910328"/>
            <a:ext cx="384048" cy="384048"/>
          </a:xfrm>
          <a:prstGeom prst="roundRect">
            <a:avLst/>
          </a:prstGeom>
          <a:solidFill>
            <a:srgbClr val="35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35424" y="4910328"/>
            <a:ext cx="38404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4892040"/>
            <a:ext cx="264261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112240"/>
                </a:solidFill>
                <a:latin typeface="Aptos"/>
              </a:defRPr>
            </a:pPr>
            <a:r>
              <a:t>Düzelt / test 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5358384"/>
            <a:ext cx="30632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ayrı onay kapıları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65007" y="4745736"/>
            <a:ext cx="3429000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211311" y="4910328"/>
            <a:ext cx="384048" cy="384048"/>
          </a:xfrm>
          <a:prstGeom prst="roundRect">
            <a:avLst/>
          </a:prstGeom>
          <a:solidFill>
            <a:srgbClr val="F8B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11311" y="4910328"/>
            <a:ext cx="38404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05087" y="4892040"/>
            <a:ext cx="264261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112240"/>
                </a:solidFill>
                <a:latin typeface="Aptos"/>
              </a:defRPr>
            </a:pPr>
            <a:r>
              <a:t>PR oluştur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47887" y="5358384"/>
            <a:ext cx="30632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son onay • GitHub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6473952"/>
            <a:ext cx="96926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800" b="1">
                <a:solidFill>
                  <a:srgbClr val="637389"/>
                </a:solidFill>
                <a:latin typeface="Aptos"/>
              </a:defRPr>
            </a:pPr>
            <a:r>
              <a:t>MEVZUATAGENT  •  YEREL  •  ONAYLI  •  DENETLENEBİLİR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1">
                <a:solidFill>
                  <a:srgbClr val="637389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900" b="1">
                <a:solidFill>
                  <a:srgbClr val="00AFA0"/>
                </a:solidFill>
                <a:latin typeface="Aptos"/>
              </a:defRPr>
            </a:pPr>
            <a:r>
              <a:t>06  •  MIMARI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700" b="1">
                <a:solidFill>
                  <a:srgbClr val="112240"/>
                </a:solidFill>
                <a:latin typeface="Aptos"/>
              </a:defRPr>
            </a:pPr>
            <a:r>
              <a:t>Sorumlulukları ayrılmış, yerel çalışan bileşenler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97864"/>
            <a:ext cx="1088136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0">
                <a:solidFill>
                  <a:srgbClr val="637389"/>
                </a:solidFill>
                <a:latin typeface="Aptos"/>
              </a:defRPr>
            </a:pPr>
            <a:r>
              <a:t>Terminal arayüzü kullanıcıyı yönlendirir; araçlar belirli girdilerle sınırlı işler yapar.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8328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64008" cy="1508760"/>
          </a:xfrm>
          <a:prstGeom prst="rect">
            <a:avLst/>
          </a:prstGeom>
          <a:solidFill>
            <a:srgbClr val="00A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56816"/>
            <a:ext cx="299923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Sohbet arayüzü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2377440"/>
            <a:ext cx="2962656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Türkçe doğal dil etkileşimi</a:t>
            </a:r>
            <a:br/>
            <a:r>
              <a:t>•  Proje promptu ve onay istemleri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828800"/>
            <a:ext cx="338328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828800"/>
            <a:ext cx="64008" cy="1508760"/>
          </a:xfrm>
          <a:prstGeom prst="rect">
            <a:avLst/>
          </a:prstGeom>
          <a:solidFill>
            <a:srgbClr val="35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956816"/>
            <a:ext cx="299923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LangChain akışı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2377440"/>
            <a:ext cx="2962656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Tahmin → onay → tarama</a:t>
            </a:r>
            <a:br/>
            <a:r>
              <a:t>•  Rapor → düzeltme planı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6" y="1828800"/>
            <a:ext cx="338328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9016" y="1828800"/>
            <a:ext cx="64008" cy="1508760"/>
          </a:xfrm>
          <a:prstGeom prst="rect">
            <a:avLst/>
          </a:prstGeom>
          <a:solidFill>
            <a:srgbClr val="F8B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4" y="1956816"/>
            <a:ext cx="299923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Yerel servisler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2377440"/>
            <a:ext cx="2962656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Ollama • BM25</a:t>
            </a:r>
            <a:br/>
            <a:r>
              <a:t>•  Git • test araçları • gh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03320"/>
            <a:ext cx="3383280" cy="1508760"/>
          </a:xfrm>
          <a:prstGeom prst="roundRect">
            <a:avLst/>
          </a:prstGeom>
          <a:solidFill>
            <a:srgbClr val="E7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703320"/>
            <a:ext cx="64008" cy="1508760"/>
          </a:xfrm>
          <a:prstGeom prst="rect">
            <a:avLst/>
          </a:prstGeom>
          <a:solidFill>
            <a:srgbClr val="35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831335"/>
            <a:ext cx="299923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Girdi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251959"/>
            <a:ext cx="2962656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PDF'ler ve JSON bağlantıları</a:t>
            </a:r>
            <a:br/>
            <a:r>
              <a:t>•  Kullanıcının seçtiği depo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07408" y="3703320"/>
            <a:ext cx="3383280" cy="1508760"/>
          </a:xfrm>
          <a:prstGeom prst="roundRect">
            <a:avLst/>
          </a:prstGeom>
          <a:solidFill>
            <a:srgbClr val="E2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07408" y="3703320"/>
            <a:ext cx="64008" cy="1508760"/>
          </a:xfrm>
          <a:prstGeom prst="rect">
            <a:avLst/>
          </a:prstGeom>
          <a:solidFill>
            <a:srgbClr val="00A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08576" y="3831335"/>
            <a:ext cx="299923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Kayıtlar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4251959"/>
            <a:ext cx="2962656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Yerel indeks ve tarama JSON'u</a:t>
            </a:r>
            <a:br/>
            <a:r>
              <a:t>•  Markdown/HTML raporları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29016" y="3703320"/>
            <a:ext cx="3383280" cy="1508760"/>
          </a:xfrm>
          <a:prstGeom prst="roundRect">
            <a:avLst/>
          </a:prstGeom>
          <a:solidFill>
            <a:srgbClr val="FFF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29016" y="3703320"/>
            <a:ext cx="64008" cy="1508760"/>
          </a:xfrm>
          <a:prstGeom prst="rect">
            <a:avLst/>
          </a:prstGeom>
          <a:solidFill>
            <a:srgbClr val="F8B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4" y="3831335"/>
            <a:ext cx="299923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Düzeltme alanı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2" y="4251959"/>
            <a:ext cx="2962656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İzole Git worktree</a:t>
            </a:r>
            <a:br/>
            <a:r>
              <a:t>•  Commit / push yalnız PR onayıyla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73952"/>
            <a:ext cx="96926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800" b="1">
                <a:solidFill>
                  <a:srgbClr val="637389"/>
                </a:solidFill>
                <a:latin typeface="Aptos"/>
              </a:defRPr>
            </a:pPr>
            <a:r>
              <a:t>MEVZUATAGENT  •  YEREL  •  ONAYLI  •  DENETLENEBİLİR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1">
                <a:solidFill>
                  <a:srgbClr val="637389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900" b="1">
                <a:solidFill>
                  <a:srgbClr val="00AFA0"/>
                </a:solidFill>
                <a:latin typeface="Aptos"/>
              </a:defRPr>
            </a:pPr>
            <a:r>
              <a:t>07  •  TARAMA DOĞRULUĞU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700" b="1">
                <a:solidFill>
                  <a:srgbClr val="112240"/>
                </a:solidFill>
                <a:latin typeface="Aptos"/>
              </a:defRPr>
            </a:pPr>
            <a:r>
              <a:t>Model çıktısı doğrudan bulgu sayılmaz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97864"/>
            <a:ext cx="1088136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0">
                <a:solidFill>
                  <a:srgbClr val="637389"/>
                </a:solidFill>
                <a:latin typeface="Aptos"/>
              </a:defRPr>
            </a:pPr>
            <a:r>
              <a:t>Tarama kapsamı Git tarafından izlenen kaynak dosyalarıyla sınırlıdır.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47088"/>
            <a:ext cx="34290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47088"/>
            <a:ext cx="64008" cy="2286000"/>
          </a:xfrm>
          <a:prstGeom prst="rect">
            <a:avLst/>
          </a:prstGeom>
          <a:solidFill>
            <a:srgbClr val="00A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75104"/>
            <a:ext cx="304495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Bağlam seçimi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2395728"/>
            <a:ext cx="3008376" cy="1627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Kod dosyası için ilgili BM25 parçaları aranır</a:t>
            </a:r>
            <a:br/>
            <a:r>
              <a:t>•  İlgili mevzuat bulunmazsa dosya modele gönderilmez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47088"/>
            <a:ext cx="34290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847088"/>
            <a:ext cx="64008" cy="2286000"/>
          </a:xfrm>
          <a:prstGeom prst="rect">
            <a:avLst/>
          </a:prstGeom>
          <a:solidFill>
            <a:srgbClr val="35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975104"/>
            <a:ext cx="304495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Kanıt kontrolü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395728"/>
            <a:ext cx="3008376" cy="1627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Kod satırı dosyadaki içerikle karşılaştırılır</a:t>
            </a:r>
            <a:br/>
            <a:r>
              <a:t>•  Mevzuat sayfa atfı sunulan kaynakla eşleştirilir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47088"/>
            <a:ext cx="34290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847088"/>
            <a:ext cx="64008" cy="2286000"/>
          </a:xfrm>
          <a:prstGeom prst="rect">
            <a:avLst/>
          </a:prstGeom>
          <a:solidFill>
            <a:srgbClr val="F8B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975104"/>
            <a:ext cx="304495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Raporlama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395728"/>
            <a:ext cx="3008376" cy="1627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Geçersiz kanıtlı bulgular elenir</a:t>
            </a:r>
            <a:br/>
            <a:r>
              <a:t>•  Kısmi tarama ve sınırlamalar rapora yazılır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526280"/>
            <a:ext cx="10835640" cy="822960"/>
          </a:xfrm>
          <a:prstGeom prst="roundRect">
            <a:avLst/>
          </a:prstGeom>
          <a:solidFill>
            <a:srgbClr val="FFF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718304"/>
            <a:ext cx="99669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700" b="1">
                <a:solidFill>
                  <a:srgbClr val="112240"/>
                </a:solidFill>
                <a:latin typeface="Aptos"/>
              </a:defRPr>
            </a:pPr>
            <a:r>
              <a:t>Doğrulama, hukuki doğruluk garantisi değildir.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73952"/>
            <a:ext cx="96926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800" b="1">
                <a:solidFill>
                  <a:srgbClr val="637389"/>
                </a:solidFill>
                <a:latin typeface="Aptos"/>
              </a:defRPr>
            </a:pPr>
            <a:r>
              <a:t>MEVZUATAGENT  •  YEREL  •  ONAYLI  •  DENETLENEBİLİR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1">
                <a:solidFill>
                  <a:srgbClr val="637389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900" b="1">
                <a:solidFill>
                  <a:srgbClr val="00AFA0"/>
                </a:solidFill>
                <a:latin typeface="Aptos"/>
              </a:defRPr>
            </a:pPr>
            <a:r>
              <a:t>08  •  RAPORLAR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700" b="1">
                <a:solidFill>
                  <a:srgbClr val="112240"/>
                </a:solidFill>
                <a:latin typeface="Aptos"/>
              </a:defRPr>
            </a:pPr>
            <a:r>
              <a:t>İncelenebilir bulgular ve açık sınırlamalar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97864"/>
            <a:ext cx="1088136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0">
                <a:solidFill>
                  <a:srgbClr val="637389"/>
                </a:solidFill>
                <a:latin typeface="Aptos"/>
              </a:defRPr>
            </a:pPr>
            <a:r>
              <a:t>Her tarama için makinece okunabilir JSON ile paylaşılabilir Markdown ve HTML çıktısı üretilir.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83080"/>
            <a:ext cx="6995160" cy="374903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93392"/>
            <a:ext cx="635508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112240"/>
                </a:solidFill>
                <a:latin typeface="Aptos"/>
              </a:defRPr>
            </a:pPr>
            <a:r>
              <a:t>MEVZUAT UYUMLULUK TARAMA RAPORU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63093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Depo  •  dal/commit  •  model  •  tarama kapsamı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880360"/>
            <a:ext cx="6309360" cy="694944"/>
          </a:xfrm>
          <a:prstGeom prst="roundRect">
            <a:avLst/>
          </a:prstGeom>
          <a:solidFill>
            <a:srgbClr val="FFF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872" y="3054096"/>
            <a:ext cx="58521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112240"/>
                </a:solidFill>
                <a:latin typeface="Aptos"/>
              </a:defRPr>
            </a:pPr>
            <a:r>
              <a:t>HIGH   |   Kaynak atıflı örnek bulgu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767328"/>
            <a:ext cx="61264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223045"/>
                </a:solidFill>
                <a:latin typeface="Aptos"/>
              </a:defRPr>
            </a:pPr>
            <a:r>
              <a:t>Dosya/satır • güven puanı • mevzuat sayfası • kod kanıtı • öneri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434840"/>
            <a:ext cx="201168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1">
                <a:solidFill>
                  <a:srgbClr val="00AFA0"/>
                </a:solidFill>
                <a:latin typeface="Aptos"/>
              </a:defRPr>
            </a:pPr>
            <a:r>
              <a:t>Kapsam ve sınırlar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773168"/>
            <a:ext cx="612648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637389"/>
                </a:solidFill>
                <a:latin typeface="Aptos"/>
              </a:defRPr>
            </a:pPr>
            <a:r>
              <a:t>Kısmi tarama, atlanan dosyalar ve model hataları ayrıca gösterilir.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74519"/>
            <a:ext cx="34747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74519"/>
            <a:ext cx="64008" cy="1051560"/>
          </a:xfrm>
          <a:prstGeom prst="rect">
            <a:avLst/>
          </a:prstGeom>
          <a:solidFill>
            <a:srgbClr val="00A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002536"/>
            <a:ext cx="309067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Markdown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2423160"/>
            <a:ext cx="3054096" cy="393191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Kod inceleme ve sürüm kontrolü için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154680"/>
            <a:ext cx="34747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3154680"/>
            <a:ext cx="64008" cy="1051560"/>
          </a:xfrm>
          <a:prstGeom prst="rect">
            <a:avLst/>
          </a:prstGeom>
          <a:solidFill>
            <a:srgbClr val="35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3282696"/>
            <a:ext cx="309067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3703320"/>
            <a:ext cx="3054096" cy="393191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Stilli, tarayıcıda açılabilir rapor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434840"/>
            <a:ext cx="34747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4434840"/>
            <a:ext cx="64008" cy="1051560"/>
          </a:xfrm>
          <a:prstGeom prst="rect">
            <a:avLst/>
          </a:prstGeom>
          <a:solidFill>
            <a:srgbClr val="F8B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4562855"/>
            <a:ext cx="309067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Güven ilkesi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4983479"/>
            <a:ext cx="3054096" cy="393191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Bulgu yoksa bu, uygunluk kanıtı değildir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96926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800" b="1">
                <a:solidFill>
                  <a:srgbClr val="637389"/>
                </a:solidFill>
                <a:latin typeface="Aptos"/>
              </a:defRPr>
            </a:pPr>
            <a:r>
              <a:t>MEVZUATAGENT  •  YEREL  •  ONAYLI  •  DENETLENEBİLİR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1">
                <a:solidFill>
                  <a:srgbClr val="637389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900" b="1">
                <a:solidFill>
                  <a:srgbClr val="00AFA0"/>
                </a:solidFill>
                <a:latin typeface="Aptos"/>
              </a:defRPr>
            </a:pPr>
            <a:r>
              <a:t>09  •  GEREKSINIM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700" b="1">
                <a:solidFill>
                  <a:srgbClr val="112240"/>
                </a:solidFill>
                <a:latin typeface="Aptos"/>
              </a:defRPr>
            </a:pPr>
            <a:r>
              <a:t>İlk iki bulgu için kontrollü remediation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97864"/>
            <a:ext cx="1088136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0">
                <a:solidFill>
                  <a:srgbClr val="637389"/>
                </a:solidFill>
                <a:latin typeface="Aptos"/>
              </a:defRPr>
            </a:pPr>
            <a:r>
              <a:t>Uygulama, model önerisini otomatik olarak kod tabanına yazmaz.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194560"/>
            <a:ext cx="1993392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9536" y="2359152"/>
            <a:ext cx="384048" cy="384048"/>
          </a:xfrm>
          <a:prstGeom prst="roundRect">
            <a:avLst/>
          </a:prstGeom>
          <a:solidFill>
            <a:srgbClr val="00A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359152"/>
            <a:ext cx="38404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2340864"/>
            <a:ext cx="120700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112240"/>
                </a:solidFill>
                <a:latin typeface="Aptos"/>
              </a:defRPr>
            </a:pPr>
            <a:r>
              <a:t>Sırala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807208"/>
            <a:ext cx="1627632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Önem seviyesi ve güven puanıyla ilk iki bulguyu seç.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194560"/>
            <a:ext cx="1993392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72384" y="2359152"/>
            <a:ext cx="384048" cy="384048"/>
          </a:xfrm>
          <a:prstGeom prst="roundRect">
            <a:avLst/>
          </a:prstGeom>
          <a:solidFill>
            <a:srgbClr val="35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72384" y="2359152"/>
            <a:ext cx="38404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340864"/>
            <a:ext cx="120700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112240"/>
                </a:solidFill>
                <a:latin typeface="Aptos"/>
              </a:defRPr>
            </a:pPr>
            <a:r>
              <a:t>Öner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807208"/>
            <a:ext cx="1627632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Yerel Ollama modelinden değişiklik önerisi 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38928" y="2194560"/>
            <a:ext cx="1993392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85232" y="2359152"/>
            <a:ext cx="384048" cy="384048"/>
          </a:xfrm>
          <a:prstGeom prst="roundRect">
            <a:avLst/>
          </a:prstGeom>
          <a:solidFill>
            <a:srgbClr val="F8B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85232" y="2359152"/>
            <a:ext cx="38404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9008" y="2340864"/>
            <a:ext cx="120700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112240"/>
                </a:solidFill>
                <a:latin typeface="Aptos"/>
              </a:defRPr>
            </a:pPr>
            <a:r>
              <a:t>Doğrula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8" y="2807208"/>
            <a:ext cx="1627632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Dosya yolu ve kanıt satırını bulguyla eşleştir.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51775" y="2194560"/>
            <a:ext cx="1993392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79" y="2359152"/>
            <a:ext cx="384048" cy="384048"/>
          </a:xfrm>
          <a:prstGeom prst="roundRect">
            <a:avLst/>
          </a:prstGeom>
          <a:solidFill>
            <a:srgbClr val="00A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2359152"/>
            <a:ext cx="38404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1855" y="2340864"/>
            <a:ext cx="120700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112240"/>
                </a:solidFill>
                <a:latin typeface="Aptos"/>
              </a:defRPr>
            </a:pPr>
            <a:r>
              <a:t>İncele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34655" y="2807208"/>
            <a:ext cx="1627632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Markdown/HTML diff raporunu kullanıcıya göster.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64624" y="2194560"/>
            <a:ext cx="1993392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710928" y="2359152"/>
            <a:ext cx="384048" cy="384048"/>
          </a:xfrm>
          <a:prstGeom prst="roundRect">
            <a:avLst/>
          </a:prstGeom>
          <a:solidFill>
            <a:srgbClr val="D65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10928" y="2359152"/>
            <a:ext cx="38404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04703" y="2340864"/>
            <a:ext cx="120700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112240"/>
                </a:solidFill>
                <a:latin typeface="Aptos"/>
              </a:defRPr>
            </a:pPr>
            <a:r>
              <a:t>Onayla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7503" y="2807208"/>
            <a:ext cx="1627632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Açık onaydan sonra izole worktree'de uygula.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133087"/>
            <a:ext cx="10744200" cy="941832"/>
          </a:xfrm>
          <a:prstGeom prst="roundRect">
            <a:avLst/>
          </a:prstGeom>
          <a:solidFill>
            <a:srgbClr val="E7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" y="4297680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400" b="1">
                <a:solidFill>
                  <a:srgbClr val="112240"/>
                </a:solidFill>
                <a:latin typeface="Aptos"/>
              </a:defRPr>
            </a:pPr>
            <a:r>
              <a:t>Kaynak depo korunur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4261104"/>
            <a:ext cx="7955279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0">
                <a:solidFill>
                  <a:srgbClr val="223045"/>
                </a:solidFill>
                <a:latin typeface="Aptos"/>
              </a:defRPr>
            </a:pPr>
            <a:r>
              <a:t>Değişiklikler ayrı Git worktree/dalında tutulur; kaynak kopyaya otomatik yazılmaz.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" y="5349240"/>
            <a:ext cx="100584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637389"/>
                </a:solidFill>
                <a:latin typeface="Aptos"/>
              </a:defRPr>
            </a:pPr>
            <a:r>
              <a:t>Önerinin doğruluğu garanti edilmez; insan diff'i inceleyip ayrıca onaylar.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73952"/>
            <a:ext cx="96926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800" b="1">
                <a:solidFill>
                  <a:srgbClr val="637389"/>
                </a:solidFill>
                <a:latin typeface="Aptos"/>
              </a:defRPr>
            </a:pPr>
            <a:r>
              <a:t>MEVZUATAGENT  •  YEREL  •  ONAYLI  •  DENETLENEBİLİR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1">
                <a:solidFill>
                  <a:srgbClr val="637389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900" b="1">
                <a:solidFill>
                  <a:srgbClr val="00AFA0"/>
                </a:solidFill>
                <a:latin typeface="Aptos"/>
              </a:defRPr>
            </a:pPr>
            <a:r>
              <a:t>10  •  GEREKSINIM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700" b="1">
                <a:solidFill>
                  <a:srgbClr val="112240"/>
                </a:solidFill>
                <a:latin typeface="Aptos"/>
              </a:defRPr>
            </a:pPr>
            <a:r>
              <a:t>Test ve GitHub PR için ayrı onay kapıları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97864"/>
            <a:ext cx="1088136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0">
                <a:solidFill>
                  <a:srgbClr val="637389"/>
                </a:solidFill>
                <a:latin typeface="Aptos"/>
              </a:defRPr>
            </a:pPr>
            <a:r>
              <a:t>Tarama izni; kod çalıştırma, commit veya GitHub'a gönderme izni değildir.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34290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874519"/>
            <a:ext cx="64008" cy="2148840"/>
          </a:xfrm>
          <a:prstGeom prst="rect">
            <a:avLst/>
          </a:prstGeom>
          <a:solidFill>
            <a:srgbClr val="00A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02536"/>
            <a:ext cx="304495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1. Test onayı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23160"/>
            <a:ext cx="3008376" cy="1490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Sabit ve desteklenen araç seçilir</a:t>
            </a:r>
            <a:br/>
            <a:r>
              <a:t>•  Zaman aşımı uygulanır</a:t>
            </a:r>
            <a:br/>
            <a:r>
              <a:t>•  Çıktı MD/HTML raporlanır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874519"/>
            <a:ext cx="34290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9976" y="1874519"/>
            <a:ext cx="64008" cy="2148840"/>
          </a:xfrm>
          <a:prstGeom prst="rect">
            <a:avLst/>
          </a:prstGeom>
          <a:solidFill>
            <a:srgbClr val="35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1144" y="2002536"/>
            <a:ext cx="304495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2. Son kontrol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423160"/>
            <a:ext cx="3008376" cy="1490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Test başarılı olmalı</a:t>
            </a:r>
            <a:br/>
            <a:r>
              <a:t>•  Yalnız beklenen dosyalar değişmeli</a:t>
            </a:r>
            <a:br/>
            <a:r>
              <a:t>•  Diff ve dal kullanıcıca incelenmeli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74519"/>
            <a:ext cx="34290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74519"/>
            <a:ext cx="64008" cy="2148840"/>
          </a:xfrm>
          <a:prstGeom prst="rect">
            <a:avLst/>
          </a:prstGeom>
          <a:solidFill>
            <a:srgbClr val="F8B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002536"/>
            <a:ext cx="304495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3. PR onayı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2423160"/>
            <a:ext cx="3008376" cy="1490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gh kimlik doğrulaması gerekir</a:t>
            </a:r>
            <a:br/>
            <a:r>
              <a:t>•  Commit ve push gerçekleşir</a:t>
            </a:r>
            <a:br/>
            <a:r>
              <a:t>•  GitHub PR bağlantısı raporlanır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389120"/>
            <a:ext cx="10762488" cy="804672"/>
          </a:xfrm>
          <a:prstGeom prst="roundRect">
            <a:avLst/>
          </a:prstGeom>
          <a:solidFill>
            <a:srgbClr val="FFF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590288"/>
            <a:ext cx="102870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112240"/>
                </a:solidFill>
                <a:latin typeface="Aptos"/>
              </a:defRPr>
            </a:pPr>
            <a:r>
              <a:t>Gerçek GitHub PR bu proje doğrulamasında açılmadı; PR akışı yerel sahte remote ile test edildi.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73952"/>
            <a:ext cx="96926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800" b="1">
                <a:solidFill>
                  <a:srgbClr val="637389"/>
                </a:solidFill>
                <a:latin typeface="Aptos"/>
              </a:defRPr>
            </a:pPr>
            <a:r>
              <a:t>MEVZUATAGENT  •  YEREL  •  ONAYLI  •  DENETLENEBİLİR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1">
                <a:solidFill>
                  <a:srgbClr val="637389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900" b="1">
                <a:solidFill>
                  <a:srgbClr val="00AFA0"/>
                </a:solidFill>
                <a:latin typeface="Aptos"/>
              </a:defRPr>
            </a:pPr>
            <a:r>
              <a:t>11  •  KURULUM VE KULLANIM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700" b="1">
                <a:solidFill>
                  <a:srgbClr val="112240"/>
                </a:solidFill>
                <a:latin typeface="Aptos"/>
              </a:defRPr>
            </a:pPr>
            <a:r>
              <a:t>macOS'ta anlaşılır, tekrar çalıştırılabilir kurulum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97864"/>
            <a:ext cx="1088136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0">
                <a:solidFill>
                  <a:srgbClr val="637389"/>
                </a:solidFill>
                <a:latin typeface="Aptos"/>
              </a:defRPr>
            </a:pPr>
            <a:r>
              <a:t>Kurulum; çevreyi hazırlar, isteğe bağlı ağ/model işlemlerini kullanıcıya bırakır.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874519"/>
            <a:ext cx="3401568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2039112"/>
            <a:ext cx="384048" cy="384048"/>
          </a:xfrm>
          <a:prstGeom prst="roundRect">
            <a:avLst/>
          </a:prstGeom>
          <a:solidFill>
            <a:srgbClr val="00A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39112"/>
            <a:ext cx="38404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2020824"/>
            <a:ext cx="2615184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112240"/>
                </a:solidFill>
                <a:latin typeface="Aptos"/>
              </a:defRPr>
            </a:pPr>
            <a:r>
              <a:t>Başlat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3035808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Kurulum.command veya ./install.sh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874519"/>
            <a:ext cx="3401568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53712" y="2039112"/>
            <a:ext cx="384048" cy="384048"/>
          </a:xfrm>
          <a:prstGeom prst="roundRect">
            <a:avLst/>
          </a:prstGeom>
          <a:solidFill>
            <a:srgbClr val="35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039112"/>
            <a:ext cx="38404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7488" y="2020824"/>
            <a:ext cx="2615184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112240"/>
                </a:solidFill>
                <a:latin typeface="Aptos"/>
              </a:defRPr>
            </a:pPr>
            <a:r>
              <a:t>Kontrol 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487168"/>
            <a:ext cx="3035808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macOS • Git • Python 3.10+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874519"/>
            <a:ext cx="3401568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11312" y="2039112"/>
            <a:ext cx="384048" cy="384048"/>
          </a:xfrm>
          <a:prstGeom prst="roundRect">
            <a:avLst/>
          </a:prstGeom>
          <a:solidFill>
            <a:srgbClr val="F8B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2039112"/>
            <a:ext cx="38404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2020824"/>
            <a:ext cx="2615184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112240"/>
                </a:solidFill>
                <a:latin typeface="Aptos"/>
              </a:defRPr>
            </a:pPr>
            <a:r>
              <a:t>Hazırla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487168"/>
            <a:ext cx="3035808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.venv ve proje paketleri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474720"/>
            <a:ext cx="3401568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6112" y="3639312"/>
            <a:ext cx="384048" cy="384048"/>
          </a:xfrm>
          <a:prstGeom prst="roundRect">
            <a:avLst/>
          </a:prstGeom>
          <a:solidFill>
            <a:srgbClr val="00A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639312"/>
            <a:ext cx="38404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3621024"/>
            <a:ext cx="2615184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112240"/>
                </a:solidFill>
                <a:latin typeface="Aptos"/>
              </a:defRPr>
            </a:pPr>
            <a:r>
              <a:t>Doğrula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087368"/>
            <a:ext cx="3035808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JSON ve çalışma klasörleri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07408" y="3474720"/>
            <a:ext cx="3401568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53712" y="3639312"/>
            <a:ext cx="384048" cy="384048"/>
          </a:xfrm>
          <a:prstGeom prst="roundRect">
            <a:avLst/>
          </a:prstGeom>
          <a:solidFill>
            <a:srgbClr val="35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3639312"/>
            <a:ext cx="38404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7488" y="3621024"/>
            <a:ext cx="2615184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112240"/>
                </a:solidFill>
                <a:latin typeface="Aptos"/>
              </a:defRPr>
            </a:pPr>
            <a:r>
              <a:t>Seçim sun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288" y="4087368"/>
            <a:ext cx="3035808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Ollama • belge • depo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5008" y="3474720"/>
            <a:ext cx="3401568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11312" y="3639312"/>
            <a:ext cx="384048" cy="384048"/>
          </a:xfrm>
          <a:prstGeom prst="roundRect">
            <a:avLst/>
          </a:prstGeom>
          <a:solidFill>
            <a:srgbClr val="F8B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3639312"/>
            <a:ext cx="38404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05088" y="3621024"/>
            <a:ext cx="2615184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112240"/>
                </a:solidFill>
                <a:latin typeface="Aptos"/>
              </a:defRPr>
            </a:pPr>
            <a:r>
              <a:t>Sohbeti başlat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4087368"/>
            <a:ext cx="3035808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mevzuat-agent • yerel Ollama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808" y="5257800"/>
            <a:ext cx="10716768" cy="530352"/>
          </a:xfrm>
          <a:prstGeom prst="roundRect">
            <a:avLst/>
          </a:prstGeom>
          <a:solidFill>
            <a:srgbClr val="E2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340096"/>
            <a:ext cx="10378440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100" b="1">
                <a:solidFill>
                  <a:srgbClr val="112240"/>
                </a:solidFill>
                <a:latin typeface="Aptos"/>
              </a:defRPr>
            </a:pPr>
            <a:r>
              <a:t>Varsayılan davranış: depoları klonlama, model indirme veya mevzuat indirme otomatik onaysız yapılmaz.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473952"/>
            <a:ext cx="96926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800" b="1">
                <a:solidFill>
                  <a:srgbClr val="637389"/>
                </a:solidFill>
                <a:latin typeface="Aptos"/>
              </a:defRPr>
            </a:pPr>
            <a:r>
              <a:t>MEVZUATAGENT  •  YEREL  •  ONAYLI  •  DENETLENEBİLİR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1">
                <a:solidFill>
                  <a:srgbClr val="637389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900" b="1">
                <a:solidFill>
                  <a:srgbClr val="00AFA0"/>
                </a:solidFill>
                <a:latin typeface="Aptos"/>
              </a:defRPr>
            </a:pPr>
            <a:r>
              <a:t>12  •  ONAY MODELI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700" b="1">
                <a:solidFill>
                  <a:srgbClr val="112240"/>
                </a:solidFill>
                <a:latin typeface="Aptos"/>
              </a:defRPr>
            </a:pPr>
            <a:r>
              <a:t>Bir onay, sonraki işlemlere taşınmaz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97864"/>
            <a:ext cx="1088136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0">
                <a:solidFill>
                  <a:srgbClr val="637389"/>
                </a:solidFill>
                <a:latin typeface="Aptos"/>
              </a:defRPr>
            </a:pPr>
            <a:r>
              <a:t>Etkisi dış sisteme veya kod çalıştırmaya uzanan işlemler kendi onaylarını ister.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94560"/>
            <a:ext cx="1975104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16736" y="2487168"/>
            <a:ext cx="640080" cy="640080"/>
          </a:xfrm>
          <a:prstGeom prst="roundRect">
            <a:avLst/>
          </a:prstGeom>
          <a:solidFill>
            <a:srgbClr val="00A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16736" y="2514600"/>
            <a:ext cx="64008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273552"/>
            <a:ext cx="1609344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500" b="1">
                <a:solidFill>
                  <a:srgbClr val="112240"/>
                </a:solidFill>
                <a:latin typeface="Aptos"/>
              </a:defRPr>
            </a:pPr>
            <a:r>
              <a:t>Klonla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657600"/>
            <a:ext cx="1700784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000" b="0">
                <a:solidFill>
                  <a:srgbClr val="637389"/>
                </a:solidFill>
                <a:latin typeface="Aptos"/>
              </a:defRPr>
            </a:pPr>
            <a:r>
              <a:t>repo_link.json</a:t>
            </a:r>
            <a:br/>
            <a:r>
              <a:t>depoları indir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4328" y="2999232"/>
            <a:ext cx="25603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2400" b="1">
                <a:solidFill>
                  <a:srgbClr val="00AFA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194560"/>
            <a:ext cx="1975104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84448" y="2487168"/>
            <a:ext cx="640080" cy="640080"/>
          </a:xfrm>
          <a:prstGeom prst="roundRect">
            <a:avLst/>
          </a:prstGeom>
          <a:solidFill>
            <a:srgbClr val="35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2514600"/>
            <a:ext cx="64008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273552"/>
            <a:ext cx="1609344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500" b="1">
                <a:solidFill>
                  <a:srgbClr val="112240"/>
                </a:solidFill>
                <a:latin typeface="Aptos"/>
              </a:defRPr>
            </a:pPr>
            <a:r>
              <a:t>Tara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3657600"/>
            <a:ext cx="1700784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000" b="0">
                <a:solidFill>
                  <a:srgbClr val="637389"/>
                </a:solidFill>
                <a:latin typeface="Aptos"/>
              </a:defRPr>
            </a:pPr>
            <a:r>
              <a:t>Tahmini gör</a:t>
            </a:r>
            <a:br/>
            <a:r>
              <a:t>modeli ve kapsamı seç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999232"/>
            <a:ext cx="25603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2400" b="1">
                <a:solidFill>
                  <a:srgbClr val="00AFA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93792" y="2194560"/>
            <a:ext cx="1975104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52159" y="2487168"/>
            <a:ext cx="640080" cy="640080"/>
          </a:xfrm>
          <a:prstGeom prst="roundRect">
            <a:avLst/>
          </a:prstGeom>
          <a:solidFill>
            <a:srgbClr val="F8B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59" y="2514600"/>
            <a:ext cx="64008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6672" y="3273552"/>
            <a:ext cx="1609344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500" b="1">
                <a:solidFill>
                  <a:srgbClr val="112240"/>
                </a:solidFill>
                <a:latin typeface="Aptos"/>
              </a:defRPr>
            </a:pPr>
            <a:r>
              <a:t>Değiştir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0952" y="3657600"/>
            <a:ext cx="1700784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000" b="0">
                <a:solidFill>
                  <a:srgbClr val="637389"/>
                </a:solidFill>
                <a:latin typeface="Aptos"/>
              </a:defRPr>
            </a:pPr>
            <a:r>
              <a:t>Diff'i incele</a:t>
            </a:r>
            <a:br/>
            <a:r>
              <a:t>izole dala uygula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999232"/>
            <a:ext cx="25603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2400" b="1">
                <a:solidFill>
                  <a:srgbClr val="00AFA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61504" y="2194560"/>
            <a:ext cx="1975104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19872" y="2487168"/>
            <a:ext cx="640080" cy="640080"/>
          </a:xfrm>
          <a:prstGeom prst="roundRect">
            <a:avLst/>
          </a:prstGeom>
          <a:solidFill>
            <a:srgbClr val="00A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9872" y="2514600"/>
            <a:ext cx="64008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44383" y="3273552"/>
            <a:ext cx="1609344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500" b="1">
                <a:solidFill>
                  <a:srgbClr val="112240"/>
                </a:solidFill>
                <a:latin typeface="Aptos"/>
              </a:defRPr>
            </a:pPr>
            <a:r>
              <a:t>Test 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98664" y="3657600"/>
            <a:ext cx="1700784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000" b="0">
                <a:solidFill>
                  <a:srgbClr val="637389"/>
                </a:solidFill>
                <a:latin typeface="Aptos"/>
              </a:defRPr>
            </a:pPr>
            <a:r>
              <a:t>Seçilen testleri</a:t>
            </a:r>
            <a:br/>
            <a:r>
              <a:t>çalıştır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27464" y="2999232"/>
            <a:ext cx="25603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2400" b="1">
                <a:solidFill>
                  <a:srgbClr val="00AFA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29216" y="2194560"/>
            <a:ext cx="1975104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387584" y="2487168"/>
            <a:ext cx="640080" cy="640080"/>
          </a:xfrm>
          <a:prstGeom prst="roundRect">
            <a:avLst/>
          </a:prstGeom>
          <a:solidFill>
            <a:srgbClr val="D65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87584" y="2514600"/>
            <a:ext cx="64008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12096" y="3273552"/>
            <a:ext cx="1609344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500" b="1">
                <a:solidFill>
                  <a:srgbClr val="112240"/>
                </a:solidFill>
                <a:latin typeface="Aptos"/>
              </a:defRPr>
            </a:pPr>
            <a:r>
              <a:t>PR aç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66376" y="3657600"/>
            <a:ext cx="1700784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000" b="0">
                <a:solidFill>
                  <a:srgbClr val="637389"/>
                </a:solidFill>
                <a:latin typeface="Aptos"/>
              </a:defRPr>
            </a:pPr>
            <a:r>
              <a:t>Commit • push</a:t>
            </a:r>
            <a:br/>
            <a:r>
              <a:t>GitHub PR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4782312"/>
            <a:ext cx="10332720" cy="749808"/>
          </a:xfrm>
          <a:prstGeom prst="roundRect">
            <a:avLst/>
          </a:prstGeom>
          <a:solidFill>
            <a:srgbClr val="E7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70432" y="4956048"/>
            <a:ext cx="98298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500" b="1">
                <a:solidFill>
                  <a:srgbClr val="112240"/>
                </a:solidFill>
                <a:latin typeface="Aptos"/>
              </a:defRPr>
            </a:pPr>
            <a:r>
              <a:t>Kullanıcı her kritik adımda kapsamı ve olası yan etkiyi yeniden görür.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73952"/>
            <a:ext cx="96926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800" b="1">
                <a:solidFill>
                  <a:srgbClr val="637389"/>
                </a:solidFill>
                <a:latin typeface="Aptos"/>
              </a:defRPr>
            </a:pPr>
            <a:r>
              <a:t>MEVZUATAGENT  •  YEREL  •  ONAYLI  •  DENETLENEBİLİR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1">
                <a:solidFill>
                  <a:srgbClr val="637389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900" b="1">
                <a:solidFill>
                  <a:srgbClr val="00AFA0"/>
                </a:solidFill>
                <a:latin typeface="Aptos"/>
              </a:defRPr>
            </a:pPr>
            <a:r>
              <a:t>13  •  DOĞRULAMA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700" b="1">
                <a:solidFill>
                  <a:srgbClr val="112240"/>
                </a:solidFill>
                <a:latin typeface="Aptos"/>
              </a:defRPr>
            </a:pPr>
            <a:r>
              <a:t>Otomatik testler akış sınırlarını doğrular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97864"/>
            <a:ext cx="1088136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0">
                <a:solidFill>
                  <a:srgbClr val="637389"/>
                </a:solidFill>
                <a:latin typeface="Aptos"/>
              </a:defRPr>
            </a:pPr>
            <a:r>
              <a:t>Testler kodun mevzuata uygunluğunu değil, yazılım davranışını ve onay kapılarını denetler.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063240" cy="2331720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057400"/>
            <a:ext cx="265176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ptos"/>
              </a:defRPr>
            </a:pPr>
            <a:r>
              <a:t>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71800"/>
            <a:ext cx="260604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500" b="1">
                <a:solidFill>
                  <a:srgbClr val="35BED7"/>
                </a:solidFill>
                <a:latin typeface="Aptos"/>
              </a:defRPr>
            </a:pPr>
            <a:r>
              <a:t>geçen otomatik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502152"/>
            <a:ext cx="26517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900" b="0">
                <a:solidFill>
                  <a:srgbClr val="D5E1EE"/>
                </a:solidFill>
                <a:latin typeface="Aptos"/>
              </a:defRPr>
            </a:pPr>
            <a:r>
              <a:t>13 uyarı: bağımlılık deprecation uyarıları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828800"/>
            <a:ext cx="345643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1828800"/>
            <a:ext cx="64008" cy="2331720"/>
          </a:xfrm>
          <a:prstGeom prst="rect">
            <a:avLst/>
          </a:prstGeom>
          <a:solidFill>
            <a:srgbClr val="00A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1956816"/>
            <a:ext cx="3072384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Kapsanan alanlar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4256" y="2377440"/>
            <a:ext cx="3035808" cy="1673351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JSON ve RAG hazırlama</a:t>
            </a:r>
            <a:br/>
            <a:r>
              <a:t>•  Model tahmini/onay akışı</a:t>
            </a:r>
            <a:br/>
            <a:r>
              <a:t>•  Kanıt ve rapor üretimi</a:t>
            </a:r>
            <a:br/>
            <a:r>
              <a:t>•  Remediation, test ve PR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82127" y="1828800"/>
            <a:ext cx="345643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82127" y="1828800"/>
            <a:ext cx="64008" cy="2331720"/>
          </a:xfrm>
          <a:prstGeom prst="rect">
            <a:avLst/>
          </a:prstGeom>
          <a:solidFill>
            <a:srgbClr val="35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3296" y="1956816"/>
            <a:ext cx="3072384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Test yaklaşımı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1583" y="2377440"/>
            <a:ext cx="3035808" cy="1673351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Onaysız adımların reddi</a:t>
            </a:r>
            <a:br/>
            <a:r>
              <a:t>•  İzole geçici Git depoları</a:t>
            </a:r>
            <a:br/>
            <a:r>
              <a:t>•  Sahte GitHub yanıtları</a:t>
            </a:r>
            <a:br/>
            <a:r>
              <a:t>•  Sabit test araçları ve timeout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572000"/>
            <a:ext cx="102412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100" b="0">
                <a:solidFill>
                  <a:srgbClr val="637389"/>
                </a:solidFill>
                <a:latin typeface="Aptos"/>
              </a:defRPr>
            </a:pPr>
            <a:r>
              <a:t>56 otomatik test yazılım davranışını doğrular; gerçek model çıktısı hukuki doğruluğu kanıtlamaz.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96926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800" b="1">
                <a:solidFill>
                  <a:srgbClr val="637389"/>
                </a:solidFill>
                <a:latin typeface="Aptos"/>
              </a:defRPr>
            </a:pPr>
            <a:r>
              <a:t>MEVZUATAGENT  •  YEREL  •  ONAYLI  •  DENETLENEBİLİR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1">
                <a:solidFill>
                  <a:srgbClr val="637389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900" b="1">
                <a:solidFill>
                  <a:srgbClr val="00AFA0"/>
                </a:solidFill>
                <a:latin typeface="Aptos"/>
              </a:defRPr>
            </a:pPr>
            <a:r>
              <a:t>14  •  TEST VERISI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700" b="1">
                <a:solidFill>
                  <a:srgbClr val="112240"/>
                </a:solidFill>
                <a:latin typeface="Aptos"/>
              </a:defRPr>
            </a:pPr>
            <a:r>
              <a:t>İki demo, toplam on sentetik bulgu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97864"/>
            <a:ext cx="1088136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0">
                <a:solidFill>
                  <a:srgbClr val="637389"/>
                </a:solidFill>
                <a:latin typeface="Aptos"/>
              </a:defRPr>
            </a:pPr>
            <a:r>
              <a:t>Demo depoları uygulama akışını güvenli biçimde denemek için hazırlanmıştır.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874519"/>
            <a:ext cx="3401568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874519"/>
            <a:ext cx="64008" cy="2057400"/>
          </a:xfrm>
          <a:prstGeom prst="rect">
            <a:avLst/>
          </a:prstGeom>
          <a:solidFill>
            <a:srgbClr val="00A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002536"/>
            <a:ext cx="30175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demo1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423160"/>
            <a:ext cx="2980944" cy="1399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5 sentetik bulgu</a:t>
            </a:r>
            <a:br/>
            <a:r>
              <a:t>•  Örnek iş kuralı kodu</a:t>
            </a:r>
            <a:br/>
            <a:r>
              <a:t>•  Tarama ve düzeltme raporları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74519"/>
            <a:ext cx="3401568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874519"/>
            <a:ext cx="64008" cy="2057400"/>
          </a:xfrm>
          <a:prstGeom prst="rect">
            <a:avLst/>
          </a:prstGeom>
          <a:solidFill>
            <a:srgbClr val="35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002536"/>
            <a:ext cx="30175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demo2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423160"/>
            <a:ext cx="2980944" cy="1399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5 sentetik bulgu</a:t>
            </a:r>
            <a:br/>
            <a:r>
              <a:t>•  İkinci örnek senaryo</a:t>
            </a:r>
            <a:br/>
            <a:r>
              <a:t>•  Tarama ve düzeltme raporları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1874519"/>
            <a:ext cx="3401568" cy="2057400"/>
          </a:xfrm>
          <a:prstGeom prst="roundRect">
            <a:avLst/>
          </a:prstGeom>
          <a:solidFill>
            <a:srgbClr val="FFF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2148840"/>
            <a:ext cx="2944368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900" b="1">
                <a:solidFill>
                  <a:srgbClr val="112240"/>
                </a:solidFill>
                <a:latin typeface="Aptos"/>
              </a:defRPr>
            </a:pPr>
            <a:r>
              <a:t>YALNIZCA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2788920"/>
            <a:ext cx="2944368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0">
                <a:solidFill>
                  <a:srgbClr val="223045"/>
                </a:solidFill>
                <a:latin typeface="Aptos"/>
              </a:defRPr>
            </a:pPr>
            <a:r>
              <a:t>Gerçek mevzuat ihlali değildir.</a:t>
            </a:r>
            <a:br/>
            <a:r>
              <a:t>TEST_FIXTURE_NOT_LAW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4315968"/>
            <a:ext cx="10680192" cy="841248"/>
          </a:xfrm>
          <a:prstGeom prst="roundRect">
            <a:avLst/>
          </a:prstGeom>
          <a:solidFill>
            <a:srgbClr val="E7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517136"/>
            <a:ext cx="101498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400" b="1">
                <a:solidFill>
                  <a:srgbClr val="112240"/>
                </a:solidFill>
                <a:latin typeface="Aptos"/>
              </a:defRPr>
            </a:pPr>
            <a:r>
              <a:t>Fixture yerel ve deterministiktir; sentetik kodu üretim sistemlerinde kullanmayın.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96926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800" b="1">
                <a:solidFill>
                  <a:srgbClr val="637389"/>
                </a:solidFill>
                <a:latin typeface="Aptos"/>
              </a:defRPr>
            </a:pPr>
            <a:r>
              <a:t>MEVZUATAGENT  •  YEREL  •  ONAYLI  •  DENETLENEBİLİR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1">
                <a:solidFill>
                  <a:srgbClr val="637389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900" b="1">
                <a:solidFill>
                  <a:srgbClr val="00AFA0"/>
                </a:solidFill>
                <a:latin typeface="Aptos"/>
              </a:defRPr>
            </a:pPr>
            <a:r>
              <a:t>15  •  GERÇEK UÇTAN UCA DENEME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700" b="1">
                <a:solidFill>
                  <a:srgbClr val="112240"/>
                </a:solidFill>
                <a:latin typeface="Aptos"/>
              </a:defRPr>
            </a:pPr>
            <a:r>
              <a:t>Model hatası ve deterministik demo ayrı raporlandı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97864"/>
            <a:ext cx="1088136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0">
                <a:solidFill>
                  <a:srgbClr val="637389"/>
                </a:solidFill>
                <a:latin typeface="Aptos"/>
              </a:defRPr>
            </a:pPr>
            <a:r>
              <a:t>Gerçek model kalitesi ile akışın yazılım testleri birbirinden ayrılır.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47088"/>
            <a:ext cx="3401568" cy="23591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847088"/>
            <a:ext cx="64008" cy="2359152"/>
          </a:xfrm>
          <a:prstGeom prst="rect">
            <a:avLst/>
          </a:prstGeom>
          <a:solidFill>
            <a:srgbClr val="00A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75104"/>
            <a:ext cx="30175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Mevzuat hazırlığı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95728"/>
            <a:ext cx="2980944" cy="17007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2 mevzuat PDF'i indirildi</a:t>
            </a:r>
            <a:br/>
            <a:r>
              <a:t>•  146 RAG parçası üretildi</a:t>
            </a:r>
            <a:br/>
            <a:r>
              <a:t>•  Yerel BM25 indeksi</a:t>
            </a:r>
            <a:br/>
            <a:r>
              <a:t>•  Demo fixture deposu hazır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47088"/>
            <a:ext cx="3401568" cy="23591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847088"/>
            <a:ext cx="64008" cy="2359152"/>
          </a:xfrm>
          <a:prstGeom prst="rect">
            <a:avLst/>
          </a:prstGeom>
          <a:solidFill>
            <a:srgbClr val="35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975104"/>
            <a:ext cx="30175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Gerçek model denemesi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395728"/>
            <a:ext cx="2980944" cy="17007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llama3.2:1b yanıtı geçersiz JSON</a:t>
            </a:r>
            <a:br/>
            <a:r>
              <a:t>•  Model taraması: 0 doğrulanmış dosya</a:t>
            </a:r>
            <a:br/>
            <a:r>
              <a:t>•  Gerçek remediation durduruldu</a:t>
            </a:r>
            <a:br/>
            <a:r>
              <a:t>•  Hata raporda açıkça gösterildi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847088"/>
            <a:ext cx="3401568" cy="23591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8" y="1847088"/>
            <a:ext cx="64008" cy="2359152"/>
          </a:xfrm>
          <a:prstGeom prst="rect">
            <a:avLst/>
          </a:prstGeom>
          <a:solidFill>
            <a:srgbClr val="F8B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975104"/>
            <a:ext cx="30175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Deterministik E2E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395728"/>
            <a:ext cx="2980944" cy="17007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Fixture üzerinden 2 sentetik bulgu</a:t>
            </a:r>
            <a:br/>
            <a:r>
              <a:t>•  Remediation izole worktree'de</a:t>
            </a:r>
            <a:br/>
            <a:r>
              <a:t>•  pytest: 2 geçti</a:t>
            </a:r>
            <a:br/>
            <a:r>
              <a:t>•  PR yanıtı yerel mock ile doğrulandı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498848"/>
            <a:ext cx="10753344" cy="896112"/>
          </a:xfrm>
          <a:prstGeom prst="roundRect">
            <a:avLst/>
          </a:prstGeom>
          <a:solidFill>
            <a:srgbClr val="FFF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4663440"/>
            <a:ext cx="10268712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200" b="1">
                <a:solidFill>
                  <a:srgbClr val="112240"/>
                </a:solidFill>
                <a:latin typeface="Aptos"/>
              </a:defRPr>
            </a:pPr>
            <a:r>
              <a:t>Canlı model taraması başarısız olduğunda sentetik rapor yalnızca demo/test amacıyla ayrı üretilir; gerçek tarama veya PR girdisi olmaz.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73952"/>
            <a:ext cx="96926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800" b="1">
                <a:solidFill>
                  <a:srgbClr val="637389"/>
                </a:solidFill>
                <a:latin typeface="Aptos"/>
              </a:defRPr>
            </a:pPr>
            <a:r>
              <a:t>MEVZUATAGENT  •  YEREL  •  ONAYLI  •  DENETLENEBİLİR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1">
                <a:solidFill>
                  <a:srgbClr val="637389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900" b="1">
                <a:solidFill>
                  <a:srgbClr val="00AFA0"/>
                </a:solidFill>
                <a:latin typeface="Aptos"/>
              </a:defRPr>
            </a:pPr>
            <a:r>
              <a:t>16  •  REMEDIATION KABUL DENEMESI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700" b="1">
                <a:solidFill>
                  <a:srgbClr val="112240"/>
                </a:solidFill>
                <a:latin typeface="Aptos"/>
              </a:defRPr>
            </a:pPr>
            <a:r>
              <a:t>İlk iki sentetik bulgu, izole dalda test edildi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97864"/>
            <a:ext cx="1088136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0">
                <a:solidFill>
                  <a:srgbClr val="637389"/>
                </a:solidFill>
                <a:latin typeface="Aptos"/>
              </a:defRPr>
            </a:pPr>
            <a:r>
              <a:t>Model taramasının bulguları tutarsız olduğundan düzeltme hattı önceden etiketlenmiş sentetik fixture bulgularıyla ayrıca sınandı.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874519"/>
            <a:ext cx="3401568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2039112"/>
            <a:ext cx="384048" cy="384048"/>
          </a:xfrm>
          <a:prstGeom prst="roundRect">
            <a:avLst/>
          </a:prstGeom>
          <a:solidFill>
            <a:srgbClr val="D65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39112"/>
            <a:ext cx="38404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2020824"/>
            <a:ext cx="2615184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112240"/>
                </a:solidFill>
                <a:latin typeface="Aptos"/>
              </a:defRPr>
            </a:pPr>
            <a:r>
              <a:t>Önce başarısız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3035808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Yeni kabul testleri iki bilinen hatayı yakaladı.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874519"/>
            <a:ext cx="3401568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53712" y="2039112"/>
            <a:ext cx="384048" cy="384048"/>
          </a:xfrm>
          <a:prstGeom prst="roundRect">
            <a:avLst/>
          </a:prstGeom>
          <a:solidFill>
            <a:srgbClr val="35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039112"/>
            <a:ext cx="38404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7488" y="2020824"/>
            <a:ext cx="2615184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112240"/>
                </a:solidFill>
                <a:latin typeface="Aptos"/>
              </a:defRPr>
            </a:pPr>
            <a:r>
              <a:t>Öneri ve diff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487168"/>
            <a:ext cx="3035808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Model maskenin yanlış tarafını önerdi; incelemede düzeltildi ve worktree'ye uygulandı.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874519"/>
            <a:ext cx="3401568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11312" y="2039112"/>
            <a:ext cx="384048" cy="384048"/>
          </a:xfrm>
          <a:prstGeom prst="roundRect">
            <a:avLst/>
          </a:prstGeom>
          <a:solidFill>
            <a:srgbClr val="00A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2039112"/>
            <a:ext cx="38404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2020824"/>
            <a:ext cx="2615184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112240"/>
                </a:solidFill>
                <a:latin typeface="Aptos"/>
              </a:defRPr>
            </a:pPr>
            <a:r>
              <a:t>Test ve PR provası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487168"/>
            <a:ext cx="3035808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2 kabul testi geçti; push yerel bare remote'a, gh yanıtı taklitçiye yöneldi.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675887"/>
            <a:ext cx="10716768" cy="1078992"/>
          </a:xfrm>
          <a:prstGeom prst="roundRect">
            <a:avLst/>
          </a:prstGeom>
          <a:solidFill>
            <a:srgbClr val="E7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3877056"/>
            <a:ext cx="22860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500" b="1">
                <a:solidFill>
                  <a:srgbClr val="112240"/>
                </a:solidFill>
                <a:latin typeface="Aptos"/>
              </a:defRPr>
            </a:pPr>
            <a:r>
              <a:t>Dış GitHub etkisi yok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1568" y="3813048"/>
            <a:ext cx="763524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0">
                <a:solidFill>
                  <a:srgbClr val="223045"/>
                </a:solidFill>
                <a:latin typeface="Aptos"/>
              </a:defRPr>
            </a:pPr>
            <a:r>
              <a:t>Gerçek PR açılmadı. Akışın commit/push/PR bağlantısı adımları gerçek fixture Git geçmişi ve yerel sahte GitHub CLI ile sınandı.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5065776"/>
            <a:ext cx="100584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200" b="0">
                <a:solidFill>
                  <a:srgbClr val="637389"/>
                </a:solidFill>
                <a:latin typeface="Aptos"/>
              </a:defRPr>
            </a:pPr>
            <a:r>
              <a:t>Test verisi `TEST_FIXTURE_NOT_LAW` olarak işaretlidir; düzeltmeler hukuki uyumluluk kanıtı değildir.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73952"/>
            <a:ext cx="96926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800" b="1">
                <a:solidFill>
                  <a:srgbClr val="637389"/>
                </a:solidFill>
                <a:latin typeface="Aptos"/>
              </a:defRPr>
            </a:pPr>
            <a:r>
              <a:t>MEVZUATAGENT  •  YEREL  •  ONAYLI  •  DENETLENEBİLİR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1">
                <a:solidFill>
                  <a:srgbClr val="637389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900" b="1">
                <a:solidFill>
                  <a:srgbClr val="00AFA0"/>
                </a:solidFill>
                <a:latin typeface="Aptos"/>
              </a:defRPr>
            </a:pPr>
            <a:r>
              <a:t>18  •  SOHBETTEN RAPORA UÇTAN UCA AKIŞ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700" b="1">
                <a:solidFill>
                  <a:srgbClr val="112240"/>
                </a:solidFill>
                <a:latin typeface="Aptos"/>
              </a:defRPr>
            </a:pPr>
            <a:r>
              <a:t>Kullanıcı sohbeti yönlendirir; pipeline her adımda onay 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97864"/>
            <a:ext cx="1088136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0">
                <a:solidFill>
                  <a:srgbClr val="637389"/>
                </a:solidFill>
                <a:latin typeface="Aptos"/>
              </a:defRPr>
            </a:pPr>
            <a:r>
              <a:t>Sistem promptu proje kapsamını korur; Ollama yanıtı ve pipeline işlemleri birbirinden ayrıdır.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65960"/>
            <a:ext cx="1627632" cy="1536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21408"/>
            <a:ext cx="3657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1">
                <a:solidFill>
                  <a:srgbClr val="00AFA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441448"/>
            <a:ext cx="1353312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400" b="1">
                <a:solidFill>
                  <a:srgbClr val="112240"/>
                </a:solidFill>
                <a:latin typeface="Aptos"/>
              </a:defRPr>
            </a:pPr>
            <a:r>
              <a:t>Sohbet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834640"/>
            <a:ext cx="1353312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Soru sor</a:t>
            </a:r>
            <a:br/>
            <a:r>
              <a:t>veya devam yaz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04288" y="2542032"/>
            <a:ext cx="23774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700" b="1">
                <a:solidFill>
                  <a:srgbClr val="00AF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965960"/>
            <a:ext cx="1627632" cy="1536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79" y="2121408"/>
            <a:ext cx="3657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1">
                <a:solidFill>
                  <a:srgbClr val="00AFA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2441448"/>
            <a:ext cx="1353312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400" b="1">
                <a:solidFill>
                  <a:srgbClr val="112240"/>
                </a:solidFill>
                <a:latin typeface="Aptos"/>
              </a:defRPr>
            </a:pPr>
            <a:r>
              <a:t>Kapsam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79" y="2834640"/>
            <a:ext cx="1353312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Mevzuat seç</a:t>
            </a:r>
            <a:br/>
            <a:r>
              <a:t>1 • 2 • tümü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542032"/>
            <a:ext cx="23774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700" b="1">
                <a:solidFill>
                  <a:srgbClr val="00AF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1965960"/>
            <a:ext cx="1627632" cy="1536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2" y="2121408"/>
            <a:ext cx="3657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1">
                <a:solidFill>
                  <a:srgbClr val="00AFA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2441448"/>
            <a:ext cx="1353312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400" b="1">
                <a:solidFill>
                  <a:srgbClr val="112240"/>
                </a:solidFill>
                <a:latin typeface="Aptos"/>
              </a:defRPr>
            </a:pPr>
            <a:r>
              <a:t>Hazırlık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834640"/>
            <a:ext cx="1353312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PDF → RAG</a:t>
            </a:r>
            <a:br/>
            <a:r>
              <a:t>Repo → klon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8192" y="2542032"/>
            <a:ext cx="23774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700" b="1">
                <a:solidFill>
                  <a:srgbClr val="00AF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64224" y="1965960"/>
            <a:ext cx="1627632" cy="1536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1384" y="2121408"/>
            <a:ext cx="3657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1">
                <a:solidFill>
                  <a:srgbClr val="00AFA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1384" y="2441448"/>
            <a:ext cx="1353312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400" b="1">
                <a:solidFill>
                  <a:srgbClr val="112240"/>
                </a:solidFill>
                <a:latin typeface="Aptos"/>
              </a:defRPr>
            </a:pPr>
            <a:r>
              <a:t>Tahmin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2834640"/>
            <a:ext cx="1353312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Model hızı</a:t>
            </a:r>
            <a:br/>
            <a:r>
              <a:t>Token • süre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0144" y="2542032"/>
            <a:ext cx="23774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700" b="1">
                <a:solidFill>
                  <a:srgbClr val="00AF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66176" y="1965960"/>
            <a:ext cx="1627632" cy="1536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03336" y="2121408"/>
            <a:ext cx="3657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1">
                <a:solidFill>
                  <a:srgbClr val="00AFA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3336" y="2441448"/>
            <a:ext cx="1353312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400" b="1">
                <a:solidFill>
                  <a:srgbClr val="112240"/>
                </a:solidFill>
                <a:latin typeface="Aptos"/>
              </a:defRPr>
            </a:pPr>
            <a:r>
              <a:t>Tarama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3336" y="2834640"/>
            <a:ext cx="1353312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Kapsam ve model</a:t>
            </a:r>
            <a:br/>
            <a:r>
              <a:t>kullanıcı onayı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12096" y="2542032"/>
            <a:ext cx="23774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700" b="1">
                <a:solidFill>
                  <a:srgbClr val="00AF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68128" y="1965960"/>
            <a:ext cx="1627632" cy="1536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05288" y="2121408"/>
            <a:ext cx="3657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1">
                <a:solidFill>
                  <a:srgbClr val="00AFA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05288" y="2441448"/>
            <a:ext cx="1353312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400" b="1">
                <a:solidFill>
                  <a:srgbClr val="112240"/>
                </a:solidFill>
                <a:latin typeface="Aptos"/>
              </a:defRPr>
            </a:pPr>
            <a:r>
              <a:t>Rapor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05288" y="2834640"/>
            <a:ext cx="1353312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JSON • MD</a:t>
            </a:r>
            <a:br/>
            <a:r>
              <a:t>HTML • bulgu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8" y="3913632"/>
            <a:ext cx="10698480" cy="1051560"/>
          </a:xfrm>
          <a:prstGeom prst="roundRect">
            <a:avLst/>
          </a:prstGeom>
          <a:solidFill>
            <a:srgbClr val="E7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" y="4114800"/>
            <a:ext cx="19202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400" b="1">
                <a:solidFill>
                  <a:srgbClr val="112240"/>
                </a:solidFill>
                <a:latin typeface="Aptos"/>
              </a:defRPr>
            </a:pPr>
            <a:r>
              <a:t>Deterministik demo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52928" y="4050791"/>
            <a:ext cx="822960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Model taraması JSON hatası veya bulgusuz sonuç verirse demo1/demo2 için ayrı sentetik rapor üretilebilir. Bu rapor gerçek mevzuat tespiti ve remediation girdisi değildir.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5321808"/>
            <a:ext cx="101955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200" b="1">
                <a:solidFill>
                  <a:srgbClr val="637389"/>
                </a:solidFill>
                <a:latin typeface="Aptos"/>
              </a:defRPr>
            </a:pPr>
            <a:r>
              <a:t>İşlem adımları: sohbet komutu → pipeline önerisi → açık kullanıcı onayı → çıktı/rapor → sonraki adım.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473952"/>
            <a:ext cx="96926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800" b="1">
                <a:solidFill>
                  <a:srgbClr val="637389"/>
                </a:solidFill>
                <a:latin typeface="Aptos"/>
              </a:defRPr>
            </a:pPr>
            <a:r>
              <a:t>MEVZUATAGENT  •  YEREL  •  ONAYLI  •  DENETLENEBİLİR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1">
                <a:solidFill>
                  <a:srgbClr val="637389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900" b="1">
                <a:solidFill>
                  <a:srgbClr val="00AFA0"/>
                </a:solidFill>
                <a:latin typeface="Aptos"/>
              </a:defRPr>
            </a:pPr>
            <a:r>
              <a:t>19  •  REMEDIATION, KOD FARKI VE 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700" b="1">
                <a:solidFill>
                  <a:srgbClr val="112240"/>
                </a:solidFill>
                <a:latin typeface="Aptos"/>
              </a:defRPr>
            </a:pPr>
            <a:r>
              <a:t>İlk iki bulgu: diff → izole dal → test → 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97864"/>
            <a:ext cx="1088136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0">
                <a:solidFill>
                  <a:srgbClr val="637389"/>
                </a:solidFill>
                <a:latin typeface="Aptos"/>
              </a:defRPr>
            </a:pPr>
            <a:r>
              <a:t>Aşağıdaki değişiklik sentetik E2E fixture'ından alınmıştır; mevzuat düzeltmesi veya gerçek GitHub PR'ı değildir.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783080"/>
            <a:ext cx="6656832" cy="3520440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61264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D6575E"/>
                </a:solidFill>
                <a:latin typeface="Aptos Mono"/>
              </a:defRPr>
            </a:pPr>
            <a:r>
              <a:t>ÖNCE  (payment_rules.py)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04288"/>
            <a:ext cx="6126480" cy="10058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ptos Mono"/>
              </a:defRPr>
            </a:pPr>
            <a:r>
              <a:t>def mask_reference(value, visible=4):</a:t>
            </a:r>
            <a:br/>
            <a:r>
              <a:t>    return value</a:t>
            </a:r>
            <a:br/>
            <a:br/>
            <a:r>
              <a:t>def is_positive_amount(amount):</a:t>
            </a:r>
            <a:br/>
            <a:r>
              <a:t>    return amount &gt;=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493008"/>
            <a:ext cx="61264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00AFA0"/>
                </a:solidFill>
                <a:latin typeface="Aptos Mono"/>
              </a:defRPr>
            </a:pPr>
            <a:r>
              <a:t>SONRA  (yalnızca kullanıcı onayıyla)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6126480" cy="12070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ptos Mono"/>
              </a:defRPr>
            </a:pPr>
            <a:r>
              <a:t>def mask_reference(value, visible=4):</a:t>
            </a:r>
            <a:br/>
            <a:r>
              <a:t>    return "*" * max(0, len(value)-visible) + value[-visible:]</a:t>
            </a:r>
            <a:br/>
            <a:br/>
            <a:r>
              <a:t>def is_positive_amount(amount):</a:t>
            </a:r>
            <a:br/>
            <a:r>
              <a:t>    return amount &gt;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62672" y="1810512"/>
            <a:ext cx="379476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62672" y="1810512"/>
            <a:ext cx="64008" cy="932688"/>
          </a:xfrm>
          <a:prstGeom prst="rect">
            <a:avLst/>
          </a:prstGeom>
          <a:solidFill>
            <a:srgbClr val="00A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1938528"/>
            <a:ext cx="341071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1 • İncele ve uygula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8" y="2359152"/>
            <a:ext cx="337413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En yüksek iki bulgu</a:t>
            </a:r>
            <a:br/>
            <a:r>
              <a:t>•  Ayrı worktree / branch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62672" y="2907792"/>
            <a:ext cx="379476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62672" y="2907792"/>
            <a:ext cx="64008" cy="932688"/>
          </a:xfrm>
          <a:prstGeom prst="rect">
            <a:avLst/>
          </a:prstGeom>
          <a:solidFill>
            <a:srgbClr val="35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3035808"/>
            <a:ext cx="341071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2 • Testi onayla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8" y="3456432"/>
            <a:ext cx="337413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Test raporu MD/HTML</a:t>
            </a:r>
            <a:br/>
            <a:r>
              <a:t>•  Başarısızsa PR durur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62672" y="4005072"/>
            <a:ext cx="379476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62672" y="4005072"/>
            <a:ext cx="64008" cy="932688"/>
          </a:xfrm>
          <a:prstGeom prst="rect">
            <a:avLst/>
          </a:prstGeom>
          <a:solidFill>
            <a:srgbClr val="F8B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4133087"/>
            <a:ext cx="341071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3 • PR için son onay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8" y="4553712"/>
            <a:ext cx="337413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Commit + push + gh PR</a:t>
            </a:r>
            <a:br/>
            <a:r>
              <a:t>•  Her adım ayrı izin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522976"/>
            <a:ext cx="10698480" cy="530352"/>
          </a:xfrm>
          <a:prstGeom prst="roundRect">
            <a:avLst/>
          </a:prstGeom>
          <a:solidFill>
            <a:srgbClr val="FFF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623560"/>
            <a:ext cx="1024128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100" b="1">
                <a:solidFill>
                  <a:srgbClr val="112240"/>
                </a:solidFill>
                <a:latin typeface="Aptos"/>
              </a:defRPr>
            </a:pPr>
            <a:r>
              <a:t>E2E kanıtı: test geçti; push yerel bare remote'a, PR yanıtı mock gh'ye yapıldı. Gerçek GitHub PR açılmadı.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73952"/>
            <a:ext cx="96926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800" b="1">
                <a:solidFill>
                  <a:srgbClr val="637389"/>
                </a:solidFill>
                <a:latin typeface="Aptos"/>
              </a:defRPr>
            </a:pPr>
            <a:r>
              <a:t>MEVZUATAGENT  •  YEREL  •  ONAYLI  •  DENETLENEBİLİR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1">
                <a:solidFill>
                  <a:srgbClr val="637389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900" b="1">
                <a:solidFill>
                  <a:srgbClr val="00AFA0"/>
                </a:solidFill>
                <a:latin typeface="Aptos"/>
              </a:defRPr>
            </a:pPr>
            <a:r>
              <a:t>20  •  GÜVENLIK VE MAHREMIYET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700" b="1">
                <a:solidFill>
                  <a:srgbClr val="112240"/>
                </a:solidFill>
                <a:latin typeface="Aptos"/>
              </a:defRPr>
            </a:pPr>
            <a:r>
              <a:t>Güvenli varsayılanlar ve açık sınırlar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97864"/>
            <a:ext cx="1088136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0">
                <a:solidFill>
                  <a:srgbClr val="637389"/>
                </a:solidFill>
                <a:latin typeface="Aptos"/>
              </a:defRPr>
            </a:pPr>
            <a:r>
              <a:t>Kod ve mevzuat bağlamı yerel Ollama'ya gider; tarama akışı bulguları uzman incelemesine sunar.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28800"/>
            <a:ext cx="52120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828800"/>
            <a:ext cx="64008" cy="2011680"/>
          </a:xfrm>
          <a:prstGeom prst="rect">
            <a:avLst/>
          </a:prstGeom>
          <a:solidFill>
            <a:srgbClr val="00A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56816"/>
            <a:ext cx="482803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Kontroller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77440"/>
            <a:ext cx="4791456" cy="1353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Klonlama ve tarama kullanıcı onaylıdır</a:t>
            </a:r>
            <a:br/>
            <a:r>
              <a:t>•  Düzeltme ayrı worktree'de uygulanır</a:t>
            </a:r>
            <a:br/>
            <a:r>
              <a:t>•  Test ve PR ayrı onay ister</a:t>
            </a:r>
            <a:br/>
            <a:r>
              <a:t>•  PR için yalnız beklenen dosyalar seçilir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2120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828800"/>
            <a:ext cx="64008" cy="2011680"/>
          </a:xfrm>
          <a:prstGeom prst="rect">
            <a:avLst/>
          </a:prstGeom>
          <a:solidFill>
            <a:srgbClr val="F8B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956816"/>
            <a:ext cx="482803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Kullanım sorumluluğu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1656" y="2377440"/>
            <a:ext cx="4791456" cy="1353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İndirilen kaynağın güncelliğini denetleyin</a:t>
            </a:r>
            <a:br/>
            <a:r>
              <a:t>•  Yalnız güvendiğiniz projelerde test çalıştırın</a:t>
            </a:r>
            <a:br/>
            <a:r>
              <a:t>•  Model bulgusunu hukuk uzmanına doğrulatın</a:t>
            </a:r>
            <a:br/>
            <a:r>
              <a:t>•  Gerçek depoda yedek ve temiz çalışma alanı kullanın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279392"/>
            <a:ext cx="10671048" cy="896112"/>
          </a:xfrm>
          <a:prstGeom prst="roundRect">
            <a:avLst/>
          </a:prstGeom>
          <a:solidFill>
            <a:srgbClr val="FFF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498848"/>
            <a:ext cx="1019556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400" b="1">
                <a:solidFill>
                  <a:srgbClr val="112240"/>
                </a:solidFill>
                <a:latin typeface="Aptos"/>
              </a:defRPr>
            </a:pPr>
            <a:r>
              <a:t>Otomasyon kanıtı düzenler; hukuki görüş, kesin uygunluk kararı veya güvenlik sertifikası vermez.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96926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800" b="1">
                <a:solidFill>
                  <a:srgbClr val="637389"/>
                </a:solidFill>
                <a:latin typeface="Aptos"/>
              </a:defRPr>
            </a:pPr>
            <a:r>
              <a:t>MEVZUATAGENT  •  YEREL  •  ONAYLI  •  DENETLENEBİLİR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1">
                <a:solidFill>
                  <a:srgbClr val="637389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900" b="1">
                <a:solidFill>
                  <a:srgbClr val="00AFA0"/>
                </a:solidFill>
                <a:latin typeface="Aptos"/>
              </a:defRPr>
            </a:pPr>
            <a:r>
              <a:t>21  •  GEREKSINIM IZLEME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700" b="1">
                <a:solidFill>
                  <a:srgbClr val="112240"/>
                </a:solidFill>
                <a:latin typeface="Aptos"/>
              </a:defRPr>
            </a:pPr>
            <a:r>
              <a:t>Ödev maddeleri ve uygulamadaki karşılıkları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97864"/>
            <a:ext cx="1088136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0">
                <a:solidFill>
                  <a:srgbClr val="637389"/>
                </a:solidFill>
                <a:latin typeface="Aptos"/>
              </a:defRPr>
            </a:pPr>
            <a:r>
              <a:t>Maddeler, konuşmada verilen dokuz gereksinim üzerinden eşleştirilmiştir.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755648"/>
          <a:ext cx="10753344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069080"/>
                <a:gridCol w="6089904"/>
              </a:tblGrid>
              <a:tr h="4343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91440" marR="73152" marT="32004" marB="18288"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Gereksinim</a:t>
                      </a:r>
                    </a:p>
                  </a:txBody>
                  <a:tcPr marL="91440" marR="73152" marT="32004" marB="18288"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Uygulamadaki karşılık</a:t>
                      </a:r>
                    </a:p>
                  </a:txBody>
                  <a:tcPr marL="91440" marR="73152" marT="32004" marB="18288">
                    <a:solidFill>
                      <a:srgbClr val="11224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91440" marR="73152" marT="32004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Python/PyCharm • sohbet • Ollama • LangChain</a:t>
                      </a:r>
                    </a:p>
                  </a:txBody>
                  <a:tcPr marL="91440" marR="73152" marT="32004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Proje promptu, yerel sohbet ve Runnable zinciri</a:t>
                      </a:r>
                    </a:p>
                  </a:txBody>
                  <a:tcPr marL="91440" marR="73152" marT="32004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91440" marR="73152" marT="32004" marB="18288"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mevzuat_link.json'dan indirme</a:t>
                      </a:r>
                    </a:p>
                  </a:txBody>
                  <a:tcPr marL="91440" marR="73152" marT="32004" marB="18288"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download_mevzuat aracı</a:t>
                      </a:r>
                    </a:p>
                  </a:txBody>
                  <a:tcPr marL="91440" marR="73152" marT="32004" marB="18288">
                    <a:solidFill>
                      <a:srgbClr val="E7F0F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91440" marR="73152" marT="32004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Orta boy RAG parçaları</a:t>
                      </a:r>
                    </a:p>
                  </a:txBody>
                  <a:tcPr marL="91440" marR="73152" marT="32004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1.200 karakter • 200 örtüşme • BM25</a:t>
                      </a:r>
                    </a:p>
                  </a:txBody>
                  <a:tcPr marL="91440" marR="73152" marT="32004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91440" marR="73152" marT="32004" marB="18288"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Onaylı depo klonlama</a:t>
                      </a:r>
                    </a:p>
                  </a:txBody>
                  <a:tcPr marL="91440" marR="73152" marT="32004" marB="18288"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clone_repositories + sohbet/pipeline onayı</a:t>
                      </a:r>
                    </a:p>
                  </a:txBody>
                  <a:tcPr marL="91440" marR="73152" marT="32004" marB="18288">
                    <a:solidFill>
                      <a:srgbClr val="E7F0F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91440" marR="73152" marT="32004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Model havuzu tahmini</a:t>
                      </a:r>
                    </a:p>
                  </a:txBody>
                  <a:tcPr marL="91440" marR="73152" marT="32004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Kurulu modelleri ölç • hızlıyı öner</a:t>
                      </a:r>
                    </a:p>
                  </a:txBody>
                  <a:tcPr marL="91440" marR="73152" marT="32004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 marL="91440" marR="73152" marT="32004" marB="18288"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Tahmin sonrası onaylı tarama</a:t>
                      </a:r>
                    </a:p>
                  </a:txBody>
                  <a:tcPr marL="91440" marR="73152" marT="32004" marB="18288"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Seçilen model/kapsam onayı</a:t>
                      </a:r>
                    </a:p>
                  </a:txBody>
                  <a:tcPr marL="91440" marR="73152" marT="32004" marB="18288">
                    <a:solidFill>
                      <a:srgbClr val="E7F0F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 marL="91440" marR="73152" marT="32004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MD ve HTML tarama raporu</a:t>
                      </a:r>
                    </a:p>
                  </a:txBody>
                  <a:tcPr marL="91440" marR="73152" marT="32004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Bulgular, kanıt, dosya sonucu, sınır</a:t>
                      </a:r>
                    </a:p>
                  </a:txBody>
                  <a:tcPr marL="91440" marR="73152" marT="32004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 marL="91440" marR="73152" marT="32004" marB="18288"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İlk iki bulguyu iyileştir</a:t>
                      </a:r>
                    </a:p>
                  </a:txBody>
                  <a:tcPr marL="91440" marR="73152" marT="32004" marB="18288"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Öneri • diff raporu • izole worktree</a:t>
                      </a:r>
                    </a:p>
                  </a:txBody>
                  <a:tcPr marL="91440" marR="73152" marT="32004" marB="18288">
                    <a:solidFill>
                      <a:srgbClr val="E7F0F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 marL="91440" marR="73152" marT="32004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Top iki bulgu için GitHub PR</a:t>
                      </a:r>
                    </a:p>
                  </a:txBody>
                  <a:tcPr marL="91440" marR="73152" marT="32004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Test onayı • son PR onayı • gh</a:t>
                      </a:r>
                    </a:p>
                  </a:txBody>
                  <a:tcPr marL="91440" marR="73152" marT="32004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73952"/>
            <a:ext cx="96926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800" b="1">
                <a:solidFill>
                  <a:srgbClr val="637389"/>
                </a:solidFill>
                <a:latin typeface="Aptos"/>
              </a:defRPr>
            </a:pPr>
            <a:r>
              <a:t>MEVZUATAGENT  •  YEREL  •  ONAYLI  •  DENETLENEBİLİR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1">
                <a:solidFill>
                  <a:srgbClr val="637389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900" b="1">
                <a:solidFill>
                  <a:srgbClr val="00AFA0"/>
                </a:solidFill>
                <a:latin typeface="Aptos"/>
              </a:defRPr>
            </a:pPr>
            <a:r>
              <a:t>22  •  BILINEN SINIRLAMALAR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700" b="1">
                <a:solidFill>
                  <a:srgbClr val="112240"/>
                </a:solidFill>
                <a:latin typeface="Aptos"/>
              </a:defRPr>
            </a:pPr>
            <a:r>
              <a:t>Tamamlanan iş ve sonraki geliştirme alanları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97864"/>
            <a:ext cx="1088136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0">
                <a:solidFill>
                  <a:srgbClr val="637389"/>
                </a:solidFill>
                <a:latin typeface="Aptos"/>
              </a:defRPr>
            </a:pPr>
            <a:r>
              <a:t>Kapsamı dürüstçe ayırmak, model çıktısına gereğinden fazla güvenilmesini önler.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47088"/>
            <a:ext cx="5230368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847088"/>
            <a:ext cx="64008" cy="2423160"/>
          </a:xfrm>
          <a:prstGeom prst="rect">
            <a:avLst/>
          </a:prstGeom>
          <a:solidFill>
            <a:srgbClr val="00A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75104"/>
            <a:ext cx="48463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Uygulanan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95728"/>
            <a:ext cx="4809744" cy="1764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PDF indirme ve sayfa metnini parçalama</a:t>
            </a:r>
            <a:br/>
            <a:r>
              <a:t>•  BM25 ile yerel mevzuat araması</a:t>
            </a:r>
            <a:br/>
            <a:r>
              <a:t>•  Onaylı tarama ve MD/HTML rapor</a:t>
            </a:r>
            <a:br/>
            <a:r>
              <a:t>•  İzole düzeltme, test ve PR akışları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847088"/>
            <a:ext cx="5230368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44768" y="1847088"/>
            <a:ext cx="64008" cy="2423160"/>
          </a:xfrm>
          <a:prstGeom prst="rect">
            <a:avLst/>
          </a:prstGeom>
          <a:solidFill>
            <a:srgbClr val="F8B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1975104"/>
            <a:ext cx="48463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12240"/>
                </a:solidFill>
                <a:latin typeface="Aptos"/>
              </a:defRPr>
            </a:pPr>
            <a:r>
              <a:t>Henüz yok / garanti edilmez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2395728"/>
            <a:ext cx="4809744" cy="1764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23045"/>
                </a:solidFill>
                <a:latin typeface="Aptos"/>
              </a:defRPr>
            </a:pPr>
            <a:r>
              <a:t>•  OCR, vektör arama ve belge sürüm takibi</a:t>
            </a:r>
            <a:br/>
            <a:r>
              <a:t>•  Hukuki doğruluğun otomatik kanıtlanması</a:t>
            </a:r>
            <a:br/>
            <a:r>
              <a:t>•  Web arayüzü ve devam ettirilebilir işler</a:t>
            </a:r>
            <a:br/>
            <a:r>
              <a:t>•  Gerçek GitHub PR ile uçtan uca canlı doğrulama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681728"/>
            <a:ext cx="10661904" cy="749808"/>
          </a:xfrm>
          <a:prstGeom prst="roundRect">
            <a:avLst/>
          </a:prstGeom>
          <a:solidFill>
            <a:srgbClr val="FFF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37176"/>
            <a:ext cx="1024128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100" b="1">
                <a:solidFill>
                  <a:srgbClr val="112240"/>
                </a:solidFill>
                <a:latin typeface="Aptos"/>
              </a:defRPr>
            </a:pPr>
            <a:r>
              <a:t>Sonraki adımlar: PDF rubriğini doğrula • gerçek mevzuat örnekleriyle uzman değerlendirmesi yap • gerçek PR akışını yetkili test deposunda dene.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96926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800" b="1">
                <a:solidFill>
                  <a:srgbClr val="637389"/>
                </a:solidFill>
                <a:latin typeface="Aptos"/>
              </a:defRPr>
            </a:pPr>
            <a:r>
              <a:t>MEVZUATAGENT  •  YEREL  •  ONAYLI  •  DENETLENEBİLİR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1">
                <a:solidFill>
                  <a:srgbClr val="637389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900" b="1">
                <a:solidFill>
                  <a:srgbClr val="00AFA0"/>
                </a:solidFill>
                <a:latin typeface="Aptos"/>
              </a:defRPr>
            </a:pPr>
            <a:r>
              <a:t>23  •  KISA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700" b="1">
                <a:solidFill>
                  <a:srgbClr val="112240"/>
                </a:solidFill>
                <a:latin typeface="Aptos"/>
              </a:defRPr>
            </a:pPr>
            <a:r>
              <a:t>Uygulamayı sunumda nasıl gösteririm?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97864"/>
            <a:ext cx="1088136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0">
                <a:solidFill>
                  <a:srgbClr val="637389"/>
                </a:solidFill>
                <a:latin typeface="Aptos"/>
              </a:defRPr>
            </a:pPr>
            <a:r>
              <a:t>Sentetik test deposunda, dış sisteme yan etki oluşturmadan ana akışı sergileyin.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07492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984248"/>
            <a:ext cx="49377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00AFA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40233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400" b="1">
                <a:solidFill>
                  <a:srgbClr val="112240"/>
                </a:solidFill>
                <a:latin typeface="Aptos"/>
              </a:defRPr>
            </a:pPr>
            <a:r>
              <a:t>Sohbeti başlat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295144"/>
            <a:ext cx="40233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mevzuat-agent → yerel Ollama modeli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83080"/>
            <a:ext cx="507492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1984248"/>
            <a:ext cx="49377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00AFA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920240"/>
            <a:ext cx="40233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400" b="1">
                <a:solidFill>
                  <a:srgbClr val="112240"/>
                </a:solidFill>
                <a:latin typeface="Aptos"/>
              </a:defRPr>
            </a:pPr>
            <a:r>
              <a:t>Kapsamı seç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295144"/>
            <a:ext cx="40233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1 veya 2; * tüm mevzuatlar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081528"/>
            <a:ext cx="507492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3282696"/>
            <a:ext cx="49377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00AFA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218688"/>
            <a:ext cx="40233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400" b="1">
                <a:solidFill>
                  <a:srgbClr val="112240"/>
                </a:solidFill>
                <a:latin typeface="Aptos"/>
              </a:defRPr>
            </a:pPr>
            <a:r>
              <a:t>Pipeline'ı sürdür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593592"/>
            <a:ext cx="40233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devam → sıradaki önerilen adım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081528"/>
            <a:ext cx="507492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8" y="3282696"/>
            <a:ext cx="49377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00AFA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218688"/>
            <a:ext cx="40233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400" b="1">
                <a:solidFill>
                  <a:srgbClr val="112240"/>
                </a:solidFill>
                <a:latin typeface="Aptos"/>
              </a:defRPr>
            </a:pPr>
            <a:r>
              <a:t>Sentetik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593592"/>
            <a:ext cx="40233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demo1 → beş deterministik fixture bulgusu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379976"/>
            <a:ext cx="507492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4581144"/>
            <a:ext cx="49377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00AFA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517136"/>
            <a:ext cx="40233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400" b="1">
                <a:solidFill>
                  <a:srgbClr val="112240"/>
                </a:solidFill>
                <a:latin typeface="Aptos"/>
              </a:defRPr>
            </a:pPr>
            <a:r>
              <a:t>Raporu incele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892040"/>
            <a:ext cx="40233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JSON/Markdown/HTML ve sınırlar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379976"/>
            <a:ext cx="507492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4581144"/>
            <a:ext cx="49377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00AFA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517136"/>
            <a:ext cx="40233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400" b="1">
                <a:solidFill>
                  <a:srgbClr val="112240"/>
                </a:solidFill>
                <a:latin typeface="Aptos"/>
              </a:defRPr>
            </a:pPr>
            <a:r>
              <a:t>Remediation / PR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4892040"/>
            <a:ext cx="40233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637389"/>
                </a:solidFill>
                <a:latin typeface="Aptos"/>
              </a:defRPr>
            </a:pPr>
            <a:r>
              <a:t>Diff ve test; PR için ayrı onay gerekir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73952"/>
            <a:ext cx="96926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800" b="1">
                <a:solidFill>
                  <a:srgbClr val="637389"/>
                </a:solidFill>
                <a:latin typeface="Aptos"/>
              </a:defRPr>
            </a:pPr>
            <a:r>
              <a:t>MEVZUATAGENT  •  YEREL  •  ONAYLI  •  DENETLENEBİLİR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1">
                <a:solidFill>
                  <a:srgbClr val="637389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749808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35BED7"/>
                </a:solidFill>
                <a:latin typeface="Aptos"/>
              </a:defRPr>
            </a:pPr>
            <a:r>
              <a:t>ÖZET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353312"/>
            <a:ext cx="9875520" cy="1572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İzlenebilir analiz.</a:t>
            </a:r>
            <a:br/>
            <a:r>
              <a:t>Açık onay. İnsan kararı.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10128"/>
            <a:ext cx="978408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700" b="0">
                <a:solidFill>
                  <a:srgbClr val="D7E3F0"/>
                </a:solidFill>
                <a:latin typeface="Aptos"/>
              </a:defRPr>
            </a:pPr>
            <a:r>
              <a:t>MevzuatAgent; yerel LLM ve RAG'i kontrollü kod inceleme, raporlama ve düzeltme akışına bağlar.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352544"/>
            <a:ext cx="10287000" cy="1005840"/>
          </a:xfrm>
          <a:prstGeom prst="roundRect">
            <a:avLst/>
          </a:prstGeom>
          <a:solidFill>
            <a:srgbClr val="1D3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4517136"/>
            <a:ext cx="982980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ptos"/>
              </a:defRPr>
            </a:pPr>
            <a:r>
              <a:t>Kaynak notu: Bu sunum konuşmada verilen dokuz gereksinime göre hazırlanmıştır. Ekli dosya yalnızca PDF simgesi olarak erişilebildi; PDF içeriği ve rubriği doğrulanamadı.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96926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800" b="1">
                <a:solidFill>
                  <a:srgbClr val="B9CADC"/>
                </a:solidFill>
                <a:latin typeface="Aptos"/>
              </a:defRPr>
            </a:pPr>
            <a:r>
              <a:t>MEVZUATAGENT  •  YEREL  •  ONAYLI  •  DENETLENEBİLİR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1">
                <a:solidFill>
                  <a:srgbClr val="B9CADC"/>
                </a:solidFill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MevzuatAgent - Ödev Sunumu</dc:title>
  <dc:subject>Proje gereksinimleri, mimari, testler ve sınırlamalar</dc:subject>
  <dc:creator>MevzuatAgent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